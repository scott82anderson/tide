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I researched DockMaster, its market and its customers, chose one opportunity, built a working prototype and designed an AI-native GTM. Five minutes on the why, five on the demo, five on how it sells.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asset. I am not proposing a voice agent or a scheduler; both exist. The question is what to build on top of the data they already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matter most: fewer new boats and more old ones. That is a service story. And cost pressure means the buyer wants leverage on labour, which is exactly what drafting from data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read: DockMaster wins on depth and loses on polish. An AI feature that makes the depth pay, and that requires Web, addresses both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DockMaster sells to marinas, boatyards, service providers, yacht clubs, rental businesses and dealers. I am narrowing to the service-heavy yard because that is where the data is richest and the pain is measurable in dollars. Everything that follows is built for these four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scored eight candidates on customer revenue, DockMaster revenue, data moat, feasibility and fit with existing AI. These three came out on top and they share one engine and one buyer. Product one is the wedge; the other two are releases two and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between a chatbot and a service writer: the LLM never invents an operation code, a part, a price or a vessel. It selects from the customer's own data and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ambitious part. Most vertical software sells with generic ROI decks. DockMaster can compute the ROI from the account's own system, with consent, and offer it as a free value report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Stack: Claude with tool use, MCP connectors to the DockMaster API, the CRM, email and calendar. One review queue. Every action logged to the CRM record so any human can pick up the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40080"/>
            <a:ext cx="548640" cy="548640"/>
          </a:xfrm>
          <a:prstGeom prst="rect">
            <a:avLst/>
          </a:prstGeom>
        </p:spPr>
      </p:pic>
      <p:sp>
        <p:nvSpPr>
          <p:cNvPr id="3" name="Text 0"/>
          <p:cNvSpPr txBox="1"/>
          <p:nvPr/>
        </p:nvSpPr>
        <p:spPr>
          <a:xfrm>
            <a:off x="548640" y="1463040"/>
            <a:ext cx="804672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AI Opportunities at DockMaster</a:t>
            </a:r>
            <a:endParaRPr lang="en-US" sz="4000" dirty="0"/>
          </a:p>
        </p:txBody>
      </p:sp>
      <p:sp>
        <p:nvSpPr>
          <p:cNvPr id="4" name="Text 1"/>
          <p:cNvSpPr txBox="1"/>
          <p:nvPr/>
        </p:nvSpPr>
        <p:spPr>
          <a:xfrm>
            <a:off x="548640" y="2286000"/>
            <a:ext cx="7772400" cy="548640"/>
          </a:xfrm>
          <a:prstGeom prst="rect">
            <a:avLst/>
          </a:prstGeom>
          <a:noFill/>
          <a:ln/>
        </p:spPr>
        <p:txBody>
          <a:bodyPr wrap="square" lIns="0" tIns="0" rIns="0" bIns="0" rtlCol="0" anchor="ctr"/>
          <a:lstStyle/>
          <a:p>
            <a:pPr indent="0" marL="0">
              <a:buNone/>
            </a:pPr>
            <a:r>
              <a:rPr lang="en-US" sz="1800" dirty="0">
                <a:solidFill>
                  <a:srgbClr val="BFE9E5"/>
                </a:solidFill>
                <a:latin typeface="Calibri" pitchFamily="34" charset="0"/>
                <a:ea typeface="Calibri" pitchFamily="34" charset="-122"/>
                <a:cs typeface="Calibri" pitchFamily="34" charset="-120"/>
              </a:rPr>
              <a:t>The Service Writer: turn every technician note into approved, billable work</a:t>
            </a:r>
            <a:endParaRPr lang="en-US" sz="1800" dirty="0"/>
          </a:p>
        </p:txBody>
      </p:sp>
      <p:sp>
        <p:nvSpPr>
          <p:cNvPr id="5" name="Text 2"/>
          <p:cNvSpPr txBox="1"/>
          <p:nvPr/>
        </p:nvSpPr>
        <p:spPr>
          <a:xfrm>
            <a:off x="548640" y="3566160"/>
            <a:ext cx="5486400" cy="320040"/>
          </a:xfrm>
          <a:prstGeom prst="rect">
            <a:avLst/>
          </a:prstGeom>
          <a:noFill/>
          <a:ln/>
        </p:spPr>
        <p:txBody>
          <a:bodyPr wrap="square" lIns="0" tIns="0" rIns="0" bIns="0" rtlCol="0" anchor="ctr"/>
          <a:lstStyle/>
          <a:p>
            <a:pPr indent="0" marL="0">
              <a:buNone/>
            </a:pPr>
            <a:r>
              <a:rPr lang="en-US" sz="1300" dirty="0">
                <a:solidFill>
                  <a:srgbClr val="AAB8C8"/>
                </a:solidFill>
                <a:latin typeface="Calibri" pitchFamily="34" charset="0"/>
                <a:ea typeface="Calibri" pitchFamily="34" charset="-122"/>
                <a:cs typeface="Calibri" pitchFamily="34" charset="-120"/>
              </a:rPr>
              <a:t>Opportunity analysis, prototype and go-to-market</a:t>
            </a:r>
            <a:endParaRPr lang="en-US" sz="1300" dirty="0"/>
          </a:p>
        </p:txBody>
      </p:sp>
      <p:sp>
        <p:nvSpPr>
          <p:cNvPr id="6" name="Text 3"/>
          <p:cNvSpPr txBox="1"/>
          <p:nvPr/>
        </p:nvSpPr>
        <p:spPr>
          <a:xfrm>
            <a:off x="548640" y="3886200"/>
            <a:ext cx="7315200" cy="320040"/>
          </a:xfrm>
          <a:prstGeom prst="rect">
            <a:avLst/>
          </a:prstGeom>
          <a:noFill/>
          <a:ln/>
        </p:spPr>
        <p:txBody>
          <a:bodyPr wrap="square" lIns="0" tIns="0" rIns="0" bIns="0" rtlCol="0" anchor="ctr"/>
          <a:lstStyle/>
          <a:p>
            <a:pPr indent="0" marL="0">
              <a:buNone/>
            </a:pPr>
            <a:r>
              <a:rPr lang="en-US" sz="1200" dirty="0">
                <a:solidFill>
                  <a:srgbClr val="AAB8C8"/>
                </a:solidFill>
                <a:latin typeface="Calibri" pitchFamily="34" charset="0"/>
                <a:ea typeface="Calibri" pitchFamily="34" charset="-122"/>
                <a:cs typeface="Calibri" pitchFamily="34" charset="-120"/>
              </a:rPr>
              <a:t>Scott Anderson  |  Valsoft AI Venture Builder case study  |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DockMaster today</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A 40-year system of record for full-service marinas, with two AI features already shipped</a:t>
            </a:r>
            <a:endParaRPr lang="en-US" sz="1300" dirty="0"/>
          </a:p>
        </p:txBody>
      </p:sp>
      <p:sp>
        <p:nvSpPr>
          <p:cNvPr id="4" name="Text 2"/>
          <p:cNvSpPr txBox="1"/>
          <p:nvPr/>
        </p:nvSpPr>
        <p:spPr>
          <a:xfrm>
            <a:off x="457200" y="1234440"/>
            <a:ext cx="1188720" cy="411480"/>
          </a:xfrm>
          <a:prstGeom prst="rect">
            <a:avLst/>
          </a:prstGeom>
          <a:noFill/>
          <a:ln/>
        </p:spPr>
        <p:txBody>
          <a:bodyPr wrap="square" lIns="0" tIns="0" rIns="0" bIns="0" rtlCol="0" anchor="ctr"/>
          <a:lstStyle/>
          <a:p>
            <a:pPr indent="0" marL="0">
              <a:buNone/>
            </a:pPr>
            <a:r>
              <a:rPr lang="en-US" sz="2200" b="1" dirty="0">
                <a:solidFill>
                  <a:srgbClr val="13A89E"/>
                </a:solidFill>
                <a:latin typeface="Cambria" pitchFamily="34" charset="0"/>
                <a:ea typeface="Cambria" pitchFamily="34" charset="-122"/>
                <a:cs typeface="Cambria" pitchFamily="34" charset="-120"/>
              </a:rPr>
              <a:t>1,000+</a:t>
            </a:r>
            <a:endParaRPr lang="en-US" sz="2200" dirty="0"/>
          </a:p>
        </p:txBody>
      </p:sp>
      <p:sp>
        <p:nvSpPr>
          <p:cNvPr id="5" name="Text 3"/>
          <p:cNvSpPr txBox="1"/>
          <p:nvPr/>
        </p:nvSpPr>
        <p:spPr>
          <a:xfrm>
            <a:off x="1691640" y="1234440"/>
            <a:ext cx="1371600" cy="41148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marinas, boatyards and dealers</a:t>
            </a:r>
            <a:endParaRPr lang="en-US" sz="1000" dirty="0"/>
          </a:p>
        </p:txBody>
      </p:sp>
      <p:sp>
        <p:nvSpPr>
          <p:cNvPr id="6" name="Text 4"/>
          <p:cNvSpPr txBox="1"/>
          <p:nvPr/>
        </p:nvSpPr>
        <p:spPr>
          <a:xfrm>
            <a:off x="3246120" y="1234440"/>
            <a:ext cx="1188720" cy="411480"/>
          </a:xfrm>
          <a:prstGeom prst="rect">
            <a:avLst/>
          </a:prstGeom>
          <a:noFill/>
          <a:ln/>
        </p:spPr>
        <p:txBody>
          <a:bodyPr wrap="square" lIns="0" tIns="0" rIns="0" bIns="0" rtlCol="0" anchor="ctr"/>
          <a:lstStyle/>
          <a:p>
            <a:pPr indent="0" marL="0">
              <a:buNone/>
            </a:pPr>
            <a:r>
              <a:rPr lang="en-US" sz="2200" b="1" dirty="0">
                <a:solidFill>
                  <a:srgbClr val="13A89E"/>
                </a:solidFill>
                <a:latin typeface="Cambria" pitchFamily="34" charset="0"/>
                <a:ea typeface="Cambria" pitchFamily="34" charset="-122"/>
                <a:cs typeface="Cambria" pitchFamily="34" charset="-120"/>
              </a:rPr>
              <a:t>40+ yrs</a:t>
            </a:r>
            <a:endParaRPr lang="en-US" sz="2200" dirty="0"/>
          </a:p>
        </p:txBody>
      </p:sp>
      <p:sp>
        <p:nvSpPr>
          <p:cNvPr id="7" name="Text 5"/>
          <p:cNvSpPr txBox="1"/>
          <p:nvPr/>
        </p:nvSpPr>
        <p:spPr>
          <a:xfrm>
            <a:off x="4480560" y="1234440"/>
            <a:ext cx="1371600" cy="41148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of work orders, parts and vessel history</a:t>
            </a:r>
            <a:endParaRPr lang="en-US" sz="1000" dirty="0"/>
          </a:p>
        </p:txBody>
      </p:sp>
      <p:sp>
        <p:nvSpPr>
          <p:cNvPr id="8" name="Text 6"/>
          <p:cNvSpPr txBox="1"/>
          <p:nvPr/>
        </p:nvSpPr>
        <p:spPr>
          <a:xfrm>
            <a:off x="6035040" y="1234440"/>
            <a:ext cx="1188720" cy="411480"/>
          </a:xfrm>
          <a:prstGeom prst="rect">
            <a:avLst/>
          </a:prstGeom>
          <a:noFill/>
          <a:ln/>
        </p:spPr>
        <p:txBody>
          <a:bodyPr wrap="square" lIns="0" tIns="0" rIns="0" bIns="0" rtlCol="0" anchor="ctr"/>
          <a:lstStyle/>
          <a:p>
            <a:pPr indent="0" marL="0">
              <a:buNone/>
            </a:pPr>
            <a:r>
              <a:rPr lang="en-US" sz="2200" b="1" dirty="0">
                <a:solidFill>
                  <a:srgbClr val="13A89E"/>
                </a:solidFill>
                <a:latin typeface="Cambria" pitchFamily="34" charset="0"/>
                <a:ea typeface="Cambria" pitchFamily="34" charset="-122"/>
                <a:cs typeface="Cambria" pitchFamily="34" charset="-120"/>
              </a:rPr>
              <a:t>3</a:t>
            </a:r>
            <a:endParaRPr lang="en-US" sz="2200" dirty="0"/>
          </a:p>
        </p:txBody>
      </p:sp>
      <p:sp>
        <p:nvSpPr>
          <p:cNvPr id="9" name="Text 7"/>
          <p:cNvSpPr txBox="1"/>
          <p:nvPr/>
        </p:nvSpPr>
        <p:spPr>
          <a:xfrm>
            <a:off x="7269480" y="1234440"/>
            <a:ext cx="1371600" cy="41148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surfaces: Desktop, Web 2.0 and Mobile, one dataset</a:t>
            </a:r>
            <a:endParaRPr lang="en-US" sz="1000" dirty="0"/>
          </a:p>
        </p:txBody>
      </p:sp>
      <p:sp>
        <p:nvSpPr>
          <p:cNvPr id="10" name="Shape 8"/>
          <p:cNvSpPr/>
          <p:nvPr/>
        </p:nvSpPr>
        <p:spPr>
          <a:xfrm>
            <a:off x="457200" y="1783080"/>
            <a:ext cx="2606040" cy="2103120"/>
          </a:xfrm>
          <a:prstGeom prst="roundRect">
            <a:avLst>
              <a:gd name="adj" fmla="val 3478"/>
            </a:avLst>
          </a:prstGeom>
          <a:solidFill>
            <a:srgbClr val="F3F6F8"/>
          </a:solidFill>
          <a:ln w="6350">
            <a:solidFill>
              <a:srgbClr val="F3F6F8"/>
            </a:solidFill>
            <a:prstDash val="solid"/>
          </a:ln>
        </p:spPr>
      </p:sp>
      <p:pic>
        <p:nvPicPr>
          <p:cNvPr id="11" name="Image 0" descr="preencoded.png">    </p:cNvPr>
          <p:cNvPicPr>
            <a:picLocks noChangeAspect="1"/>
          </p:cNvPicPr>
          <p:nvPr/>
        </p:nvPicPr>
        <p:blipFill>
          <a:blip r:embed="rId1"/>
          <a:stretch>
            <a:fillRect/>
          </a:stretch>
        </p:blipFill>
        <p:spPr>
          <a:xfrm>
            <a:off x="640080" y="1920240"/>
            <a:ext cx="411480" cy="411480"/>
          </a:xfrm>
          <a:prstGeom prst="rect">
            <a:avLst/>
          </a:prstGeom>
        </p:spPr>
      </p:pic>
      <p:sp>
        <p:nvSpPr>
          <p:cNvPr id="12" name="Text 9"/>
          <p:cNvSpPr txBox="1"/>
          <p:nvPr/>
        </p:nvSpPr>
        <p:spPr>
          <a:xfrm>
            <a:off x="1143000" y="1938528"/>
            <a:ext cx="1828800" cy="365760"/>
          </a:xfrm>
          <a:prstGeom prst="rect">
            <a:avLst/>
          </a:prstGeom>
          <a:noFill/>
          <a:ln/>
        </p:spPr>
        <p:txBody>
          <a:bodyPr wrap="square" lIns="0" tIns="0" rIns="0" bIns="0" rtlCol="0" anchor="ctr"/>
          <a:lstStyle/>
          <a:p>
            <a:pPr indent="0" marL="0">
              <a:buNone/>
            </a:pPr>
            <a:r>
              <a:rPr lang="en-US" sz="1500" b="1" dirty="0">
                <a:solidFill>
                  <a:srgbClr val="0B2545"/>
                </a:solidFill>
                <a:latin typeface="Cambria" pitchFamily="34" charset="0"/>
                <a:ea typeface="Cambria" pitchFamily="34" charset="-122"/>
                <a:cs typeface="Cambria" pitchFamily="34" charset="-120"/>
              </a:rPr>
              <a:t>Desktop</a:t>
            </a:r>
            <a:endParaRPr lang="en-US" sz="1500" dirty="0"/>
          </a:p>
        </p:txBody>
      </p:sp>
      <p:sp>
        <p:nvSpPr>
          <p:cNvPr id="13" name="Text 10"/>
          <p:cNvSpPr txBox="1"/>
          <p:nvPr/>
        </p:nvSpPr>
        <p:spPr>
          <a:xfrm>
            <a:off x="640080" y="2423160"/>
            <a:ext cx="2286000" cy="137160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The ERP backbone. Slips, dry stack, service, inventory, boat sales, POS and full accounting. A move to SQL is on the 2026 roadmap.</a:t>
            </a:r>
            <a:endParaRPr lang="en-US" sz="1050" dirty="0"/>
          </a:p>
        </p:txBody>
      </p:sp>
      <p:sp>
        <p:nvSpPr>
          <p:cNvPr id="14" name="Shape 11"/>
          <p:cNvSpPr/>
          <p:nvPr/>
        </p:nvSpPr>
        <p:spPr>
          <a:xfrm>
            <a:off x="3246120" y="1783080"/>
            <a:ext cx="2606040" cy="2103120"/>
          </a:xfrm>
          <a:prstGeom prst="roundRect">
            <a:avLst>
              <a:gd name="adj" fmla="val 3478"/>
            </a:avLst>
          </a:prstGeom>
          <a:solidFill>
            <a:srgbClr val="F3F6F8"/>
          </a:solidFill>
          <a:ln w="6350">
            <a:solidFill>
              <a:srgbClr val="F3F6F8"/>
            </a:solidFill>
            <a:prstDash val="solid"/>
          </a:ln>
        </p:spPr>
      </p:sp>
      <p:pic>
        <p:nvPicPr>
          <p:cNvPr id="15" name="Image 1" descr="preencoded.png">    </p:cNvPr>
          <p:cNvPicPr>
            <a:picLocks noChangeAspect="1"/>
          </p:cNvPicPr>
          <p:nvPr/>
        </p:nvPicPr>
        <p:blipFill>
          <a:blip r:embed="rId2"/>
          <a:stretch>
            <a:fillRect/>
          </a:stretch>
        </p:blipFill>
        <p:spPr>
          <a:xfrm>
            <a:off x="3429000" y="1920240"/>
            <a:ext cx="411480" cy="411480"/>
          </a:xfrm>
          <a:prstGeom prst="rect">
            <a:avLst/>
          </a:prstGeom>
        </p:spPr>
      </p:pic>
      <p:sp>
        <p:nvSpPr>
          <p:cNvPr id="16" name="Text 12"/>
          <p:cNvSpPr txBox="1"/>
          <p:nvPr/>
        </p:nvSpPr>
        <p:spPr>
          <a:xfrm>
            <a:off x="3931920" y="1938528"/>
            <a:ext cx="1828800" cy="365760"/>
          </a:xfrm>
          <a:prstGeom prst="rect">
            <a:avLst/>
          </a:prstGeom>
          <a:noFill/>
          <a:ln/>
        </p:spPr>
        <p:txBody>
          <a:bodyPr wrap="square" lIns="0" tIns="0" rIns="0" bIns="0" rtlCol="0" anchor="ctr"/>
          <a:lstStyle/>
          <a:p>
            <a:pPr indent="0" marL="0">
              <a:buNone/>
            </a:pPr>
            <a:r>
              <a:rPr lang="en-US" sz="1500" b="1" dirty="0">
                <a:solidFill>
                  <a:srgbClr val="0B2545"/>
                </a:solidFill>
                <a:latin typeface="Cambria" pitchFamily="34" charset="0"/>
                <a:ea typeface="Cambria" pitchFamily="34" charset="-122"/>
                <a:cs typeface="Cambria" pitchFamily="34" charset="-120"/>
              </a:rPr>
              <a:t>Web 2.0 and Mobile</a:t>
            </a:r>
            <a:endParaRPr lang="en-US" sz="1500" dirty="0"/>
          </a:p>
        </p:txBody>
      </p:sp>
      <p:sp>
        <p:nvSpPr>
          <p:cNvPr id="17" name="Text 13"/>
          <p:cNvSpPr txBox="1"/>
          <p:nvPr/>
        </p:nvSpPr>
        <p:spPr>
          <a:xfrm>
            <a:off x="3429000" y="2423160"/>
            <a:ext cx="2286000" cy="137160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CRM, customer portal, estimates and work orders, drag-and-drop scheduling, eSignature, payments via ValPay. Offline-first tech app with voice notes and photos.</a:t>
            </a:r>
            <a:endParaRPr lang="en-US" sz="1050" dirty="0"/>
          </a:p>
        </p:txBody>
      </p:sp>
      <p:sp>
        <p:nvSpPr>
          <p:cNvPr id="18" name="Shape 14"/>
          <p:cNvSpPr/>
          <p:nvPr/>
        </p:nvSpPr>
        <p:spPr>
          <a:xfrm>
            <a:off x="6035040" y="1783080"/>
            <a:ext cx="2606040" cy="2103120"/>
          </a:xfrm>
          <a:prstGeom prst="roundRect">
            <a:avLst>
              <a:gd name="adj" fmla="val 3478"/>
            </a:avLst>
          </a:prstGeom>
          <a:solidFill>
            <a:srgbClr val="F3F6F8"/>
          </a:solidFill>
          <a:ln w="6350">
            <a:solidFill>
              <a:srgbClr val="F3F6F8"/>
            </a:solidFill>
            <a:prstDash val="solid"/>
          </a:ln>
        </p:spPr>
      </p:sp>
      <p:pic>
        <p:nvPicPr>
          <p:cNvPr id="19" name="Image 2" descr="preencoded.png">    </p:cNvPr>
          <p:cNvPicPr>
            <a:picLocks noChangeAspect="1"/>
          </p:cNvPicPr>
          <p:nvPr/>
        </p:nvPicPr>
        <p:blipFill>
          <a:blip r:embed="rId3"/>
          <a:stretch>
            <a:fillRect/>
          </a:stretch>
        </p:blipFill>
        <p:spPr>
          <a:xfrm>
            <a:off x="6217920" y="1920240"/>
            <a:ext cx="411480" cy="411480"/>
          </a:xfrm>
          <a:prstGeom prst="rect">
            <a:avLst/>
          </a:prstGeom>
        </p:spPr>
      </p:pic>
      <p:sp>
        <p:nvSpPr>
          <p:cNvPr id="20" name="Text 15"/>
          <p:cNvSpPr txBox="1"/>
          <p:nvPr/>
        </p:nvSpPr>
        <p:spPr>
          <a:xfrm>
            <a:off x="6720840" y="1938528"/>
            <a:ext cx="1828800" cy="365760"/>
          </a:xfrm>
          <a:prstGeom prst="rect">
            <a:avLst/>
          </a:prstGeom>
          <a:noFill/>
          <a:ln/>
        </p:spPr>
        <p:txBody>
          <a:bodyPr wrap="square" lIns="0" tIns="0" rIns="0" bIns="0" rtlCol="0" anchor="ctr"/>
          <a:lstStyle/>
          <a:p>
            <a:pPr indent="0" marL="0">
              <a:buNone/>
            </a:pPr>
            <a:r>
              <a:rPr lang="en-US" sz="1500" b="1" dirty="0">
                <a:solidFill>
                  <a:srgbClr val="0B2545"/>
                </a:solidFill>
                <a:latin typeface="Cambria" pitchFamily="34" charset="0"/>
                <a:ea typeface="Cambria" pitchFamily="34" charset="-122"/>
                <a:cs typeface="Cambria" pitchFamily="34" charset="-120"/>
              </a:rPr>
              <a:t>AI shipped</a:t>
            </a:r>
            <a:endParaRPr lang="en-US" sz="1500" dirty="0"/>
          </a:p>
        </p:txBody>
      </p:sp>
      <p:sp>
        <p:nvSpPr>
          <p:cNvPr id="21" name="Text 16"/>
          <p:cNvSpPr txBox="1"/>
          <p:nvPr/>
        </p:nvSpPr>
        <p:spPr>
          <a:xfrm>
            <a:off x="6217920" y="2423160"/>
            <a:ext cx="2286000" cy="137160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AI Scheduling Assistant recommends technician slots; staff accept or reject. Blu Voice Agent (BluSynq) answers calls, quotes and books 24/7.</a:t>
            </a:r>
            <a:endParaRPr lang="en-US" sz="1050" dirty="0"/>
          </a:p>
        </p:txBody>
      </p:sp>
      <p:sp>
        <p:nvSpPr>
          <p:cNvPr id="22" name="Shape 17"/>
          <p:cNvSpPr/>
          <p:nvPr/>
        </p:nvSpPr>
        <p:spPr>
          <a:xfrm>
            <a:off x="457200" y="4023360"/>
            <a:ext cx="8229600" cy="594360"/>
          </a:xfrm>
          <a:prstGeom prst="roundRect">
            <a:avLst>
              <a:gd name="adj" fmla="val 12308"/>
            </a:avLst>
          </a:prstGeom>
          <a:solidFill>
            <a:srgbClr val="E3F5F3"/>
          </a:solidFill>
          <a:ln w="6350">
            <a:solidFill>
              <a:srgbClr val="E3F5F3"/>
            </a:solidFill>
            <a:prstDash val="solid"/>
          </a:ln>
        </p:spPr>
      </p:sp>
      <p:sp>
        <p:nvSpPr>
          <p:cNvPr id="23" name="Text 18"/>
          <p:cNvSpPr txBox="1"/>
          <p:nvPr/>
        </p:nvSpPr>
        <p:spPr>
          <a:xfrm>
            <a:off x="640080" y="4069080"/>
            <a:ext cx="7863840" cy="502920"/>
          </a:xfrm>
          <a:prstGeom prst="rect">
            <a:avLst/>
          </a:prstGeom>
          <a:noFill/>
          <a:ln/>
        </p:spPr>
        <p:txBody>
          <a:bodyPr wrap="square" lIns="0" tIns="0" rIns="0" bIns="0" rtlCol="0" anchor="ctr"/>
          <a:lstStyle/>
          <a:p>
            <a:pPr indent="0" marL="0">
              <a:buNone/>
            </a:pPr>
            <a:r>
              <a:rPr lang="en-US" sz="1100" b="1" dirty="0">
                <a:solidFill>
                  <a:srgbClr val="0B2545"/>
                </a:solidFill>
                <a:latin typeface="Calibri" pitchFamily="34" charset="0"/>
                <a:ea typeface="Calibri" pitchFamily="34" charset="-122"/>
                <a:cs typeface="Calibri" pitchFamily="34" charset="-120"/>
              </a:rPr>
              <a:t>The asset: </a:t>
            </a:r>
            <a:pPr indent="0" marL="0">
              <a:buNone/>
            </a:pPr>
            <a:r>
              <a:rPr lang="en-US" sz="1100" dirty="0">
                <a:solidFill>
                  <a:srgbClr val="1B2430"/>
                </a:solidFill>
                <a:latin typeface="Calibri" pitchFamily="34" charset="0"/>
                <a:ea typeface="Calibri" pitchFamily="34" charset="-122"/>
                <a:cs typeface="Calibri" pitchFamily="34" charset="-120"/>
              </a:rPr>
              <a:t>nobody else holds decades of operation codes, labour standards, parts usage and vessel histories for full-service yards. New AI should be built on that data and hand off to the scheduler and to Blu, not duplicate them.</a:t>
            </a:r>
            <a:endParaRPr lang="en-US" sz="1100" dirty="0"/>
          </a:p>
        </p:txBody>
      </p:sp>
      <p:sp>
        <p:nvSpPr>
          <p:cNvPr id="24"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The market is moving toward service revenue</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Fewer new boats, an ageing fleet and rising costs push marina profit into the repair shop</a:t>
            </a:r>
            <a:endParaRPr lang="en-US" sz="1300" dirty="0"/>
          </a:p>
        </p:txBody>
      </p:sp>
      <p:sp>
        <p:nvSpPr>
          <p:cNvPr id="4" name="Shape 2"/>
          <p:cNvSpPr/>
          <p:nvPr/>
        </p:nvSpPr>
        <p:spPr>
          <a:xfrm>
            <a:off x="457200" y="1325880"/>
            <a:ext cx="2423160" cy="1463040"/>
          </a:xfrm>
          <a:prstGeom prst="roundRect">
            <a:avLst>
              <a:gd name="adj" fmla="val 5000"/>
            </a:avLst>
          </a:prstGeom>
          <a:solidFill>
            <a:srgbClr val="F3F6F8"/>
          </a:solidFill>
          <a:ln w="6350">
            <a:solidFill>
              <a:srgbClr val="F3F6F8"/>
            </a:solidFill>
            <a:prstDash val="solid"/>
          </a:ln>
        </p:spPr>
      </p:sp>
      <p:sp>
        <p:nvSpPr>
          <p:cNvPr id="5" name="Text 3"/>
          <p:cNvSpPr txBox="1"/>
          <p:nvPr/>
        </p:nvSpPr>
        <p:spPr>
          <a:xfrm>
            <a:off x="640080" y="1463040"/>
            <a:ext cx="2103120" cy="640080"/>
          </a:xfrm>
          <a:prstGeom prst="rect">
            <a:avLst/>
          </a:prstGeom>
          <a:noFill/>
          <a:ln/>
        </p:spPr>
        <p:txBody>
          <a:bodyPr wrap="square" lIns="0" tIns="0" rIns="0" bIns="0" rtlCol="0" anchor="ctr"/>
          <a:lstStyle/>
          <a:p>
            <a:pPr indent="0" marL="0">
              <a:buNone/>
            </a:pPr>
            <a:r>
              <a:rPr lang="en-US" sz="2800" b="1" dirty="0">
                <a:solidFill>
                  <a:srgbClr val="13A89E"/>
                </a:solidFill>
                <a:latin typeface="Cambria" pitchFamily="34" charset="0"/>
                <a:ea typeface="Cambria" pitchFamily="34" charset="-122"/>
                <a:cs typeface="Cambria" pitchFamily="34" charset="-120"/>
              </a:rPr>
              <a:t>10-12k</a:t>
            </a:r>
            <a:endParaRPr lang="en-US" sz="2800" dirty="0"/>
          </a:p>
        </p:txBody>
      </p:sp>
      <p:sp>
        <p:nvSpPr>
          <p:cNvPr id="6" name="Text 4"/>
          <p:cNvSpPr txBox="1"/>
          <p:nvPr/>
        </p:nvSpPr>
        <p:spPr>
          <a:xfrm>
            <a:off x="640080" y="2103120"/>
            <a:ext cx="2103120" cy="594360"/>
          </a:xfrm>
          <a:prstGeom prst="rect">
            <a:avLst/>
          </a:prstGeom>
          <a:noFill/>
          <a:ln/>
        </p:spPr>
        <p:txBody>
          <a:bodyPr wrap="square" lIns="0" tIns="0" rIns="0" bIns="0" rtlCol="0" anchor="t"/>
          <a:lstStyle/>
          <a:p>
            <a:pPr indent="0" marL="0">
              <a:buNone/>
            </a:pPr>
            <a:r>
              <a:rPr lang="en-US" sz="1100" dirty="0">
                <a:solidFill>
                  <a:srgbClr val="1B2430"/>
                </a:solidFill>
                <a:latin typeface="Calibri" pitchFamily="34" charset="0"/>
                <a:ea typeface="Calibri" pitchFamily="34" charset="-122"/>
                <a:cs typeface="Calibri" pitchFamily="34" charset="-120"/>
              </a:rPr>
              <a:t>US marinas; $7.6B industry revenue (2025)</a:t>
            </a:r>
            <a:endParaRPr lang="en-US" sz="1100" dirty="0"/>
          </a:p>
        </p:txBody>
      </p:sp>
      <p:sp>
        <p:nvSpPr>
          <p:cNvPr id="7" name="Shape 5"/>
          <p:cNvSpPr/>
          <p:nvPr/>
        </p:nvSpPr>
        <p:spPr>
          <a:xfrm>
            <a:off x="3063240" y="1325880"/>
            <a:ext cx="2423160" cy="1463040"/>
          </a:xfrm>
          <a:prstGeom prst="roundRect">
            <a:avLst>
              <a:gd name="adj" fmla="val 5000"/>
            </a:avLst>
          </a:prstGeom>
          <a:solidFill>
            <a:srgbClr val="F3F6F8"/>
          </a:solidFill>
          <a:ln w="6350">
            <a:solidFill>
              <a:srgbClr val="F3F6F8"/>
            </a:solidFill>
            <a:prstDash val="solid"/>
          </a:ln>
        </p:spPr>
      </p:sp>
      <p:sp>
        <p:nvSpPr>
          <p:cNvPr id="8" name="Text 6"/>
          <p:cNvSpPr txBox="1"/>
          <p:nvPr/>
        </p:nvSpPr>
        <p:spPr>
          <a:xfrm>
            <a:off x="3246120" y="1463040"/>
            <a:ext cx="2103120" cy="640080"/>
          </a:xfrm>
          <a:prstGeom prst="rect">
            <a:avLst/>
          </a:prstGeom>
          <a:noFill/>
          <a:ln/>
        </p:spPr>
        <p:txBody>
          <a:bodyPr wrap="square" lIns="0" tIns="0" rIns="0" bIns="0" rtlCol="0" anchor="ctr"/>
          <a:lstStyle/>
          <a:p>
            <a:pPr indent="0" marL="0">
              <a:buNone/>
            </a:pPr>
            <a:r>
              <a:rPr lang="en-US" sz="2800" b="1" dirty="0">
                <a:solidFill>
                  <a:srgbClr val="13A89E"/>
                </a:solidFill>
                <a:latin typeface="Cambria" pitchFamily="34" charset="0"/>
                <a:ea typeface="Cambria" pitchFamily="34" charset="-122"/>
                <a:cs typeface="Cambria" pitchFamily="34" charset="-120"/>
              </a:rPr>
              <a:t>-8 to -10%</a:t>
            </a:r>
            <a:endParaRPr lang="en-US" sz="2800" dirty="0"/>
          </a:p>
        </p:txBody>
      </p:sp>
      <p:sp>
        <p:nvSpPr>
          <p:cNvPr id="9" name="Text 7"/>
          <p:cNvSpPr txBox="1"/>
          <p:nvPr/>
        </p:nvSpPr>
        <p:spPr>
          <a:xfrm>
            <a:off x="3246120" y="2103120"/>
            <a:ext cx="2103120" cy="594360"/>
          </a:xfrm>
          <a:prstGeom prst="rect">
            <a:avLst/>
          </a:prstGeom>
          <a:noFill/>
          <a:ln/>
        </p:spPr>
        <p:txBody>
          <a:bodyPr wrap="square" lIns="0" tIns="0" rIns="0" bIns="0" rtlCol="0" anchor="t"/>
          <a:lstStyle/>
          <a:p>
            <a:pPr indent="0" marL="0">
              <a:buNone/>
            </a:pPr>
            <a:r>
              <a:rPr lang="en-US" sz="1100" dirty="0">
                <a:solidFill>
                  <a:srgbClr val="1B2430"/>
                </a:solidFill>
                <a:latin typeface="Calibri" pitchFamily="34" charset="0"/>
                <a:ea typeface="Calibri" pitchFamily="34" charset="-122"/>
                <a:cs typeface="Calibri" pitchFamily="34" charset="-120"/>
              </a:rPr>
              <a:t>new powerboat retail sales, 2025</a:t>
            </a:r>
            <a:endParaRPr lang="en-US" sz="1100" dirty="0"/>
          </a:p>
        </p:txBody>
      </p:sp>
      <p:sp>
        <p:nvSpPr>
          <p:cNvPr id="10" name="Shape 8"/>
          <p:cNvSpPr/>
          <p:nvPr/>
        </p:nvSpPr>
        <p:spPr>
          <a:xfrm>
            <a:off x="457200" y="2971800"/>
            <a:ext cx="2423160" cy="1463040"/>
          </a:xfrm>
          <a:prstGeom prst="roundRect">
            <a:avLst>
              <a:gd name="adj" fmla="val 5000"/>
            </a:avLst>
          </a:prstGeom>
          <a:solidFill>
            <a:srgbClr val="F3F6F8"/>
          </a:solidFill>
          <a:ln w="6350">
            <a:solidFill>
              <a:srgbClr val="F3F6F8"/>
            </a:solidFill>
            <a:prstDash val="solid"/>
          </a:ln>
        </p:spPr>
      </p:sp>
      <p:sp>
        <p:nvSpPr>
          <p:cNvPr id="11" name="Text 9"/>
          <p:cNvSpPr txBox="1"/>
          <p:nvPr/>
        </p:nvSpPr>
        <p:spPr>
          <a:xfrm>
            <a:off x="640080" y="3108960"/>
            <a:ext cx="2103120" cy="640080"/>
          </a:xfrm>
          <a:prstGeom prst="rect">
            <a:avLst/>
          </a:prstGeom>
          <a:noFill/>
          <a:ln/>
        </p:spPr>
        <p:txBody>
          <a:bodyPr wrap="square" lIns="0" tIns="0" rIns="0" bIns="0" rtlCol="0" anchor="ctr"/>
          <a:lstStyle/>
          <a:p>
            <a:pPr indent="0" marL="0">
              <a:buNone/>
            </a:pPr>
            <a:r>
              <a:rPr lang="en-US" sz="2800" b="1" dirty="0">
                <a:solidFill>
                  <a:srgbClr val="13A89E"/>
                </a:solidFill>
                <a:latin typeface="Cambria" pitchFamily="34" charset="0"/>
                <a:ea typeface="Cambria" pitchFamily="34" charset="-122"/>
                <a:cs typeface="Cambria" pitchFamily="34" charset="-120"/>
              </a:rPr>
              <a:t>~860k</a:t>
            </a:r>
            <a:endParaRPr lang="en-US" sz="2800" dirty="0"/>
          </a:p>
        </p:txBody>
      </p:sp>
      <p:sp>
        <p:nvSpPr>
          <p:cNvPr id="12" name="Text 10"/>
          <p:cNvSpPr txBox="1"/>
          <p:nvPr/>
        </p:nvSpPr>
        <p:spPr>
          <a:xfrm>
            <a:off x="640080" y="3749040"/>
            <a:ext cx="2103120" cy="594360"/>
          </a:xfrm>
          <a:prstGeom prst="rect">
            <a:avLst/>
          </a:prstGeom>
          <a:noFill/>
          <a:ln/>
        </p:spPr>
        <p:txBody>
          <a:bodyPr wrap="square" lIns="0" tIns="0" rIns="0" bIns="0" rtlCol="0" anchor="t"/>
          <a:lstStyle/>
          <a:p>
            <a:pPr indent="0" marL="0">
              <a:buNone/>
            </a:pPr>
            <a:r>
              <a:rPr lang="en-US" sz="1100" dirty="0">
                <a:solidFill>
                  <a:srgbClr val="1B2430"/>
                </a:solidFill>
                <a:latin typeface="Calibri" pitchFamily="34" charset="0"/>
                <a:ea typeface="Calibri" pitchFamily="34" charset="-122"/>
                <a:cs typeface="Calibri" pitchFamily="34" charset="-120"/>
              </a:rPr>
              <a:t>pre-owned boat sales a year: an ageing fleet needing work</a:t>
            </a:r>
            <a:endParaRPr lang="en-US" sz="1100" dirty="0"/>
          </a:p>
        </p:txBody>
      </p:sp>
      <p:sp>
        <p:nvSpPr>
          <p:cNvPr id="13" name="Shape 11"/>
          <p:cNvSpPr/>
          <p:nvPr/>
        </p:nvSpPr>
        <p:spPr>
          <a:xfrm>
            <a:off x="3063240" y="2971800"/>
            <a:ext cx="2423160" cy="1463040"/>
          </a:xfrm>
          <a:prstGeom prst="roundRect">
            <a:avLst>
              <a:gd name="adj" fmla="val 5000"/>
            </a:avLst>
          </a:prstGeom>
          <a:solidFill>
            <a:srgbClr val="F3F6F8"/>
          </a:solidFill>
          <a:ln w="6350">
            <a:solidFill>
              <a:srgbClr val="F3F6F8"/>
            </a:solidFill>
            <a:prstDash val="solid"/>
          </a:ln>
        </p:spPr>
      </p:sp>
      <p:sp>
        <p:nvSpPr>
          <p:cNvPr id="14" name="Text 12"/>
          <p:cNvSpPr txBox="1"/>
          <p:nvPr/>
        </p:nvSpPr>
        <p:spPr>
          <a:xfrm>
            <a:off x="3246120" y="3108960"/>
            <a:ext cx="2103120" cy="640080"/>
          </a:xfrm>
          <a:prstGeom prst="rect">
            <a:avLst/>
          </a:prstGeom>
          <a:noFill/>
          <a:ln/>
        </p:spPr>
        <p:txBody>
          <a:bodyPr wrap="square" lIns="0" tIns="0" rIns="0" bIns="0" rtlCol="0" anchor="ctr"/>
          <a:lstStyle/>
          <a:p>
            <a:pPr indent="0" marL="0">
              <a:buNone/>
            </a:pPr>
            <a:r>
              <a:rPr lang="en-US" sz="2800" b="1" dirty="0">
                <a:solidFill>
                  <a:srgbClr val="13A89E"/>
                </a:solidFill>
                <a:latin typeface="Cambria" pitchFamily="34" charset="0"/>
                <a:ea typeface="Cambria" pitchFamily="34" charset="-122"/>
                <a:cs typeface="Cambria" pitchFamily="34" charset="-120"/>
              </a:rPr>
              <a:t>73% / 67%</a:t>
            </a:r>
            <a:endParaRPr lang="en-US" sz="2800" dirty="0"/>
          </a:p>
        </p:txBody>
      </p:sp>
      <p:sp>
        <p:nvSpPr>
          <p:cNvPr id="15" name="Text 13"/>
          <p:cNvSpPr txBox="1"/>
          <p:nvPr/>
        </p:nvSpPr>
        <p:spPr>
          <a:xfrm>
            <a:off x="3246120" y="3749040"/>
            <a:ext cx="2103120" cy="594360"/>
          </a:xfrm>
          <a:prstGeom prst="rect">
            <a:avLst/>
          </a:prstGeom>
          <a:noFill/>
          <a:ln/>
        </p:spPr>
        <p:txBody>
          <a:bodyPr wrap="square" lIns="0" tIns="0" rIns="0" bIns="0" rtlCol="0" anchor="t"/>
          <a:lstStyle/>
          <a:p>
            <a:pPr indent="0" marL="0">
              <a:buNone/>
            </a:pPr>
            <a:r>
              <a:rPr lang="en-US" sz="1100" dirty="0">
                <a:solidFill>
                  <a:srgbClr val="1B2430"/>
                </a:solidFill>
                <a:latin typeface="Calibri" pitchFamily="34" charset="0"/>
                <a:ea typeface="Calibri" pitchFamily="34" charset="-122"/>
                <a:cs typeface="Calibri" pitchFamily="34" charset="-120"/>
              </a:rPr>
              <a:t>of marinas report insurance and staffing costs up</a:t>
            </a:r>
            <a:endParaRPr lang="en-US" sz="1100" dirty="0"/>
          </a:p>
        </p:txBody>
      </p:sp>
      <p:sp>
        <p:nvSpPr>
          <p:cNvPr id="16" name="Shape 14"/>
          <p:cNvSpPr/>
          <p:nvPr/>
        </p:nvSpPr>
        <p:spPr>
          <a:xfrm>
            <a:off x="5852160" y="1325880"/>
            <a:ext cx="2834640" cy="3291840"/>
          </a:xfrm>
          <a:prstGeom prst="roundRect">
            <a:avLst>
              <a:gd name="adj" fmla="val 2581"/>
            </a:avLst>
          </a:prstGeom>
          <a:solidFill>
            <a:srgbClr val="E3F5F3"/>
          </a:solidFill>
          <a:ln w="6350">
            <a:solidFill>
              <a:srgbClr val="E3F5F3"/>
            </a:solidFill>
            <a:prstDash val="solid"/>
          </a:ln>
        </p:spPr>
      </p:sp>
      <p:pic>
        <p:nvPicPr>
          <p:cNvPr id="17" name="Image 0" descr="preencoded.png">    </p:cNvPr>
          <p:cNvPicPr>
            <a:picLocks noChangeAspect="1"/>
          </p:cNvPicPr>
          <p:nvPr/>
        </p:nvPicPr>
        <p:blipFill>
          <a:blip r:embed="rId1"/>
          <a:stretch>
            <a:fillRect/>
          </a:stretch>
        </p:blipFill>
        <p:spPr>
          <a:xfrm>
            <a:off x="6035040" y="1463040"/>
            <a:ext cx="411480" cy="411480"/>
          </a:xfrm>
          <a:prstGeom prst="rect">
            <a:avLst/>
          </a:prstGeom>
        </p:spPr>
      </p:pic>
      <p:sp>
        <p:nvSpPr>
          <p:cNvPr id="18" name="Text 15"/>
          <p:cNvSpPr txBox="1"/>
          <p:nvPr/>
        </p:nvSpPr>
        <p:spPr>
          <a:xfrm>
            <a:off x="6537960" y="1481328"/>
            <a:ext cx="2011680" cy="365760"/>
          </a:xfrm>
          <a:prstGeom prst="rect">
            <a:avLst/>
          </a:prstGeom>
          <a:noFill/>
          <a:ln/>
        </p:spPr>
        <p:txBody>
          <a:bodyPr wrap="square" lIns="0" tIns="0" rIns="0" bIns="0" rtlCol="0" anchor="ctr"/>
          <a:lstStyle/>
          <a:p>
            <a:pPr indent="0" marL="0">
              <a:buNone/>
            </a:pPr>
            <a:r>
              <a:rPr lang="en-US" sz="1500" b="1" dirty="0">
                <a:solidFill>
                  <a:srgbClr val="0B2545"/>
                </a:solidFill>
                <a:latin typeface="Cambria" pitchFamily="34" charset="0"/>
                <a:ea typeface="Cambria" pitchFamily="34" charset="-122"/>
                <a:cs typeface="Cambria" pitchFamily="34" charset="-120"/>
              </a:rPr>
              <a:t>What it means</a:t>
            </a:r>
            <a:endParaRPr lang="en-US" sz="1500" dirty="0"/>
          </a:p>
        </p:txBody>
      </p:sp>
      <p:sp>
        <p:nvSpPr>
          <p:cNvPr id="19" name="Text 16"/>
          <p:cNvSpPr txBox="1"/>
          <p:nvPr/>
        </p:nvSpPr>
        <p:spPr>
          <a:xfrm>
            <a:off x="6035040" y="1965960"/>
            <a:ext cx="2514600" cy="2606040"/>
          </a:xfrm>
          <a:prstGeom prst="rect">
            <a:avLst/>
          </a:prstGeom>
          <a:noFill/>
          <a:ln/>
        </p:spPr>
        <p:txBody>
          <a:bodyPr wrap="square" lIns="0" tIns="0" rIns="0" bIns="0" rtlCol="0" anchor="t"/>
          <a:lstStyle/>
          <a:p>
            <a:pPr marL="152400" indent="-152400">
              <a:spcAft>
                <a:spcPts val="800"/>
              </a:spcAft>
              <a:buSzPct val="100000"/>
              <a:buChar char="•"/>
            </a:pPr>
            <a:r>
              <a:rPr lang="en-US" sz="1050" dirty="0">
                <a:solidFill>
                  <a:srgbClr val="1B2430"/>
                </a:solidFill>
                <a:latin typeface="Calibri" pitchFamily="34" charset="0"/>
                <a:ea typeface="Calibri" pitchFamily="34" charset="-122"/>
                <a:cs typeface="Calibri" pitchFamily="34" charset="-120"/>
              </a:rPr>
              <a:t>Service and repair, not boat sales, is where marina revenue grows for the next few years.</a:t>
            </a:r>
            <a:endParaRPr lang="en-US" sz="1050" dirty="0"/>
          </a:p>
          <a:p>
            <a:pPr marL="152400" indent="-152400">
              <a:spcAft>
                <a:spcPts val="800"/>
              </a:spcAft>
              <a:buSzPct val="100000"/>
              <a:buChar char="•"/>
            </a:pPr>
            <a:r>
              <a:rPr lang="en-US" sz="1050" dirty="0">
                <a:solidFill>
                  <a:srgbClr val="1B2430"/>
                </a:solidFill>
                <a:latin typeface="Calibri" pitchFamily="34" charset="0"/>
                <a:ea typeface="Calibri" pitchFamily="34" charset="-122"/>
                <a:cs typeface="Calibri" pitchFamily="34" charset="-120"/>
              </a:rPr>
              <a:t>Operators are squeezed on cost, so they buy labour leverage, not more seats.</a:t>
            </a:r>
            <a:endParaRPr lang="en-US" sz="1050" dirty="0"/>
          </a:p>
          <a:p>
            <a:pPr marL="152400" indent="-152400">
              <a:spcAft>
                <a:spcPts val="800"/>
              </a:spcAft>
              <a:buSzPct val="100000"/>
              <a:buChar char="•"/>
            </a:pPr>
            <a:r>
              <a:rPr lang="en-US" sz="1050" dirty="0">
                <a:solidFill>
                  <a:srgbClr val="1B2430"/>
                </a:solidFill>
                <a:latin typeface="Calibri" pitchFamily="34" charset="0"/>
                <a:ea typeface="Calibri" pitchFamily="34" charset="-122"/>
                <a:cs typeface="Calibri" pitchFamily="34" charset="-120"/>
              </a:rPr>
              <a:t>PE-backed groups are consolidating marinas and want standard process and cross-site visibility.</a:t>
            </a:r>
            <a:endParaRPr lang="en-US" sz="1050" dirty="0"/>
          </a:p>
          <a:p>
            <a:pPr marL="152400" indent="-152400">
              <a:spcAft>
                <a:spcPts val="800"/>
              </a:spcAft>
              <a:buSzPct val="100000"/>
              <a:buChar char="•"/>
            </a:pPr>
            <a:r>
              <a:rPr lang="en-US" sz="1050" dirty="0">
                <a:solidFill>
                  <a:srgbClr val="1B2430"/>
                </a:solidFill>
                <a:latin typeface="Calibri" pitchFamily="34" charset="0"/>
                <a:ea typeface="Calibri" pitchFamily="34" charset="-122"/>
                <a:cs typeface="Calibri" pitchFamily="34" charset="-120"/>
              </a:rPr>
              <a:t>Any AI product should be measured in billable hours recovered and days to cash.</a:t>
            </a:r>
            <a:endParaRPr lang="en-US" sz="1050" dirty="0"/>
          </a:p>
        </p:txBody>
      </p:sp>
      <p:sp>
        <p:nvSpPr>
          <p:cNvPr id="20" name="Text 17"/>
          <p:cNvSpPr txBox="1"/>
          <p:nvPr/>
        </p:nvSpPr>
        <p:spPr>
          <a:xfrm>
            <a:off x="457200" y="4617720"/>
            <a:ext cx="8229600" cy="18288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Sources: Marina Dock Age 2025 survey; IBISWorld; Marina World Jul 2026; NMMA via Vertical IQ</a:t>
            </a:r>
            <a:endParaRPr lang="en-US" sz="800" dirty="0"/>
          </a:p>
        </p:txBody>
      </p:sp>
      <p:sp>
        <p:nvSpPr>
          <p:cNvPr id="21"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Competitive position</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Rivals book slips or look modern. DockMaster runs the yard, and that is where the money is moving.</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5120640" cy="914400"/>
        </p:xfrm>
        <a:graphic>
          <a:graphicData uri="http://schemas.openxmlformats.org/drawingml/2006/table">
            <a:tbl>
              <a:tblPr/>
              <a:tblGrid>
                <a:gridCol w="1371600"/>
                <a:gridCol w="1920240"/>
                <a:gridCol w="1828800"/>
              </a:tblGrid>
              <a:tr h="38404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Player</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solidFill>
                      <a:srgbClr val="0B2545"/>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solidFill>
                      <a:srgbClr val="0B2545"/>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Threat to DockMaster</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solidFill>
                      <a:srgbClr val="0B2545"/>
                    </a:solidFill>
                  </a:tcPr>
                </a:tc>
              </a:tr>
              <a:tr h="384048">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Dockwa</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Boater-facing transient marketplace, ~1,000 marinas</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Owns transient booking; weak on service and accounting</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r>
              <a:tr h="384048">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Storable Molo</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Cloud ops, visual dock map, QuickBooks</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Modern UX; churn reason cited by a former customer</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r>
              <a:tr h="384048">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Scribble MarinaOffice</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Full-suite incumbent</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Direct feature-for-feature rival</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r>
              <a:tr h="384048">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Lightspeed, CDK, BiT</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Dealer management systems</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Compete on the boat-sales side</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r>
              <a:tr h="384048">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AI-native newcomers</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"Ops platform plus AI" pitch</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Greenfield, will target the small-shop base</a:t>
                      </a:r>
                      <a:endParaRPr lang="en-US" sz="95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r>
            </a:tbl>
          </a:graphicData>
        </a:graphic>
      </p:graphicFrame>
      <p:sp>
        <p:nvSpPr>
          <p:cNvPr id="5" name="Shape 2"/>
          <p:cNvSpPr/>
          <p:nvPr/>
        </p:nvSpPr>
        <p:spPr>
          <a:xfrm>
            <a:off x="5852160" y="1325880"/>
            <a:ext cx="2834640" cy="1554480"/>
          </a:xfrm>
          <a:prstGeom prst="roundRect">
            <a:avLst>
              <a:gd name="adj" fmla="val 4706"/>
            </a:avLst>
          </a:prstGeom>
          <a:solidFill>
            <a:srgbClr val="E3F5F3"/>
          </a:solidFill>
          <a:ln w="6350">
            <a:solidFill>
              <a:srgbClr val="E3F5F3"/>
            </a:solidFill>
            <a:prstDash val="solid"/>
          </a:ln>
        </p:spPr>
      </p:sp>
      <p:sp>
        <p:nvSpPr>
          <p:cNvPr id="6" name="Text 3"/>
          <p:cNvSpPr txBox="1"/>
          <p:nvPr/>
        </p:nvSpPr>
        <p:spPr>
          <a:xfrm>
            <a:off x="6035040" y="1417320"/>
            <a:ext cx="2468880" cy="274320"/>
          </a:xfrm>
          <a:prstGeom prst="rect">
            <a:avLst/>
          </a:prstGeom>
          <a:noFill/>
          <a:ln/>
        </p:spPr>
        <p:txBody>
          <a:bodyPr wrap="square" lIns="0" tIns="0" rIns="0" bIns="0" rtlCol="0" anchor="ctr"/>
          <a:lstStyle/>
          <a:p>
            <a:pPr indent="0" marL="0">
              <a:buNone/>
            </a:pPr>
            <a:r>
              <a:rPr lang="en-US" sz="1300" b="1" dirty="0">
                <a:solidFill>
                  <a:srgbClr val="0B2545"/>
                </a:solidFill>
                <a:latin typeface="Cambria" pitchFamily="34" charset="0"/>
                <a:ea typeface="Cambria" pitchFamily="34" charset="-122"/>
                <a:cs typeface="Cambria" pitchFamily="34" charset="-120"/>
              </a:rPr>
              <a:t>Defensible</a:t>
            </a:r>
            <a:endParaRPr lang="en-US" sz="1300" dirty="0"/>
          </a:p>
        </p:txBody>
      </p:sp>
      <p:sp>
        <p:nvSpPr>
          <p:cNvPr id="7" name="Text 4"/>
          <p:cNvSpPr txBox="1"/>
          <p:nvPr/>
        </p:nvSpPr>
        <p:spPr>
          <a:xfrm>
            <a:off x="6035040" y="1737360"/>
            <a:ext cx="2514600" cy="109728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rgbClr val="1B2430"/>
                </a:solidFill>
                <a:latin typeface="Calibri" pitchFamily="34" charset="0"/>
                <a:ea typeface="Calibri" pitchFamily="34" charset="-122"/>
                <a:cs typeface="Calibri" pitchFamily="34" charset="-120"/>
              </a:rPr>
              <a:t>Service, parts and accounting depth in one record</a:t>
            </a:r>
            <a:endParaRPr lang="en-US" sz="1000" dirty="0"/>
          </a:p>
          <a:p>
            <a:pPr marL="152400" indent="-152400">
              <a:spcAft>
                <a:spcPts val="400"/>
              </a:spcAft>
              <a:buSzPct val="100000"/>
              <a:buChar char="•"/>
            </a:pPr>
            <a:r>
              <a:rPr lang="en-US" sz="1000" dirty="0">
                <a:solidFill>
                  <a:srgbClr val="1B2430"/>
                </a:solidFill>
                <a:latin typeface="Calibri" pitchFamily="34" charset="0"/>
                <a:ea typeface="Calibri" pitchFamily="34" charset="-122"/>
                <a:cs typeface="Calibri" pitchFamily="34" charset="-120"/>
              </a:rPr>
              <a:t>Decades of structured work orders and vessel history</a:t>
            </a:r>
            <a:endParaRPr lang="en-US" sz="1000" dirty="0"/>
          </a:p>
          <a:p>
            <a:pPr marL="152400" indent="-152400">
              <a:spcAft>
                <a:spcPts val="400"/>
              </a:spcAft>
              <a:buSzPct val="100000"/>
              <a:buChar char="•"/>
            </a:pPr>
            <a:r>
              <a:rPr lang="en-US" sz="1000" dirty="0">
                <a:solidFill>
                  <a:srgbClr val="1B2430"/>
                </a:solidFill>
                <a:latin typeface="Calibri" pitchFamily="34" charset="0"/>
                <a:ea typeface="Calibri" pitchFamily="34" charset="-122"/>
                <a:cs typeface="Calibri" pitchFamily="34" charset="-120"/>
              </a:rPr>
              <a:t>An API and a 1,000+ install base</a:t>
            </a:r>
            <a:endParaRPr lang="en-US" sz="1000" dirty="0"/>
          </a:p>
        </p:txBody>
      </p:sp>
      <p:sp>
        <p:nvSpPr>
          <p:cNvPr id="8" name="Shape 5"/>
          <p:cNvSpPr/>
          <p:nvPr/>
        </p:nvSpPr>
        <p:spPr>
          <a:xfrm>
            <a:off x="5852160" y="3017520"/>
            <a:ext cx="2834640" cy="1600200"/>
          </a:xfrm>
          <a:prstGeom prst="roundRect">
            <a:avLst>
              <a:gd name="adj" fmla="val 4571"/>
            </a:avLst>
          </a:prstGeom>
          <a:solidFill>
            <a:srgbClr val="FCF1DF"/>
          </a:solidFill>
          <a:ln w="6350">
            <a:solidFill>
              <a:srgbClr val="FCF1DF"/>
            </a:solidFill>
            <a:prstDash val="solid"/>
          </a:ln>
        </p:spPr>
      </p:sp>
      <p:sp>
        <p:nvSpPr>
          <p:cNvPr id="9" name="Text 6"/>
          <p:cNvSpPr txBox="1"/>
          <p:nvPr/>
        </p:nvSpPr>
        <p:spPr>
          <a:xfrm>
            <a:off x="6035040" y="3108960"/>
            <a:ext cx="2468880" cy="274320"/>
          </a:xfrm>
          <a:prstGeom prst="rect">
            <a:avLst/>
          </a:prstGeom>
          <a:noFill/>
          <a:ln/>
        </p:spPr>
        <p:txBody>
          <a:bodyPr wrap="square" lIns="0" tIns="0" rIns="0" bIns="0" rtlCol="0" anchor="ctr"/>
          <a:lstStyle/>
          <a:p>
            <a:pPr indent="0" marL="0">
              <a:buNone/>
            </a:pPr>
            <a:r>
              <a:rPr lang="en-US" sz="1300" b="1" dirty="0">
                <a:solidFill>
                  <a:srgbClr val="0B2545"/>
                </a:solidFill>
                <a:latin typeface="Cambria" pitchFamily="34" charset="0"/>
                <a:ea typeface="Cambria" pitchFamily="34" charset="-122"/>
                <a:cs typeface="Cambria" pitchFamily="34" charset="-120"/>
              </a:rPr>
              <a:t>Exposed</a:t>
            </a:r>
            <a:endParaRPr lang="en-US" sz="1300" dirty="0"/>
          </a:p>
        </p:txBody>
      </p:sp>
      <p:sp>
        <p:nvSpPr>
          <p:cNvPr id="10" name="Text 7"/>
          <p:cNvSpPr txBox="1"/>
          <p:nvPr/>
        </p:nvSpPr>
        <p:spPr>
          <a:xfrm>
            <a:off x="6035040" y="3429000"/>
            <a:ext cx="2514600" cy="1143000"/>
          </a:xfrm>
          <a:prstGeom prst="rect">
            <a:avLst/>
          </a:prstGeom>
          <a:noFill/>
          <a:ln/>
        </p:spPr>
        <p:txBody>
          <a:bodyPr wrap="square" lIns="0" tIns="0" rIns="0" bIns="0" rtlCol="0" anchor="t"/>
          <a:lstStyle/>
          <a:p>
            <a:pPr marL="152400" indent="-152400">
              <a:spcAft>
                <a:spcPts val="400"/>
              </a:spcAft>
              <a:buSzPct val="100000"/>
              <a:buChar char="•"/>
            </a:pPr>
            <a:r>
              <a:rPr lang="en-US" sz="1000" dirty="0">
                <a:solidFill>
                  <a:srgbClr val="1B2430"/>
                </a:solidFill>
                <a:latin typeface="Calibri" pitchFamily="34" charset="0"/>
                <a:ea typeface="Calibri" pitchFamily="34" charset="-122"/>
                <a:cs typeface="Calibri" pitchFamily="34" charset="-120"/>
              </a:rPr>
              <a:t>Capterra 3.9: "clunky", GUI needs a refresh</a:t>
            </a:r>
            <a:endParaRPr lang="en-US" sz="1000" dirty="0"/>
          </a:p>
          <a:p>
            <a:pPr marL="152400" indent="-152400">
              <a:spcAft>
                <a:spcPts val="400"/>
              </a:spcAft>
              <a:buSzPct val="100000"/>
              <a:buChar char="•"/>
            </a:pPr>
            <a:r>
              <a:rPr lang="en-US" sz="1000" dirty="0">
                <a:solidFill>
                  <a:srgbClr val="1B2430"/>
                </a:solidFill>
                <a:latin typeface="Calibri" pitchFamily="34" charset="0"/>
                <a:ea typeface="Calibri" pitchFamily="34" charset="-122"/>
                <a:cs typeface="Calibri" pitchFamily="34" charset="-120"/>
              </a:rPr>
              <a:t>Desktop-only accounts are slow to move to Web</a:t>
            </a:r>
            <a:endParaRPr lang="en-US" sz="1000" dirty="0"/>
          </a:p>
          <a:p>
            <a:pPr marL="152400" indent="-152400">
              <a:spcAft>
                <a:spcPts val="400"/>
              </a:spcAft>
              <a:buSzPct val="100000"/>
              <a:buChar char="•"/>
            </a:pPr>
            <a:r>
              <a:rPr lang="en-US" sz="1000" dirty="0">
                <a:solidFill>
                  <a:srgbClr val="1B2430"/>
                </a:solidFill>
                <a:latin typeface="Calibri" pitchFamily="34" charset="0"/>
                <a:ea typeface="Calibri" pitchFamily="34" charset="-122"/>
                <a:cs typeface="Calibri" pitchFamily="34" charset="-120"/>
              </a:rPr>
              <a:t>AI-native entrants will pitch the small-shop base first</a:t>
            </a:r>
            <a:endParaRPr lang="en-US" sz="1000" dirty="0"/>
          </a:p>
        </p:txBody>
      </p:sp>
      <p:sp>
        <p:nvSpPr>
          <p:cNvPr id="11" name="Text 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The customer with the most to gain</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Within DockMaster's base, the full-service yard with a real service department is where the pain and the money sit</a:t>
            </a:r>
            <a:endParaRPr lang="en-US" sz="1300" dirty="0"/>
          </a:p>
        </p:txBody>
      </p:sp>
      <p:sp>
        <p:nvSpPr>
          <p:cNvPr id="4" name="Shape 2"/>
          <p:cNvSpPr/>
          <p:nvPr/>
        </p:nvSpPr>
        <p:spPr>
          <a:xfrm>
            <a:off x="457200" y="1325880"/>
            <a:ext cx="3931920" cy="3291840"/>
          </a:xfrm>
          <a:prstGeom prst="roundRect">
            <a:avLst>
              <a:gd name="adj" fmla="val 2222"/>
            </a:avLst>
          </a:prstGeom>
          <a:solidFill>
            <a:srgbClr val="E3F5F3"/>
          </a:solidFill>
          <a:ln w="6350">
            <a:solidFill>
              <a:srgbClr val="E3F5F3"/>
            </a:solidFill>
            <a:prstDash val="solid"/>
          </a:ln>
        </p:spPr>
      </p:sp>
      <p:pic>
        <p:nvPicPr>
          <p:cNvPr id="5" name="Image 0" descr="preencoded.png">    </p:cNvPr>
          <p:cNvPicPr>
            <a:picLocks noChangeAspect="1"/>
          </p:cNvPicPr>
          <p:nvPr/>
        </p:nvPicPr>
        <p:blipFill>
          <a:blip r:embed="rId1"/>
          <a:stretch>
            <a:fillRect/>
          </a:stretch>
        </p:blipFill>
        <p:spPr>
          <a:xfrm>
            <a:off x="640080" y="1463040"/>
            <a:ext cx="411480" cy="411480"/>
          </a:xfrm>
          <a:prstGeom prst="rect">
            <a:avLst/>
          </a:prstGeom>
        </p:spPr>
      </p:pic>
      <p:sp>
        <p:nvSpPr>
          <p:cNvPr id="6" name="Text 3"/>
          <p:cNvSpPr txBox="1"/>
          <p:nvPr/>
        </p:nvSpPr>
        <p:spPr>
          <a:xfrm>
            <a:off x="1143000" y="1481328"/>
            <a:ext cx="2743200" cy="365760"/>
          </a:xfrm>
          <a:prstGeom prst="rect">
            <a:avLst/>
          </a:prstGeom>
          <a:noFill/>
          <a:ln/>
        </p:spPr>
        <p:txBody>
          <a:bodyPr wrap="square" lIns="0" tIns="0" rIns="0" bIns="0" rtlCol="0" anchor="ctr"/>
          <a:lstStyle/>
          <a:p>
            <a:pPr indent="0" marL="0">
              <a:buNone/>
            </a:pPr>
            <a:r>
              <a:rPr lang="en-US" sz="1500" b="1" dirty="0">
                <a:solidFill>
                  <a:srgbClr val="0B2545"/>
                </a:solidFill>
                <a:latin typeface="Cambria" pitchFamily="34" charset="0"/>
                <a:ea typeface="Cambria" pitchFamily="34" charset="-122"/>
                <a:cs typeface="Cambria" pitchFamily="34" charset="-120"/>
              </a:rPr>
              <a:t>The segment</a:t>
            </a:r>
            <a:endParaRPr lang="en-US" sz="1500" dirty="0"/>
          </a:p>
        </p:txBody>
      </p:sp>
      <p:sp>
        <p:nvSpPr>
          <p:cNvPr id="7" name="Text 4"/>
          <p:cNvSpPr txBox="1"/>
          <p:nvPr/>
        </p:nvSpPr>
        <p:spPr>
          <a:xfrm>
            <a:off x="640080" y="1965960"/>
            <a:ext cx="3566160" cy="2606040"/>
          </a:xfrm>
          <a:prstGeom prst="rect">
            <a:avLst/>
          </a:prstGeom>
          <a:noFill/>
          <a:ln/>
        </p:spPr>
        <p:txBody>
          <a:bodyPr wrap="square" lIns="0" tIns="0" rIns="0" bIns="0" rtlCol="0" anchor="t"/>
          <a:lstStyle/>
          <a:p>
            <a:pPr marL="152400" indent="-152400">
              <a:spcAft>
                <a:spcPts val="600"/>
              </a:spcAft>
              <a:buSzPct val="100000"/>
              <a:buChar char="•"/>
            </a:pPr>
            <a:r>
              <a:rPr lang="en-US" sz="1000" dirty="0">
                <a:solidFill>
                  <a:srgbClr val="1B2430"/>
                </a:solidFill>
                <a:latin typeface="Calibri" pitchFamily="34" charset="0"/>
                <a:ea typeface="Calibri" pitchFamily="34" charset="-122"/>
                <a:cs typeface="Calibri" pitchFamily="34" charset="-120"/>
              </a:rPr>
              <a:t>50-500 slips or dry stack plus a repair shop with 3-25 technicians and a parts room</a:t>
            </a:r>
            <a:endParaRPr lang="en-US" sz="1000" dirty="0"/>
          </a:p>
          <a:p>
            <a:pPr marL="152400" indent="-152400">
              <a:spcAft>
                <a:spcPts val="600"/>
              </a:spcAft>
              <a:buSzPct val="100000"/>
              <a:buChar char="•"/>
            </a:pPr>
            <a:r>
              <a:rPr lang="en-US" sz="1000" dirty="0">
                <a:solidFill>
                  <a:srgbClr val="1B2430"/>
                </a:solidFill>
                <a:latin typeface="Calibri" pitchFamily="34" charset="0"/>
                <a:ea typeface="Calibri" pitchFamily="34" charset="-122"/>
                <a:cs typeface="Calibri" pitchFamily="34" charset="-120"/>
              </a:rPr>
              <a:t>$2M-$30M revenue, 10-60 staff, sharply seasonal (spring commissioning, fall haul-out)</a:t>
            </a:r>
            <a:endParaRPr lang="en-US" sz="1000" dirty="0"/>
          </a:p>
          <a:p>
            <a:pPr marL="152400" indent="-152400">
              <a:spcAft>
                <a:spcPts val="600"/>
              </a:spcAft>
              <a:buSzPct val="100000"/>
              <a:buChar char="•"/>
            </a:pPr>
            <a:r>
              <a:rPr lang="en-US" sz="1000" dirty="0">
                <a:solidFill>
                  <a:srgbClr val="1B2430"/>
                </a:solidFill>
                <a:latin typeface="Calibri" pitchFamily="34" charset="0"/>
                <a:ea typeface="Calibri" pitchFamily="34" charset="-122"/>
                <a:cs typeface="Calibri" pitchFamily="34" charset="-120"/>
              </a:rPr>
              <a:t>Most are on Desktop, partly on Web 2.0 and Mobile, and run accounting in DockMaster. Examples: Shearwater Marine, RMK Merrill-Stevens, West Alton Marina</a:t>
            </a:r>
            <a:endParaRPr lang="en-US" sz="1000" dirty="0"/>
          </a:p>
          <a:p>
            <a:pPr marL="152400" indent="-152400">
              <a:spcAft>
                <a:spcPts val="600"/>
              </a:spcAft>
              <a:buSzPct val="100000"/>
              <a:buChar char="•"/>
            </a:pPr>
            <a:r>
              <a:rPr lang="en-US" sz="1000" dirty="0">
                <a:solidFill>
                  <a:srgbClr val="1B2430"/>
                </a:solidFill>
                <a:latin typeface="Calibri" pitchFamily="34" charset="0"/>
                <a:ea typeface="Calibri" pitchFamily="34" charset="-122"/>
                <a:cs typeface="Calibri" pitchFamily="34" charset="-120"/>
              </a:rPr>
              <a:t>The same yards exist outside the base, on Molo, MarinaOffice or spreadsheets</a:t>
            </a:r>
            <a:endParaRPr lang="en-US" sz="1000" dirty="0"/>
          </a:p>
          <a:p>
            <a:pPr marL="152400" indent="-152400">
              <a:spcAft>
                <a:spcPts val="600"/>
              </a:spcAft>
              <a:buSzPct val="100000"/>
              <a:buChar char="•"/>
            </a:pPr>
            <a:r>
              <a:rPr lang="en-US" sz="1000" dirty="0">
                <a:solidFill>
                  <a:srgbClr val="1B2430"/>
                </a:solidFill>
                <a:latin typeface="Calibri" pitchFamily="34" charset="0"/>
                <a:ea typeface="Calibri" pitchFamily="34" charset="-122"/>
                <a:cs typeface="Calibri" pitchFamily="34" charset="-120"/>
              </a:rPr>
              <a:t>PE-backed multi-site groups add scale. Yacht clubs and rental businesses carry far less service data, so less to gain.</a:t>
            </a:r>
            <a:endParaRPr lang="en-US" sz="1000" dirty="0"/>
          </a:p>
        </p:txBody>
      </p:sp>
      <p:sp>
        <p:nvSpPr>
          <p:cNvPr id="8" name="Shape 5"/>
          <p:cNvSpPr/>
          <p:nvPr/>
        </p:nvSpPr>
        <p:spPr>
          <a:xfrm>
            <a:off x="4663440" y="1325880"/>
            <a:ext cx="4023360" cy="749808"/>
          </a:xfrm>
          <a:prstGeom prst="roundRect">
            <a:avLst>
              <a:gd name="adj" fmla="val 9756"/>
            </a:avLst>
          </a:prstGeom>
          <a:solidFill>
            <a:srgbClr val="F3F6F8"/>
          </a:solidFill>
          <a:ln w="6350">
            <a:solidFill>
              <a:srgbClr val="F3F6F8"/>
            </a:solidFill>
            <a:prstDash val="solid"/>
          </a:ln>
        </p:spPr>
      </p:sp>
      <p:pic>
        <p:nvPicPr>
          <p:cNvPr id="9" name="Image 1" descr="preencoded.png">    </p:cNvPr>
          <p:cNvPicPr>
            <a:picLocks noChangeAspect="1"/>
          </p:cNvPicPr>
          <p:nvPr/>
        </p:nvPicPr>
        <p:blipFill>
          <a:blip r:embed="rId2"/>
          <a:stretch>
            <a:fillRect/>
          </a:stretch>
        </p:blipFill>
        <p:spPr>
          <a:xfrm>
            <a:off x="4800600" y="1481328"/>
            <a:ext cx="438912" cy="438912"/>
          </a:xfrm>
          <a:prstGeom prst="rect">
            <a:avLst/>
          </a:prstGeom>
        </p:spPr>
      </p:pic>
      <p:sp>
        <p:nvSpPr>
          <p:cNvPr id="10" name="Text 6"/>
          <p:cNvSpPr txBox="1"/>
          <p:nvPr/>
        </p:nvSpPr>
        <p:spPr>
          <a:xfrm>
            <a:off x="5349240" y="1399032"/>
            <a:ext cx="3200400" cy="256032"/>
          </a:xfrm>
          <a:prstGeom prst="rect">
            <a:avLst/>
          </a:prstGeom>
          <a:noFill/>
          <a:ln/>
        </p:spPr>
        <p:txBody>
          <a:bodyPr wrap="square" lIns="0" tIns="0" rIns="0" bIns="0" rtlCol="0" anchor="ctr"/>
          <a:lstStyle/>
          <a:p>
            <a:pPr indent="0" marL="0">
              <a:buNone/>
            </a:pPr>
            <a:r>
              <a:rPr lang="en-US" sz="1250" b="1" dirty="0">
                <a:solidFill>
                  <a:srgbClr val="0B2545"/>
                </a:solidFill>
                <a:latin typeface="Cambria" pitchFamily="34" charset="0"/>
                <a:ea typeface="Cambria" pitchFamily="34" charset="-122"/>
                <a:cs typeface="Cambria" pitchFamily="34" charset="-120"/>
              </a:rPr>
              <a:t>Owner / GM</a:t>
            </a:r>
            <a:endParaRPr lang="en-US" sz="1250" dirty="0"/>
          </a:p>
        </p:txBody>
      </p:sp>
      <p:sp>
        <p:nvSpPr>
          <p:cNvPr id="11" name="Text 7"/>
          <p:cNvSpPr txBox="1"/>
          <p:nvPr/>
        </p:nvSpPr>
        <p:spPr>
          <a:xfrm>
            <a:off x="5349240" y="1655064"/>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Buys on billable-hour recovery, unbilled work, AR days, staff turnover.</a:t>
            </a:r>
            <a:endParaRPr lang="en-US" sz="950" dirty="0"/>
          </a:p>
        </p:txBody>
      </p:sp>
      <p:sp>
        <p:nvSpPr>
          <p:cNvPr id="12" name="Shape 8"/>
          <p:cNvSpPr/>
          <p:nvPr/>
        </p:nvSpPr>
        <p:spPr>
          <a:xfrm>
            <a:off x="4663440" y="2167128"/>
            <a:ext cx="4023360" cy="749808"/>
          </a:xfrm>
          <a:prstGeom prst="roundRect">
            <a:avLst>
              <a:gd name="adj" fmla="val 9756"/>
            </a:avLst>
          </a:prstGeom>
          <a:solidFill>
            <a:srgbClr val="F3F6F8"/>
          </a:solidFill>
          <a:ln w="6350">
            <a:solidFill>
              <a:srgbClr val="F3F6F8"/>
            </a:solidFill>
            <a:prstDash val="solid"/>
          </a:ln>
        </p:spPr>
      </p:sp>
      <p:pic>
        <p:nvPicPr>
          <p:cNvPr id="13" name="Image 2" descr="preencoded.png">    </p:cNvPr>
          <p:cNvPicPr>
            <a:picLocks noChangeAspect="1"/>
          </p:cNvPicPr>
          <p:nvPr/>
        </p:nvPicPr>
        <p:blipFill>
          <a:blip r:embed="rId3"/>
          <a:stretch>
            <a:fillRect/>
          </a:stretch>
        </p:blipFill>
        <p:spPr>
          <a:xfrm>
            <a:off x="4800600" y="2322576"/>
            <a:ext cx="438912" cy="438912"/>
          </a:xfrm>
          <a:prstGeom prst="rect">
            <a:avLst/>
          </a:prstGeom>
        </p:spPr>
      </p:pic>
      <p:sp>
        <p:nvSpPr>
          <p:cNvPr id="14" name="Text 9"/>
          <p:cNvSpPr txBox="1"/>
          <p:nvPr/>
        </p:nvSpPr>
        <p:spPr>
          <a:xfrm>
            <a:off x="5349240" y="2240280"/>
            <a:ext cx="3200400" cy="256032"/>
          </a:xfrm>
          <a:prstGeom prst="rect">
            <a:avLst/>
          </a:prstGeom>
          <a:noFill/>
          <a:ln/>
        </p:spPr>
        <p:txBody>
          <a:bodyPr wrap="square" lIns="0" tIns="0" rIns="0" bIns="0" rtlCol="0" anchor="ctr"/>
          <a:lstStyle/>
          <a:p>
            <a:pPr indent="0" marL="0">
              <a:buNone/>
            </a:pPr>
            <a:r>
              <a:rPr lang="en-US" sz="1250" b="1" dirty="0">
                <a:solidFill>
                  <a:srgbClr val="0B2545"/>
                </a:solidFill>
                <a:latin typeface="Cambria" pitchFamily="34" charset="0"/>
                <a:ea typeface="Cambria" pitchFamily="34" charset="-122"/>
                <a:cs typeface="Cambria" pitchFamily="34" charset="-120"/>
              </a:rPr>
              <a:t>Service manager</a:t>
            </a:r>
            <a:endParaRPr lang="en-US" sz="1250" dirty="0"/>
          </a:p>
        </p:txBody>
      </p:sp>
      <p:sp>
        <p:nvSpPr>
          <p:cNvPr id="15" name="Text 10"/>
          <p:cNvSpPr txBox="1"/>
          <p:nvPr/>
        </p:nvSpPr>
        <p:spPr>
          <a:xfrm>
            <a:off x="5349240" y="2496312"/>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Daily power user. Estimate turnaround, quoting from memory, chasing approvals, notes not reaching the invoice.</a:t>
            </a:r>
            <a:endParaRPr lang="en-US" sz="950" dirty="0"/>
          </a:p>
        </p:txBody>
      </p:sp>
      <p:sp>
        <p:nvSpPr>
          <p:cNvPr id="16" name="Shape 11"/>
          <p:cNvSpPr/>
          <p:nvPr/>
        </p:nvSpPr>
        <p:spPr>
          <a:xfrm>
            <a:off x="4663440" y="3008376"/>
            <a:ext cx="4023360" cy="749808"/>
          </a:xfrm>
          <a:prstGeom prst="roundRect">
            <a:avLst>
              <a:gd name="adj" fmla="val 9756"/>
            </a:avLst>
          </a:prstGeom>
          <a:solidFill>
            <a:srgbClr val="F3F6F8"/>
          </a:solidFill>
          <a:ln w="6350">
            <a:solidFill>
              <a:srgbClr val="F3F6F8"/>
            </a:solidFill>
            <a:prstDash val="solid"/>
          </a:ln>
        </p:spPr>
      </p:sp>
      <p:pic>
        <p:nvPicPr>
          <p:cNvPr id="17" name="Image 3" descr="preencoded.png">    </p:cNvPr>
          <p:cNvPicPr>
            <a:picLocks noChangeAspect="1"/>
          </p:cNvPicPr>
          <p:nvPr/>
        </p:nvPicPr>
        <p:blipFill>
          <a:blip r:embed="rId4"/>
          <a:stretch>
            <a:fillRect/>
          </a:stretch>
        </p:blipFill>
        <p:spPr>
          <a:xfrm>
            <a:off x="4800600" y="3163824"/>
            <a:ext cx="438912" cy="438912"/>
          </a:xfrm>
          <a:prstGeom prst="rect">
            <a:avLst/>
          </a:prstGeom>
        </p:spPr>
      </p:pic>
      <p:sp>
        <p:nvSpPr>
          <p:cNvPr id="18" name="Text 12"/>
          <p:cNvSpPr txBox="1"/>
          <p:nvPr/>
        </p:nvSpPr>
        <p:spPr>
          <a:xfrm>
            <a:off x="5349240" y="3081528"/>
            <a:ext cx="3200400" cy="256032"/>
          </a:xfrm>
          <a:prstGeom prst="rect">
            <a:avLst/>
          </a:prstGeom>
          <a:noFill/>
          <a:ln/>
        </p:spPr>
        <p:txBody>
          <a:bodyPr wrap="square" lIns="0" tIns="0" rIns="0" bIns="0" rtlCol="0" anchor="ctr"/>
          <a:lstStyle/>
          <a:p>
            <a:pPr indent="0" marL="0">
              <a:buNone/>
            </a:pPr>
            <a:r>
              <a:rPr lang="en-US" sz="1250" b="1" dirty="0">
                <a:solidFill>
                  <a:srgbClr val="0B2545"/>
                </a:solidFill>
                <a:latin typeface="Cambria" pitchFamily="34" charset="0"/>
                <a:ea typeface="Cambria" pitchFamily="34" charset="-122"/>
                <a:cs typeface="Cambria" pitchFamily="34" charset="-120"/>
              </a:rPr>
              <a:t>Office / accounting</a:t>
            </a:r>
            <a:endParaRPr lang="en-US" sz="1250" dirty="0"/>
          </a:p>
        </p:txBody>
      </p:sp>
      <p:sp>
        <p:nvSpPr>
          <p:cNvPr id="19" name="Text 13"/>
          <p:cNvSpPr txBox="1"/>
          <p:nvPr/>
        </p:nvSpPr>
        <p:spPr>
          <a:xfrm>
            <a:off x="5349240" y="3337560"/>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Month-end, collections, reconciling payments, fighting the Desktop UI.</a:t>
            </a:r>
            <a:endParaRPr lang="en-US" sz="950" dirty="0"/>
          </a:p>
        </p:txBody>
      </p:sp>
      <p:sp>
        <p:nvSpPr>
          <p:cNvPr id="20" name="Shape 14"/>
          <p:cNvSpPr/>
          <p:nvPr/>
        </p:nvSpPr>
        <p:spPr>
          <a:xfrm>
            <a:off x="4663440" y="3849624"/>
            <a:ext cx="4023360" cy="749808"/>
          </a:xfrm>
          <a:prstGeom prst="roundRect">
            <a:avLst>
              <a:gd name="adj" fmla="val 9756"/>
            </a:avLst>
          </a:prstGeom>
          <a:solidFill>
            <a:srgbClr val="F3F6F8"/>
          </a:solidFill>
          <a:ln w="6350">
            <a:solidFill>
              <a:srgbClr val="F3F6F8"/>
            </a:solidFill>
            <a:prstDash val="solid"/>
          </a:ln>
        </p:spPr>
      </p:sp>
      <p:pic>
        <p:nvPicPr>
          <p:cNvPr id="21" name="Image 4" descr="preencoded.png">    </p:cNvPr>
          <p:cNvPicPr>
            <a:picLocks noChangeAspect="1"/>
          </p:cNvPicPr>
          <p:nvPr/>
        </p:nvPicPr>
        <p:blipFill>
          <a:blip r:embed="rId5"/>
          <a:stretch>
            <a:fillRect/>
          </a:stretch>
        </p:blipFill>
        <p:spPr>
          <a:xfrm>
            <a:off x="4800600" y="4005072"/>
            <a:ext cx="438912" cy="438912"/>
          </a:xfrm>
          <a:prstGeom prst="rect">
            <a:avLst/>
          </a:prstGeom>
        </p:spPr>
      </p:pic>
      <p:sp>
        <p:nvSpPr>
          <p:cNvPr id="22" name="Text 15"/>
          <p:cNvSpPr txBox="1"/>
          <p:nvPr/>
        </p:nvSpPr>
        <p:spPr>
          <a:xfrm>
            <a:off x="5349240" y="3922776"/>
            <a:ext cx="3200400" cy="256032"/>
          </a:xfrm>
          <a:prstGeom prst="rect">
            <a:avLst/>
          </a:prstGeom>
          <a:noFill/>
          <a:ln/>
        </p:spPr>
        <p:txBody>
          <a:bodyPr wrap="square" lIns="0" tIns="0" rIns="0" bIns="0" rtlCol="0" anchor="ctr"/>
          <a:lstStyle/>
          <a:p>
            <a:pPr indent="0" marL="0">
              <a:buNone/>
            </a:pPr>
            <a:r>
              <a:rPr lang="en-US" sz="1250" b="1" dirty="0">
                <a:solidFill>
                  <a:srgbClr val="0B2545"/>
                </a:solidFill>
                <a:latin typeface="Cambria" pitchFamily="34" charset="0"/>
                <a:ea typeface="Cambria" pitchFamily="34" charset="-122"/>
                <a:cs typeface="Cambria" pitchFamily="34" charset="-120"/>
              </a:rPr>
              <a:t>Technicians</a:t>
            </a:r>
            <a:endParaRPr lang="en-US" sz="1250" dirty="0"/>
          </a:p>
        </p:txBody>
      </p:sp>
      <p:sp>
        <p:nvSpPr>
          <p:cNvPr id="23" name="Text 16"/>
          <p:cNvSpPr txBox="1"/>
          <p:nvPr/>
        </p:nvSpPr>
        <p:spPr>
          <a:xfrm>
            <a:off x="5349240" y="4178808"/>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On Mobile, offline, hands dirty. Voice and photos, not typing.</a:t>
            </a:r>
            <a:endParaRPr lang="en-US" sz="950" dirty="0"/>
          </a:p>
        </p:txBody>
      </p:sp>
      <p:sp>
        <p:nvSpPr>
          <p:cNvPr id="24" name="Text 17"/>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Three products, one thread: service revenue</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Built for that yard. Write it faster, find more of it, collect it sooner, all from data DockMaster already holds.</a:t>
            </a:r>
            <a:endParaRPr lang="en-US" sz="1300" dirty="0"/>
          </a:p>
        </p:txBody>
      </p:sp>
      <p:sp>
        <p:nvSpPr>
          <p:cNvPr id="4" name="Shape 2"/>
          <p:cNvSpPr/>
          <p:nvPr/>
        </p:nvSpPr>
        <p:spPr>
          <a:xfrm>
            <a:off x="457200" y="1325880"/>
            <a:ext cx="2606040" cy="2697480"/>
          </a:xfrm>
          <a:prstGeom prst="roundRect">
            <a:avLst>
              <a:gd name="adj" fmla="val 2807"/>
            </a:avLst>
          </a:prstGeom>
          <a:solidFill>
            <a:srgbClr val="E3F5F3"/>
          </a:solidFill>
          <a:ln w="6350">
            <a:solidFill>
              <a:srgbClr val="E3F5F3"/>
            </a:solidFill>
            <a:prstDash val="solid"/>
          </a:ln>
        </p:spPr>
      </p:sp>
      <p:pic>
        <p:nvPicPr>
          <p:cNvPr id="5" name="Image 0" descr="preencoded.png">    </p:cNvPr>
          <p:cNvPicPr>
            <a:picLocks noChangeAspect="1"/>
          </p:cNvPicPr>
          <p:nvPr/>
        </p:nvPicPr>
        <p:blipFill>
          <a:blip r:embed="rId1"/>
          <a:stretch>
            <a:fillRect/>
          </a:stretch>
        </p:blipFill>
        <p:spPr>
          <a:xfrm>
            <a:off x="640080" y="1463040"/>
            <a:ext cx="411480" cy="411480"/>
          </a:xfrm>
          <a:prstGeom prst="rect">
            <a:avLst/>
          </a:prstGeom>
        </p:spPr>
      </p:pic>
      <p:sp>
        <p:nvSpPr>
          <p:cNvPr id="6" name="Text 3"/>
          <p:cNvSpPr txBox="1"/>
          <p:nvPr/>
        </p:nvSpPr>
        <p:spPr>
          <a:xfrm>
            <a:off x="1143000" y="1481328"/>
            <a:ext cx="1874520" cy="365760"/>
          </a:xfrm>
          <a:prstGeom prst="rect">
            <a:avLst/>
          </a:prstGeom>
          <a:noFill/>
          <a:ln/>
        </p:spPr>
        <p:txBody>
          <a:bodyPr wrap="square" lIns="0" tIns="0" rIns="0" bIns="0" rtlCol="0" anchor="ctr"/>
          <a:lstStyle/>
          <a:p>
            <a:pPr indent="0" marL="0">
              <a:buNone/>
            </a:pPr>
            <a:r>
              <a:rPr lang="en-US" sz="1350" b="1" dirty="0">
                <a:solidFill>
                  <a:srgbClr val="0B2545"/>
                </a:solidFill>
                <a:latin typeface="Cambria" pitchFamily="34" charset="0"/>
                <a:ea typeface="Cambria" pitchFamily="34" charset="-122"/>
                <a:cs typeface="Cambria" pitchFamily="34" charset="-120"/>
              </a:rPr>
              <a:t>1. Service Writer</a:t>
            </a:r>
            <a:endParaRPr lang="en-US" sz="1350" dirty="0"/>
          </a:p>
        </p:txBody>
      </p:sp>
      <p:sp>
        <p:nvSpPr>
          <p:cNvPr id="7" name="Text 4"/>
          <p:cNvSpPr txBox="1"/>
          <p:nvPr/>
        </p:nvSpPr>
        <p:spPr>
          <a:xfrm>
            <a:off x="640080" y="1965960"/>
            <a:ext cx="2286000" cy="96012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Turns a technician's voice note and photos into a draft estimate from the yard's own operation codes, labour standards and parts, then hands off to eSign and the scheduler.</a:t>
            </a:r>
            <a:endParaRPr lang="en-US" sz="1000" dirty="0"/>
          </a:p>
        </p:txBody>
      </p:sp>
      <p:sp>
        <p:nvSpPr>
          <p:cNvPr id="8" name="Text 5"/>
          <p:cNvSpPr txBox="1"/>
          <p:nvPr/>
        </p:nvSpPr>
        <p:spPr>
          <a:xfrm>
            <a:off x="640080" y="2971800"/>
            <a:ext cx="2286000" cy="10058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B2430"/>
                </a:solidFill>
                <a:latin typeface="Calibri" pitchFamily="34" charset="0"/>
                <a:ea typeface="Calibri" pitchFamily="34" charset="-122"/>
                <a:cs typeface="Calibri" pitchFamily="34" charset="-120"/>
              </a:rPr>
              <a:t>Why it works: every input exists today, nothing new to capture</a:t>
            </a:r>
            <a:endParaRPr lang="en-US" sz="950" dirty="0"/>
          </a:p>
          <a:p>
            <a:pPr marL="152400" indent="-152400">
              <a:spcAft>
                <a:spcPts val="400"/>
              </a:spcAft>
              <a:buSzPct val="100000"/>
              <a:buChar char="•"/>
            </a:pPr>
            <a:r>
              <a:rPr lang="en-US" sz="950" dirty="0">
                <a:solidFill>
                  <a:srgbClr val="1B2430"/>
                </a:solidFill>
                <a:latin typeface="Calibri" pitchFamily="34" charset="0"/>
                <a:ea typeface="Calibri" pitchFamily="34" charset="-122"/>
                <a:cs typeface="Calibri" pitchFamily="34" charset="-120"/>
              </a:rPr>
              <a:t>ROI in units the GM tracks: turnaround, approval rate, billed vs standard hours</a:t>
            </a:r>
            <a:endParaRPr lang="en-US" sz="950" dirty="0"/>
          </a:p>
        </p:txBody>
      </p:sp>
      <p:sp>
        <p:nvSpPr>
          <p:cNvPr id="9" name="Shape 6"/>
          <p:cNvSpPr/>
          <p:nvPr/>
        </p:nvSpPr>
        <p:spPr>
          <a:xfrm>
            <a:off x="3246120" y="1325880"/>
            <a:ext cx="2606040" cy="2697480"/>
          </a:xfrm>
          <a:prstGeom prst="roundRect">
            <a:avLst>
              <a:gd name="adj" fmla="val 2807"/>
            </a:avLst>
          </a:prstGeom>
          <a:solidFill>
            <a:srgbClr val="F3F6F8"/>
          </a:solidFill>
          <a:ln w="6350">
            <a:solidFill>
              <a:srgbClr val="F3F6F8"/>
            </a:solidFill>
            <a:prstDash val="solid"/>
          </a:ln>
        </p:spPr>
      </p:sp>
      <p:pic>
        <p:nvPicPr>
          <p:cNvPr id="10" name="Image 1" descr="preencoded.png">    </p:cNvPr>
          <p:cNvPicPr>
            <a:picLocks noChangeAspect="1"/>
          </p:cNvPicPr>
          <p:nvPr/>
        </p:nvPicPr>
        <p:blipFill>
          <a:blip r:embed="rId2"/>
          <a:stretch>
            <a:fillRect/>
          </a:stretch>
        </p:blipFill>
        <p:spPr>
          <a:xfrm>
            <a:off x="3429000" y="1463040"/>
            <a:ext cx="411480" cy="411480"/>
          </a:xfrm>
          <a:prstGeom prst="rect">
            <a:avLst/>
          </a:prstGeom>
        </p:spPr>
      </p:pic>
      <p:sp>
        <p:nvSpPr>
          <p:cNvPr id="11" name="Text 7"/>
          <p:cNvSpPr txBox="1"/>
          <p:nvPr/>
        </p:nvSpPr>
        <p:spPr>
          <a:xfrm>
            <a:off x="3931920" y="1481328"/>
            <a:ext cx="1874520" cy="365760"/>
          </a:xfrm>
          <a:prstGeom prst="rect">
            <a:avLst/>
          </a:prstGeom>
          <a:noFill/>
          <a:ln/>
        </p:spPr>
        <p:txBody>
          <a:bodyPr wrap="square" lIns="0" tIns="0" rIns="0" bIns="0" rtlCol="0" anchor="ctr"/>
          <a:lstStyle/>
          <a:p>
            <a:pPr indent="0" marL="0">
              <a:buNone/>
            </a:pPr>
            <a:r>
              <a:rPr lang="en-US" sz="1350" b="1" dirty="0">
                <a:solidFill>
                  <a:srgbClr val="0B2545"/>
                </a:solidFill>
                <a:latin typeface="Cambria" pitchFamily="34" charset="0"/>
                <a:ea typeface="Cambria" pitchFamily="34" charset="-122"/>
                <a:cs typeface="Cambria" pitchFamily="34" charset="-120"/>
              </a:rPr>
              <a:t>2. Proactive service demand</a:t>
            </a:r>
            <a:endParaRPr lang="en-US" sz="1350" dirty="0"/>
          </a:p>
        </p:txBody>
      </p:sp>
      <p:sp>
        <p:nvSpPr>
          <p:cNvPr id="12" name="Text 8"/>
          <p:cNvSpPr txBox="1"/>
          <p:nvPr/>
        </p:nvSpPr>
        <p:spPr>
          <a:xfrm>
            <a:off x="3429000" y="1965960"/>
            <a:ext cx="2286000" cy="96012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Predicts per-vessel maintenance from history and intervals, drafts the estimate and a short outreach message before the season starts.</a:t>
            </a:r>
            <a:endParaRPr lang="en-US" sz="1000" dirty="0"/>
          </a:p>
        </p:txBody>
      </p:sp>
      <p:sp>
        <p:nvSpPr>
          <p:cNvPr id="13" name="Text 9"/>
          <p:cNvSpPr txBox="1"/>
          <p:nvPr/>
        </p:nvSpPr>
        <p:spPr>
          <a:xfrm>
            <a:off x="3429000" y="2971800"/>
            <a:ext cx="2286000" cy="10058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B2430"/>
                </a:solidFill>
                <a:latin typeface="Calibri" pitchFamily="34" charset="0"/>
                <a:ea typeface="Calibri" pitchFamily="34" charset="-122"/>
                <a:cs typeface="Calibri" pitchFamily="34" charset="-120"/>
              </a:rPr>
              <a:t>Why it works: finds revenue the yard is already entitled to</a:t>
            </a:r>
            <a:endParaRPr lang="en-US" sz="950" dirty="0"/>
          </a:p>
          <a:p>
            <a:pPr marL="152400" indent="-152400">
              <a:spcAft>
                <a:spcPts val="400"/>
              </a:spcAft>
              <a:buSzPct val="100000"/>
              <a:buChar char="•"/>
            </a:pPr>
            <a:r>
              <a:rPr lang="en-US" sz="950" dirty="0">
                <a:solidFill>
                  <a:srgbClr val="1B2430"/>
                </a:solidFill>
                <a:latin typeface="Calibri" pitchFamily="34" charset="0"/>
                <a:ea typeface="Calibri" pitchFamily="34" charset="-122"/>
                <a:cs typeface="Calibri" pitchFamily="34" charset="-120"/>
              </a:rPr>
              <a:t>Reuses the Service Writer's drafting engine, so it ships fast</a:t>
            </a:r>
            <a:endParaRPr lang="en-US" sz="950" dirty="0"/>
          </a:p>
        </p:txBody>
      </p:sp>
      <p:sp>
        <p:nvSpPr>
          <p:cNvPr id="14" name="Shape 10"/>
          <p:cNvSpPr/>
          <p:nvPr/>
        </p:nvSpPr>
        <p:spPr>
          <a:xfrm>
            <a:off x="6035040" y="1325880"/>
            <a:ext cx="2606040" cy="2697480"/>
          </a:xfrm>
          <a:prstGeom prst="roundRect">
            <a:avLst>
              <a:gd name="adj" fmla="val 2807"/>
            </a:avLst>
          </a:prstGeom>
          <a:solidFill>
            <a:srgbClr val="F3F6F8"/>
          </a:solidFill>
          <a:ln w="6350">
            <a:solidFill>
              <a:srgbClr val="F3F6F8"/>
            </a:solidFill>
            <a:prstDash val="solid"/>
          </a:ln>
        </p:spPr>
      </p:sp>
      <p:pic>
        <p:nvPicPr>
          <p:cNvPr id="15" name="Image 2" descr="preencoded.png">    </p:cNvPr>
          <p:cNvPicPr>
            <a:picLocks noChangeAspect="1"/>
          </p:cNvPicPr>
          <p:nvPr/>
        </p:nvPicPr>
        <p:blipFill>
          <a:blip r:embed="rId3"/>
          <a:stretch>
            <a:fillRect/>
          </a:stretch>
        </p:blipFill>
        <p:spPr>
          <a:xfrm>
            <a:off x="6217920" y="1463040"/>
            <a:ext cx="411480" cy="411480"/>
          </a:xfrm>
          <a:prstGeom prst="rect">
            <a:avLst/>
          </a:prstGeom>
        </p:spPr>
      </p:pic>
      <p:sp>
        <p:nvSpPr>
          <p:cNvPr id="16" name="Text 11"/>
          <p:cNvSpPr txBox="1"/>
          <p:nvPr/>
        </p:nvSpPr>
        <p:spPr>
          <a:xfrm>
            <a:off x="6720840" y="1481328"/>
            <a:ext cx="1874520" cy="365760"/>
          </a:xfrm>
          <a:prstGeom prst="rect">
            <a:avLst/>
          </a:prstGeom>
          <a:noFill/>
          <a:ln/>
        </p:spPr>
        <p:txBody>
          <a:bodyPr wrap="square" lIns="0" tIns="0" rIns="0" bIns="0" rtlCol="0" anchor="ctr"/>
          <a:lstStyle/>
          <a:p>
            <a:pPr indent="0" marL="0">
              <a:buNone/>
            </a:pPr>
            <a:r>
              <a:rPr lang="en-US" sz="1350" b="1" dirty="0">
                <a:solidFill>
                  <a:srgbClr val="0B2545"/>
                </a:solidFill>
                <a:latin typeface="Cambria" pitchFamily="34" charset="0"/>
                <a:ea typeface="Cambria" pitchFamily="34" charset="-122"/>
                <a:cs typeface="Cambria" pitchFamily="34" charset="-120"/>
              </a:rPr>
              <a:t>3. Collections via ValPay</a:t>
            </a:r>
            <a:endParaRPr lang="en-US" sz="1350" dirty="0"/>
          </a:p>
        </p:txBody>
      </p:sp>
      <p:sp>
        <p:nvSpPr>
          <p:cNvPr id="17" name="Text 12"/>
          <p:cNvSpPr txBox="1"/>
          <p:nvPr/>
        </p:nvSpPr>
        <p:spPr>
          <a:xfrm>
            <a:off x="6217920" y="1965960"/>
            <a:ext cx="2286000" cy="96012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Prioritises overdue accounts, drafts a reminder with tone by age and a payment link, one click to send.</a:t>
            </a:r>
            <a:endParaRPr lang="en-US" sz="1000" dirty="0"/>
          </a:p>
        </p:txBody>
      </p:sp>
      <p:sp>
        <p:nvSpPr>
          <p:cNvPr id="18" name="Text 13"/>
          <p:cNvSpPr txBox="1"/>
          <p:nvPr/>
        </p:nvSpPr>
        <p:spPr>
          <a:xfrm>
            <a:off x="6217920" y="2971800"/>
            <a:ext cx="2286000" cy="10058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B2430"/>
                </a:solidFill>
                <a:latin typeface="Calibri" pitchFamily="34" charset="0"/>
                <a:ea typeface="Calibri" pitchFamily="34" charset="-122"/>
                <a:cs typeface="Calibri" pitchFamily="34" charset="-120"/>
              </a:rPr>
              <a:t>Why it works: days to cash is a top GM metric</a:t>
            </a:r>
            <a:endParaRPr lang="en-US" sz="950" dirty="0"/>
          </a:p>
          <a:p>
            <a:pPr marL="152400" indent="-152400">
              <a:spcAft>
                <a:spcPts val="400"/>
              </a:spcAft>
              <a:buSzPct val="100000"/>
              <a:buChar char="•"/>
            </a:pPr>
            <a:r>
              <a:rPr lang="en-US" sz="950" dirty="0">
                <a:solidFill>
                  <a:srgbClr val="1B2430"/>
                </a:solidFill>
                <a:latin typeface="Calibri" pitchFamily="34" charset="0"/>
                <a:ea typeface="Calibri" pitchFamily="34" charset="-122"/>
                <a:cs typeface="Calibri" pitchFamily="34" charset="-120"/>
              </a:rPr>
              <a:t>Drives ValPay attach, which subsidises the software price</a:t>
            </a:r>
            <a:endParaRPr lang="en-US" sz="950" dirty="0"/>
          </a:p>
        </p:txBody>
      </p:sp>
      <p:sp>
        <p:nvSpPr>
          <p:cNvPr id="19" name="Shape 14"/>
          <p:cNvSpPr/>
          <p:nvPr/>
        </p:nvSpPr>
        <p:spPr>
          <a:xfrm>
            <a:off x="457200" y="4160520"/>
            <a:ext cx="8229600" cy="502920"/>
          </a:xfrm>
          <a:prstGeom prst="roundRect">
            <a:avLst>
              <a:gd name="adj" fmla="val 14545"/>
            </a:avLst>
          </a:prstGeom>
          <a:solidFill>
            <a:srgbClr val="F3F6F8"/>
          </a:solidFill>
          <a:ln w="6350">
            <a:solidFill>
              <a:srgbClr val="F3F6F8"/>
            </a:solidFill>
            <a:prstDash val="solid"/>
          </a:ln>
        </p:spPr>
      </p:sp>
      <p:sp>
        <p:nvSpPr>
          <p:cNvPr id="20" name="Text 15"/>
          <p:cNvSpPr txBox="1"/>
          <p:nvPr/>
        </p:nvSpPr>
        <p:spPr>
          <a:xfrm>
            <a:off x="640080" y="4187952"/>
            <a:ext cx="7863840" cy="457200"/>
          </a:xfrm>
          <a:prstGeom prst="rect">
            <a:avLst/>
          </a:prstGeom>
          <a:noFill/>
          <a:ln/>
        </p:spPr>
        <p:txBody>
          <a:bodyPr wrap="square" lIns="0" tIns="0" rIns="0" bIns="0" rtlCol="0" anchor="ctr"/>
          <a:lstStyle/>
          <a:p>
            <a:pPr indent="0" marL="0">
              <a:buNone/>
            </a:pPr>
            <a:r>
              <a:rPr lang="en-US" sz="950" b="1" dirty="0">
                <a:solidFill>
                  <a:srgbClr val="0B2545"/>
                </a:solidFill>
                <a:latin typeface="Calibri" pitchFamily="34" charset="0"/>
                <a:ea typeface="Calibri" pitchFamily="34" charset="-122"/>
                <a:cs typeface="Calibri" pitchFamily="34" charset="-120"/>
              </a:rPr>
              <a:t>Also considered: </a:t>
            </a:r>
            <a:pPr indent="0" marL="0">
              <a:buNone/>
            </a:pPr>
            <a:r>
              <a:rPr lang="en-US" sz="950" dirty="0">
                <a:solidFill>
                  <a:srgbClr val="1B2430"/>
                </a:solidFill>
                <a:latin typeface="Calibri" pitchFamily="34" charset="0"/>
                <a:ea typeface="Calibri" pitchFamily="34" charset="-122"/>
                <a:cs typeface="Calibri" pitchFamily="34" charset="-120"/>
              </a:rPr>
              <a:t>parts demand forecasting and warranty claim assembly (good, later releases); natural-language reporting (useful, not revenue-driving); slip pricing (Dockwa's ground, thin data); boat-owner chat, voice and scheduling (already covered by Blu, the portal and the Scheduling Assistant).</a:t>
            </a:r>
            <a:endParaRPr lang="en-US" sz="95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How the Service Writer works</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Product one in detail: from a technician's voice note to an approved work order, with a human click at every send</a:t>
            </a:r>
            <a:endParaRPr lang="en-US" sz="1300" dirty="0"/>
          </a:p>
        </p:txBody>
      </p:sp>
      <p:sp>
        <p:nvSpPr>
          <p:cNvPr id="4" name="Shape 2"/>
          <p:cNvSpPr/>
          <p:nvPr/>
        </p:nvSpPr>
        <p:spPr>
          <a:xfrm>
            <a:off x="457200" y="1371600"/>
            <a:ext cx="1481328" cy="1920240"/>
          </a:xfrm>
          <a:prstGeom prst="roundRect">
            <a:avLst>
              <a:gd name="adj" fmla="val 4938"/>
            </a:avLst>
          </a:prstGeom>
          <a:solidFill>
            <a:srgbClr val="F3F6F8"/>
          </a:solidFill>
          <a:ln w="6350">
            <a:solidFill>
              <a:srgbClr val="F3F6F8"/>
            </a:solidFill>
            <a:prstDash val="solid"/>
          </a:ln>
        </p:spPr>
      </p:sp>
      <p:pic>
        <p:nvPicPr>
          <p:cNvPr id="5" name="Image 0" descr="preencoded.png">    </p:cNvPr>
          <p:cNvPicPr>
            <a:picLocks noChangeAspect="1"/>
          </p:cNvPicPr>
          <p:nvPr/>
        </p:nvPicPr>
        <p:blipFill>
          <a:blip r:embed="rId1"/>
          <a:stretch>
            <a:fillRect/>
          </a:stretch>
        </p:blipFill>
        <p:spPr>
          <a:xfrm>
            <a:off x="923544" y="1508760"/>
            <a:ext cx="548640" cy="548640"/>
          </a:xfrm>
          <a:prstGeom prst="rect">
            <a:avLst/>
          </a:prstGeom>
        </p:spPr>
      </p:pic>
      <p:sp>
        <p:nvSpPr>
          <p:cNvPr id="6" name="Text 3"/>
          <p:cNvSpPr txBox="1"/>
          <p:nvPr/>
        </p:nvSpPr>
        <p:spPr>
          <a:xfrm>
            <a:off x="512064" y="2103120"/>
            <a:ext cx="1371600" cy="274320"/>
          </a:xfrm>
          <a:prstGeom prst="rect">
            <a:avLst/>
          </a:prstGeom>
          <a:noFill/>
          <a:ln/>
        </p:spPr>
        <p:txBody>
          <a:bodyPr wrap="square" lIns="0" tIns="0" rIns="0" bIns="0" rtlCol="0" anchor="ctr"/>
          <a:lstStyle/>
          <a:p>
            <a:pPr algn="ctr" indent="0" marL="0">
              <a:buNone/>
            </a:pPr>
            <a:r>
              <a:rPr lang="en-US" sz="1300" b="1" dirty="0">
                <a:solidFill>
                  <a:srgbClr val="0B2545"/>
                </a:solidFill>
                <a:latin typeface="Cambria" pitchFamily="34" charset="0"/>
                <a:ea typeface="Cambria" pitchFamily="34" charset="-122"/>
                <a:cs typeface="Cambria" pitchFamily="34" charset="-120"/>
              </a:rPr>
              <a:t>Tech note</a:t>
            </a:r>
            <a:endParaRPr lang="en-US" sz="1300" dirty="0"/>
          </a:p>
        </p:txBody>
      </p:sp>
      <p:sp>
        <p:nvSpPr>
          <p:cNvPr id="7" name="Text 4"/>
          <p:cNvSpPr txBox="1"/>
          <p:nvPr/>
        </p:nvSpPr>
        <p:spPr>
          <a:xfrm>
            <a:off x="512064" y="2395728"/>
            <a:ext cx="1371600" cy="822960"/>
          </a:xfrm>
          <a:prstGeom prst="rect">
            <a:avLst/>
          </a:prstGeom>
          <a:noFill/>
          <a:ln/>
        </p:spPr>
        <p:txBody>
          <a:bodyPr wrap="square" lIns="0" tIns="0" rIns="0" bIns="0" rtlCol="0" anchor="t"/>
          <a:lstStyle/>
          <a:p>
            <a:pPr algn="ctr" indent="0" marL="0">
              <a:buNone/>
            </a:pPr>
            <a:r>
              <a:rPr lang="en-US" sz="950" dirty="0">
                <a:solidFill>
                  <a:srgbClr val="1B2430"/>
                </a:solidFill>
                <a:latin typeface="Calibri" pitchFamily="34" charset="0"/>
                <a:ea typeface="Calibri" pitchFamily="34" charset="-122"/>
                <a:cs typeface="Calibri" pitchFamily="34" charset="-120"/>
              </a:rPr>
              <a:t>Voice note and photos from DockMaster Mobile</a:t>
            </a:r>
            <a:endParaRPr lang="en-US" sz="950" dirty="0"/>
          </a:p>
        </p:txBody>
      </p:sp>
      <p:sp>
        <p:nvSpPr>
          <p:cNvPr id="8" name="Shape 5"/>
          <p:cNvSpPr/>
          <p:nvPr/>
        </p:nvSpPr>
        <p:spPr>
          <a:xfrm>
            <a:off x="1975104" y="2212848"/>
            <a:ext cx="137160" cy="219456"/>
          </a:xfrm>
          <a:prstGeom prst="chevron">
            <a:avLst/>
          </a:prstGeom>
          <a:solidFill>
            <a:srgbClr val="13A89E"/>
          </a:solidFill>
          <a:ln w="12700">
            <a:solidFill>
              <a:srgbClr val="13A89E"/>
            </a:solidFill>
            <a:prstDash val="solid"/>
          </a:ln>
        </p:spPr>
      </p:sp>
      <p:sp>
        <p:nvSpPr>
          <p:cNvPr id="9" name="Shape 6"/>
          <p:cNvSpPr/>
          <p:nvPr/>
        </p:nvSpPr>
        <p:spPr>
          <a:xfrm>
            <a:off x="2148840" y="1371600"/>
            <a:ext cx="1481328" cy="1920240"/>
          </a:xfrm>
          <a:prstGeom prst="roundRect">
            <a:avLst>
              <a:gd name="adj" fmla="val 4938"/>
            </a:avLst>
          </a:prstGeom>
          <a:solidFill>
            <a:srgbClr val="F3F6F8"/>
          </a:solidFill>
          <a:ln w="6350">
            <a:solidFill>
              <a:srgbClr val="F3F6F8"/>
            </a:solidFill>
            <a:prstDash val="solid"/>
          </a:ln>
        </p:spPr>
      </p:sp>
      <p:pic>
        <p:nvPicPr>
          <p:cNvPr id="10" name="Image 1" descr="preencoded.png">    </p:cNvPr>
          <p:cNvPicPr>
            <a:picLocks noChangeAspect="1"/>
          </p:cNvPicPr>
          <p:nvPr/>
        </p:nvPicPr>
        <p:blipFill>
          <a:blip r:embed="rId2"/>
          <a:stretch>
            <a:fillRect/>
          </a:stretch>
        </p:blipFill>
        <p:spPr>
          <a:xfrm>
            <a:off x="2615184" y="1508760"/>
            <a:ext cx="548640" cy="548640"/>
          </a:xfrm>
          <a:prstGeom prst="rect">
            <a:avLst/>
          </a:prstGeom>
        </p:spPr>
      </p:pic>
      <p:sp>
        <p:nvSpPr>
          <p:cNvPr id="11" name="Text 7"/>
          <p:cNvSpPr txBox="1"/>
          <p:nvPr/>
        </p:nvSpPr>
        <p:spPr>
          <a:xfrm>
            <a:off x="2203704" y="2103120"/>
            <a:ext cx="1371600" cy="274320"/>
          </a:xfrm>
          <a:prstGeom prst="rect">
            <a:avLst/>
          </a:prstGeom>
          <a:noFill/>
          <a:ln/>
        </p:spPr>
        <p:txBody>
          <a:bodyPr wrap="square" lIns="0" tIns="0" rIns="0" bIns="0" rtlCol="0" anchor="ctr"/>
          <a:lstStyle/>
          <a:p>
            <a:pPr algn="ctr" indent="0" marL="0">
              <a:buNone/>
            </a:pPr>
            <a:r>
              <a:rPr lang="en-US" sz="1300" b="1" dirty="0">
                <a:solidFill>
                  <a:srgbClr val="0B2545"/>
                </a:solidFill>
                <a:latin typeface="Cambria" pitchFamily="34" charset="0"/>
                <a:ea typeface="Cambria" pitchFamily="34" charset="-122"/>
                <a:cs typeface="Cambria" pitchFamily="34" charset="-120"/>
              </a:rPr>
              <a:t>Draft</a:t>
            </a:r>
            <a:endParaRPr lang="en-US" sz="1300" dirty="0"/>
          </a:p>
        </p:txBody>
      </p:sp>
      <p:sp>
        <p:nvSpPr>
          <p:cNvPr id="12" name="Text 8"/>
          <p:cNvSpPr txBox="1"/>
          <p:nvPr/>
        </p:nvSpPr>
        <p:spPr>
          <a:xfrm>
            <a:off x="2203704" y="2395728"/>
            <a:ext cx="1371600" cy="822960"/>
          </a:xfrm>
          <a:prstGeom prst="rect">
            <a:avLst/>
          </a:prstGeom>
          <a:noFill/>
          <a:ln/>
        </p:spPr>
        <p:txBody>
          <a:bodyPr wrap="square" lIns="0" tIns="0" rIns="0" bIns="0" rtlCol="0" anchor="t"/>
          <a:lstStyle/>
          <a:p>
            <a:pPr algn="ctr" indent="0" marL="0">
              <a:buNone/>
            </a:pPr>
            <a:r>
              <a:rPr lang="en-US" sz="950" dirty="0">
                <a:solidFill>
                  <a:srgbClr val="1B2430"/>
                </a:solidFill>
                <a:latin typeface="Calibri" pitchFamily="34" charset="0"/>
                <a:ea typeface="Calibri" pitchFamily="34" charset="-122"/>
                <a:cs typeface="Calibri" pitchFamily="34" charset="-120"/>
              </a:rPr>
              <a:t>Matches the vessel, picks operation codes, pulls the parts kit, flags history</a:t>
            </a:r>
            <a:endParaRPr lang="en-US" sz="950" dirty="0"/>
          </a:p>
        </p:txBody>
      </p:sp>
      <p:sp>
        <p:nvSpPr>
          <p:cNvPr id="13" name="Shape 9"/>
          <p:cNvSpPr/>
          <p:nvPr/>
        </p:nvSpPr>
        <p:spPr>
          <a:xfrm>
            <a:off x="3666744" y="2212848"/>
            <a:ext cx="137160" cy="219456"/>
          </a:xfrm>
          <a:prstGeom prst="chevron">
            <a:avLst/>
          </a:prstGeom>
          <a:solidFill>
            <a:srgbClr val="13A89E"/>
          </a:solidFill>
          <a:ln w="12700">
            <a:solidFill>
              <a:srgbClr val="13A89E"/>
            </a:solidFill>
            <a:prstDash val="solid"/>
          </a:ln>
        </p:spPr>
      </p:sp>
      <p:sp>
        <p:nvSpPr>
          <p:cNvPr id="14" name="Shape 10"/>
          <p:cNvSpPr/>
          <p:nvPr/>
        </p:nvSpPr>
        <p:spPr>
          <a:xfrm>
            <a:off x="3840480" y="1371600"/>
            <a:ext cx="1481328" cy="1920240"/>
          </a:xfrm>
          <a:prstGeom prst="roundRect">
            <a:avLst>
              <a:gd name="adj" fmla="val 4938"/>
            </a:avLst>
          </a:prstGeom>
          <a:solidFill>
            <a:srgbClr val="F3F6F8"/>
          </a:solidFill>
          <a:ln w="6350">
            <a:solidFill>
              <a:srgbClr val="F3F6F8"/>
            </a:solidFill>
            <a:prstDash val="solid"/>
          </a:ln>
        </p:spPr>
      </p:sp>
      <p:pic>
        <p:nvPicPr>
          <p:cNvPr id="15" name="Image 2" descr="preencoded.png">    </p:cNvPr>
          <p:cNvPicPr>
            <a:picLocks noChangeAspect="1"/>
          </p:cNvPicPr>
          <p:nvPr/>
        </p:nvPicPr>
        <p:blipFill>
          <a:blip r:embed="rId3"/>
          <a:stretch>
            <a:fillRect/>
          </a:stretch>
        </p:blipFill>
        <p:spPr>
          <a:xfrm>
            <a:off x="4306824" y="1508760"/>
            <a:ext cx="548640" cy="548640"/>
          </a:xfrm>
          <a:prstGeom prst="rect">
            <a:avLst/>
          </a:prstGeom>
        </p:spPr>
      </p:pic>
      <p:sp>
        <p:nvSpPr>
          <p:cNvPr id="16" name="Text 11"/>
          <p:cNvSpPr txBox="1"/>
          <p:nvPr/>
        </p:nvSpPr>
        <p:spPr>
          <a:xfrm>
            <a:off x="3895344" y="2103120"/>
            <a:ext cx="1371600" cy="274320"/>
          </a:xfrm>
          <a:prstGeom prst="rect">
            <a:avLst/>
          </a:prstGeom>
          <a:noFill/>
          <a:ln/>
        </p:spPr>
        <p:txBody>
          <a:bodyPr wrap="square" lIns="0" tIns="0" rIns="0" bIns="0" rtlCol="0" anchor="ctr"/>
          <a:lstStyle/>
          <a:p>
            <a:pPr algn="ctr" indent="0" marL="0">
              <a:buNone/>
            </a:pPr>
            <a:r>
              <a:rPr lang="en-US" sz="1300" b="1" dirty="0">
                <a:solidFill>
                  <a:srgbClr val="0B2545"/>
                </a:solidFill>
                <a:latin typeface="Cambria" pitchFamily="34" charset="0"/>
                <a:ea typeface="Cambria" pitchFamily="34" charset="-122"/>
                <a:cs typeface="Cambria" pitchFamily="34" charset="-120"/>
              </a:rPr>
              <a:t>Review</a:t>
            </a:r>
            <a:endParaRPr lang="en-US" sz="1300" dirty="0"/>
          </a:p>
        </p:txBody>
      </p:sp>
      <p:sp>
        <p:nvSpPr>
          <p:cNvPr id="17" name="Text 12"/>
          <p:cNvSpPr txBox="1"/>
          <p:nvPr/>
        </p:nvSpPr>
        <p:spPr>
          <a:xfrm>
            <a:off x="3895344" y="2395728"/>
            <a:ext cx="1371600" cy="822960"/>
          </a:xfrm>
          <a:prstGeom prst="rect">
            <a:avLst/>
          </a:prstGeom>
          <a:noFill/>
          <a:ln/>
        </p:spPr>
        <p:txBody>
          <a:bodyPr wrap="square" lIns="0" tIns="0" rIns="0" bIns="0" rtlCol="0" anchor="t"/>
          <a:lstStyle/>
          <a:p>
            <a:pPr algn="ctr" indent="0" marL="0">
              <a:buNone/>
            </a:pPr>
            <a:r>
              <a:rPr lang="en-US" sz="950" dirty="0">
                <a:solidFill>
                  <a:srgbClr val="1B2430"/>
                </a:solidFill>
                <a:latin typeface="Calibri" pitchFamily="34" charset="0"/>
                <a:ea typeface="Calibri" pitchFamily="34" charset="-122"/>
                <a:cs typeface="Calibri" pitchFamily="34" charset="-120"/>
              </a:rPr>
              <a:t>Service manager edits and approves. Confidence on every line</a:t>
            </a:r>
            <a:endParaRPr lang="en-US" sz="950" dirty="0"/>
          </a:p>
        </p:txBody>
      </p:sp>
      <p:sp>
        <p:nvSpPr>
          <p:cNvPr id="18" name="Shape 13"/>
          <p:cNvSpPr/>
          <p:nvPr/>
        </p:nvSpPr>
        <p:spPr>
          <a:xfrm>
            <a:off x="5358384" y="2212848"/>
            <a:ext cx="137160" cy="219456"/>
          </a:xfrm>
          <a:prstGeom prst="chevron">
            <a:avLst/>
          </a:prstGeom>
          <a:solidFill>
            <a:srgbClr val="13A89E"/>
          </a:solidFill>
          <a:ln w="12700">
            <a:solidFill>
              <a:srgbClr val="13A89E"/>
            </a:solidFill>
            <a:prstDash val="solid"/>
          </a:ln>
        </p:spPr>
      </p:sp>
      <p:sp>
        <p:nvSpPr>
          <p:cNvPr id="19" name="Shape 14"/>
          <p:cNvSpPr/>
          <p:nvPr/>
        </p:nvSpPr>
        <p:spPr>
          <a:xfrm>
            <a:off x="5532120" y="1371600"/>
            <a:ext cx="1481328" cy="1920240"/>
          </a:xfrm>
          <a:prstGeom prst="roundRect">
            <a:avLst>
              <a:gd name="adj" fmla="val 4938"/>
            </a:avLst>
          </a:prstGeom>
          <a:solidFill>
            <a:srgbClr val="F3F6F8"/>
          </a:solidFill>
          <a:ln w="6350">
            <a:solidFill>
              <a:srgbClr val="F3F6F8"/>
            </a:solidFill>
            <a:prstDash val="solid"/>
          </a:ln>
        </p:spPr>
      </p:sp>
      <p:pic>
        <p:nvPicPr>
          <p:cNvPr id="20" name="Image 3" descr="preencoded.png">    </p:cNvPr>
          <p:cNvPicPr>
            <a:picLocks noChangeAspect="1"/>
          </p:cNvPicPr>
          <p:nvPr/>
        </p:nvPicPr>
        <p:blipFill>
          <a:blip r:embed="rId4"/>
          <a:stretch>
            <a:fillRect/>
          </a:stretch>
        </p:blipFill>
        <p:spPr>
          <a:xfrm>
            <a:off x="5998464" y="1508760"/>
            <a:ext cx="548640" cy="548640"/>
          </a:xfrm>
          <a:prstGeom prst="rect">
            <a:avLst/>
          </a:prstGeom>
        </p:spPr>
      </p:pic>
      <p:sp>
        <p:nvSpPr>
          <p:cNvPr id="21" name="Text 15"/>
          <p:cNvSpPr txBox="1"/>
          <p:nvPr/>
        </p:nvSpPr>
        <p:spPr>
          <a:xfrm>
            <a:off x="5586984" y="2103120"/>
            <a:ext cx="1371600" cy="274320"/>
          </a:xfrm>
          <a:prstGeom prst="rect">
            <a:avLst/>
          </a:prstGeom>
          <a:noFill/>
          <a:ln/>
        </p:spPr>
        <p:txBody>
          <a:bodyPr wrap="square" lIns="0" tIns="0" rIns="0" bIns="0" rtlCol="0" anchor="ctr"/>
          <a:lstStyle/>
          <a:p>
            <a:pPr algn="ctr" indent="0" marL="0">
              <a:buNone/>
            </a:pPr>
            <a:r>
              <a:rPr lang="en-US" sz="1300" b="1" dirty="0">
                <a:solidFill>
                  <a:srgbClr val="0B2545"/>
                </a:solidFill>
                <a:latin typeface="Cambria" pitchFamily="34" charset="0"/>
                <a:ea typeface="Cambria" pitchFamily="34" charset="-122"/>
                <a:cs typeface="Cambria" pitchFamily="34" charset="-120"/>
              </a:rPr>
              <a:t>eSign</a:t>
            </a:r>
            <a:endParaRPr lang="en-US" sz="1300" dirty="0"/>
          </a:p>
        </p:txBody>
      </p:sp>
      <p:sp>
        <p:nvSpPr>
          <p:cNvPr id="22" name="Text 16"/>
          <p:cNvSpPr txBox="1"/>
          <p:nvPr/>
        </p:nvSpPr>
        <p:spPr>
          <a:xfrm>
            <a:off x="5586984" y="2395728"/>
            <a:ext cx="1371600" cy="822960"/>
          </a:xfrm>
          <a:prstGeom prst="rect">
            <a:avLst/>
          </a:prstGeom>
          <a:noFill/>
          <a:ln/>
        </p:spPr>
        <p:txBody>
          <a:bodyPr wrap="square" lIns="0" tIns="0" rIns="0" bIns="0" rtlCol="0" anchor="t"/>
          <a:lstStyle/>
          <a:p>
            <a:pPr algn="ctr" indent="0" marL="0">
              <a:buNone/>
            </a:pPr>
            <a:r>
              <a:rPr lang="en-US" sz="950" dirty="0">
                <a:solidFill>
                  <a:srgbClr val="1B2430"/>
                </a:solidFill>
                <a:latin typeface="Calibri" pitchFamily="34" charset="0"/>
                <a:ea typeface="Calibri" pitchFamily="34" charset="-122"/>
                <a:cs typeface="Calibri" pitchFamily="34" charset="-120"/>
              </a:rPr>
              <a:t>Owner approves in the portal; estimate becomes a work order</a:t>
            </a:r>
            <a:endParaRPr lang="en-US" sz="950" dirty="0"/>
          </a:p>
        </p:txBody>
      </p:sp>
      <p:sp>
        <p:nvSpPr>
          <p:cNvPr id="23" name="Shape 17"/>
          <p:cNvSpPr/>
          <p:nvPr/>
        </p:nvSpPr>
        <p:spPr>
          <a:xfrm>
            <a:off x="7050024" y="2212848"/>
            <a:ext cx="137160" cy="219456"/>
          </a:xfrm>
          <a:prstGeom prst="chevron">
            <a:avLst/>
          </a:prstGeom>
          <a:solidFill>
            <a:srgbClr val="13A89E"/>
          </a:solidFill>
          <a:ln w="12700">
            <a:solidFill>
              <a:srgbClr val="13A89E"/>
            </a:solidFill>
            <a:prstDash val="solid"/>
          </a:ln>
        </p:spPr>
      </p:sp>
      <p:sp>
        <p:nvSpPr>
          <p:cNvPr id="24" name="Shape 18"/>
          <p:cNvSpPr/>
          <p:nvPr/>
        </p:nvSpPr>
        <p:spPr>
          <a:xfrm>
            <a:off x="7223760" y="1371600"/>
            <a:ext cx="1481328" cy="1920240"/>
          </a:xfrm>
          <a:prstGeom prst="roundRect">
            <a:avLst>
              <a:gd name="adj" fmla="val 4938"/>
            </a:avLst>
          </a:prstGeom>
          <a:solidFill>
            <a:srgbClr val="F3F6F8"/>
          </a:solidFill>
          <a:ln w="6350">
            <a:solidFill>
              <a:srgbClr val="F3F6F8"/>
            </a:solidFill>
            <a:prstDash val="solid"/>
          </a:ln>
        </p:spPr>
      </p:sp>
      <p:pic>
        <p:nvPicPr>
          <p:cNvPr id="25" name="Image 4" descr="preencoded.png">    </p:cNvPr>
          <p:cNvPicPr>
            <a:picLocks noChangeAspect="1"/>
          </p:cNvPicPr>
          <p:nvPr/>
        </p:nvPicPr>
        <p:blipFill>
          <a:blip r:embed="rId5"/>
          <a:stretch>
            <a:fillRect/>
          </a:stretch>
        </p:blipFill>
        <p:spPr>
          <a:xfrm>
            <a:off x="7690104" y="1508760"/>
            <a:ext cx="548640" cy="548640"/>
          </a:xfrm>
          <a:prstGeom prst="rect">
            <a:avLst/>
          </a:prstGeom>
        </p:spPr>
      </p:pic>
      <p:sp>
        <p:nvSpPr>
          <p:cNvPr id="26" name="Text 19"/>
          <p:cNvSpPr txBox="1"/>
          <p:nvPr/>
        </p:nvSpPr>
        <p:spPr>
          <a:xfrm>
            <a:off x="7278624" y="2103120"/>
            <a:ext cx="1371600" cy="274320"/>
          </a:xfrm>
          <a:prstGeom prst="rect">
            <a:avLst/>
          </a:prstGeom>
          <a:noFill/>
          <a:ln/>
        </p:spPr>
        <p:txBody>
          <a:bodyPr wrap="square" lIns="0" tIns="0" rIns="0" bIns="0" rtlCol="0" anchor="ctr"/>
          <a:lstStyle/>
          <a:p>
            <a:pPr algn="ctr" indent="0" marL="0">
              <a:buNone/>
            </a:pPr>
            <a:r>
              <a:rPr lang="en-US" sz="1300" b="1" dirty="0">
                <a:solidFill>
                  <a:srgbClr val="0B2545"/>
                </a:solidFill>
                <a:latin typeface="Cambria" pitchFamily="34" charset="0"/>
                <a:ea typeface="Cambria" pitchFamily="34" charset="-122"/>
                <a:cs typeface="Cambria" pitchFamily="34" charset="-120"/>
              </a:rPr>
              <a:t>Schedule</a:t>
            </a:r>
            <a:endParaRPr lang="en-US" sz="1300" dirty="0"/>
          </a:p>
        </p:txBody>
      </p:sp>
      <p:sp>
        <p:nvSpPr>
          <p:cNvPr id="27" name="Text 20"/>
          <p:cNvSpPr txBox="1"/>
          <p:nvPr/>
        </p:nvSpPr>
        <p:spPr>
          <a:xfrm>
            <a:off x="7278624" y="2395728"/>
            <a:ext cx="1371600" cy="822960"/>
          </a:xfrm>
          <a:prstGeom prst="rect">
            <a:avLst/>
          </a:prstGeom>
          <a:noFill/>
          <a:ln/>
        </p:spPr>
        <p:txBody>
          <a:bodyPr wrap="square" lIns="0" tIns="0" rIns="0" bIns="0" rtlCol="0" anchor="t"/>
          <a:lstStyle/>
          <a:p>
            <a:pPr algn="ctr" indent="0" marL="0">
              <a:buNone/>
            </a:pPr>
            <a:r>
              <a:rPr lang="en-US" sz="950" dirty="0">
                <a:solidFill>
                  <a:srgbClr val="1B2430"/>
                </a:solidFill>
                <a:latin typeface="Calibri" pitchFamily="34" charset="0"/>
                <a:ea typeface="Calibri" pitchFamily="34" charset="-122"/>
                <a:cs typeface="Calibri" pitchFamily="34" charset="-120"/>
              </a:rPr>
              <a:t>Hands off to the AI Scheduling Assistant and to Blu</a:t>
            </a:r>
            <a:endParaRPr lang="en-US" sz="950" dirty="0"/>
          </a:p>
        </p:txBody>
      </p:sp>
      <p:sp>
        <p:nvSpPr>
          <p:cNvPr id="28" name="Shape 21"/>
          <p:cNvSpPr/>
          <p:nvPr/>
        </p:nvSpPr>
        <p:spPr>
          <a:xfrm>
            <a:off x="457200" y="3520440"/>
            <a:ext cx="2606040" cy="1097280"/>
          </a:xfrm>
          <a:prstGeom prst="roundRect">
            <a:avLst>
              <a:gd name="adj" fmla="val 6667"/>
            </a:avLst>
          </a:prstGeom>
          <a:solidFill>
            <a:srgbClr val="E3F5F3"/>
          </a:solidFill>
          <a:ln w="6350">
            <a:solidFill>
              <a:srgbClr val="E3F5F3"/>
            </a:solidFill>
            <a:prstDash val="solid"/>
          </a:ln>
        </p:spPr>
      </p:sp>
      <p:pic>
        <p:nvPicPr>
          <p:cNvPr id="29" name="Image 5" descr="preencoded.png">    </p:cNvPr>
          <p:cNvPicPr>
            <a:picLocks noChangeAspect="1"/>
          </p:cNvPicPr>
          <p:nvPr/>
        </p:nvPicPr>
        <p:blipFill>
          <a:blip r:embed="rId6"/>
          <a:stretch>
            <a:fillRect/>
          </a:stretch>
        </p:blipFill>
        <p:spPr>
          <a:xfrm>
            <a:off x="594360" y="3657600"/>
            <a:ext cx="365760" cy="365760"/>
          </a:xfrm>
          <a:prstGeom prst="rect">
            <a:avLst/>
          </a:prstGeom>
        </p:spPr>
      </p:pic>
      <p:sp>
        <p:nvSpPr>
          <p:cNvPr id="30" name="Text 22"/>
          <p:cNvSpPr txBox="1"/>
          <p:nvPr/>
        </p:nvSpPr>
        <p:spPr>
          <a:xfrm>
            <a:off x="1051560" y="3611880"/>
            <a:ext cx="1920240" cy="274320"/>
          </a:xfrm>
          <a:prstGeom prst="rect">
            <a:avLst/>
          </a:prstGeom>
          <a:noFill/>
          <a:ln/>
        </p:spPr>
        <p:txBody>
          <a:bodyPr wrap="square" lIns="0" tIns="0" rIns="0" bIns="0" rtlCol="0" anchor="ctr"/>
          <a:lstStyle/>
          <a:p>
            <a:pPr indent="0" marL="0">
              <a:buNone/>
            </a:pPr>
            <a:r>
              <a:rPr lang="en-US" sz="1150" b="1" dirty="0">
                <a:solidFill>
                  <a:srgbClr val="0B2545"/>
                </a:solidFill>
                <a:latin typeface="Cambria" pitchFamily="34" charset="0"/>
                <a:ea typeface="Cambria" pitchFamily="34" charset="-122"/>
                <a:cs typeface="Cambria" pitchFamily="34" charset="-120"/>
              </a:rPr>
              <a:t>Selects, never invents</a:t>
            </a:r>
            <a:endParaRPr lang="en-US" sz="1150" dirty="0"/>
          </a:p>
        </p:txBody>
      </p:sp>
      <p:sp>
        <p:nvSpPr>
          <p:cNvPr id="31" name="Text 23"/>
          <p:cNvSpPr txBox="1"/>
          <p:nvPr/>
        </p:nvSpPr>
        <p:spPr>
          <a:xfrm>
            <a:off x="594360" y="4041648"/>
            <a:ext cx="2331720"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Operation codes, parts, prices and vessels come from the database. The model picks and explains.</a:t>
            </a:r>
            <a:endParaRPr lang="en-US" sz="900" dirty="0"/>
          </a:p>
        </p:txBody>
      </p:sp>
      <p:sp>
        <p:nvSpPr>
          <p:cNvPr id="32" name="Shape 24"/>
          <p:cNvSpPr/>
          <p:nvPr/>
        </p:nvSpPr>
        <p:spPr>
          <a:xfrm>
            <a:off x="3246120" y="3520440"/>
            <a:ext cx="2606040" cy="1097280"/>
          </a:xfrm>
          <a:prstGeom prst="roundRect">
            <a:avLst>
              <a:gd name="adj" fmla="val 6667"/>
            </a:avLst>
          </a:prstGeom>
          <a:solidFill>
            <a:srgbClr val="E3F5F3"/>
          </a:solidFill>
          <a:ln w="6350">
            <a:solidFill>
              <a:srgbClr val="E3F5F3"/>
            </a:solidFill>
            <a:prstDash val="solid"/>
          </a:ln>
        </p:spPr>
      </p:sp>
      <p:pic>
        <p:nvPicPr>
          <p:cNvPr id="33" name="Image 6" descr="preencoded.png">    </p:cNvPr>
          <p:cNvPicPr>
            <a:picLocks noChangeAspect="1"/>
          </p:cNvPicPr>
          <p:nvPr/>
        </p:nvPicPr>
        <p:blipFill>
          <a:blip r:embed="rId7"/>
          <a:stretch>
            <a:fillRect/>
          </a:stretch>
        </p:blipFill>
        <p:spPr>
          <a:xfrm>
            <a:off x="3383280" y="3657600"/>
            <a:ext cx="365760" cy="365760"/>
          </a:xfrm>
          <a:prstGeom prst="rect">
            <a:avLst/>
          </a:prstGeom>
        </p:spPr>
      </p:pic>
      <p:sp>
        <p:nvSpPr>
          <p:cNvPr id="34" name="Text 25"/>
          <p:cNvSpPr txBox="1"/>
          <p:nvPr/>
        </p:nvSpPr>
        <p:spPr>
          <a:xfrm>
            <a:off x="3840480" y="3611880"/>
            <a:ext cx="1920240" cy="274320"/>
          </a:xfrm>
          <a:prstGeom prst="rect">
            <a:avLst/>
          </a:prstGeom>
          <a:noFill/>
          <a:ln/>
        </p:spPr>
        <p:txBody>
          <a:bodyPr wrap="square" lIns="0" tIns="0" rIns="0" bIns="0" rtlCol="0" anchor="ctr"/>
          <a:lstStyle/>
          <a:p>
            <a:pPr indent="0" marL="0">
              <a:buNone/>
            </a:pPr>
            <a:r>
              <a:rPr lang="en-US" sz="1150" b="1" dirty="0">
                <a:solidFill>
                  <a:srgbClr val="0B2545"/>
                </a:solidFill>
                <a:latin typeface="Cambria" pitchFamily="34" charset="0"/>
                <a:ea typeface="Cambria" pitchFamily="34" charset="-122"/>
                <a:cs typeface="Cambria" pitchFamily="34" charset="-120"/>
              </a:rPr>
              <a:t>Human at every send</a:t>
            </a:r>
            <a:endParaRPr lang="en-US" sz="1150" dirty="0"/>
          </a:p>
        </p:txBody>
      </p:sp>
      <p:sp>
        <p:nvSpPr>
          <p:cNvPr id="35" name="Text 26"/>
          <p:cNvSpPr txBox="1"/>
          <p:nvPr/>
        </p:nvSpPr>
        <p:spPr>
          <a:xfrm>
            <a:off x="3383280" y="4041648"/>
            <a:ext cx="2331720"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Confidence per line; low-confidence lines excluded by default; no message leaves without a staff click.</a:t>
            </a:r>
            <a:endParaRPr lang="en-US" sz="900" dirty="0"/>
          </a:p>
        </p:txBody>
      </p:sp>
      <p:sp>
        <p:nvSpPr>
          <p:cNvPr id="36" name="Shape 27"/>
          <p:cNvSpPr/>
          <p:nvPr/>
        </p:nvSpPr>
        <p:spPr>
          <a:xfrm>
            <a:off x="6035040" y="3520440"/>
            <a:ext cx="2606040" cy="1097280"/>
          </a:xfrm>
          <a:prstGeom prst="roundRect">
            <a:avLst>
              <a:gd name="adj" fmla="val 6667"/>
            </a:avLst>
          </a:prstGeom>
          <a:solidFill>
            <a:srgbClr val="E3F5F3"/>
          </a:solidFill>
          <a:ln w="6350">
            <a:solidFill>
              <a:srgbClr val="E3F5F3"/>
            </a:solidFill>
            <a:prstDash val="solid"/>
          </a:ln>
        </p:spPr>
      </p:sp>
      <p:pic>
        <p:nvPicPr>
          <p:cNvPr id="37" name="Image 7" descr="preencoded.png">    </p:cNvPr>
          <p:cNvPicPr>
            <a:picLocks noChangeAspect="1"/>
          </p:cNvPicPr>
          <p:nvPr/>
        </p:nvPicPr>
        <p:blipFill>
          <a:blip r:embed="rId8"/>
          <a:stretch>
            <a:fillRect/>
          </a:stretch>
        </p:blipFill>
        <p:spPr>
          <a:xfrm>
            <a:off x="6172200" y="3657600"/>
            <a:ext cx="365760" cy="365760"/>
          </a:xfrm>
          <a:prstGeom prst="rect">
            <a:avLst/>
          </a:prstGeom>
        </p:spPr>
      </p:pic>
      <p:sp>
        <p:nvSpPr>
          <p:cNvPr id="38" name="Text 28"/>
          <p:cNvSpPr txBox="1"/>
          <p:nvPr/>
        </p:nvSpPr>
        <p:spPr>
          <a:xfrm>
            <a:off x="6629400" y="3611880"/>
            <a:ext cx="1920240" cy="274320"/>
          </a:xfrm>
          <a:prstGeom prst="rect">
            <a:avLst/>
          </a:prstGeom>
          <a:noFill/>
          <a:ln/>
        </p:spPr>
        <p:txBody>
          <a:bodyPr wrap="square" lIns="0" tIns="0" rIns="0" bIns="0" rtlCol="0" anchor="ctr"/>
          <a:lstStyle/>
          <a:p>
            <a:pPr indent="0" marL="0">
              <a:buNone/>
            </a:pPr>
            <a:r>
              <a:rPr lang="en-US" sz="1150" b="1" dirty="0">
                <a:solidFill>
                  <a:srgbClr val="0B2545"/>
                </a:solidFill>
                <a:latin typeface="Cambria" pitchFamily="34" charset="0"/>
                <a:ea typeface="Cambria" pitchFamily="34" charset="-122"/>
                <a:cs typeface="Cambria" pitchFamily="34" charset="-120"/>
              </a:rPr>
              <a:t>Scoped and audited</a:t>
            </a:r>
            <a:endParaRPr lang="en-US" sz="1150" dirty="0"/>
          </a:p>
        </p:txBody>
      </p:sp>
      <p:sp>
        <p:nvSpPr>
          <p:cNvPr id="39" name="Text 29"/>
          <p:cNvSpPr txBox="1"/>
          <p:nvPr/>
        </p:nvSpPr>
        <p:spPr>
          <a:xfrm>
            <a:off x="6172200" y="4041648"/>
            <a:ext cx="2331720"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Allowed codes per role, manager approval above a threshold, full activity log, mirroring Blu's controls.</a:t>
            </a:r>
            <a:endParaRPr lang="en-US" sz="900" dirty="0"/>
          </a:p>
        </p:txBody>
      </p:sp>
      <p:sp>
        <p:nvSpPr>
          <p:cNvPr id="40" name="Text 3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Why this is the right bet for DockMaster and Valsoft</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Beyond the customer ROI: what the business gets</a:t>
            </a:r>
            <a:endParaRPr lang="en-US" sz="1300" dirty="0"/>
          </a:p>
        </p:txBody>
      </p:sp>
      <p:pic>
        <p:nvPicPr>
          <p:cNvPr id="4" name="Image 0" descr="preencoded.png">    </p:cNvPr>
          <p:cNvPicPr>
            <a:picLocks noChangeAspect="1"/>
          </p:cNvPicPr>
          <p:nvPr/>
        </p:nvPicPr>
        <p:blipFill>
          <a:blip r:embed="rId1"/>
          <a:stretch>
            <a:fillRect/>
          </a:stretch>
        </p:blipFill>
        <p:spPr>
          <a:xfrm>
            <a:off x="457200" y="1399032"/>
            <a:ext cx="457200" cy="457200"/>
          </a:xfrm>
          <a:prstGeom prst="rect">
            <a:avLst/>
          </a:prstGeom>
        </p:spPr>
      </p:pic>
      <p:sp>
        <p:nvSpPr>
          <p:cNvPr id="5" name="Text 2"/>
          <p:cNvSpPr txBox="1"/>
          <p:nvPr/>
        </p:nvSpPr>
        <p:spPr>
          <a:xfrm>
            <a:off x="1051560" y="1325880"/>
            <a:ext cx="2377440" cy="5943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Built on the moat</a:t>
            </a:r>
            <a:endParaRPr lang="en-US" sz="1400" dirty="0"/>
          </a:p>
        </p:txBody>
      </p:sp>
      <p:sp>
        <p:nvSpPr>
          <p:cNvPr id="6" name="Text 3"/>
          <p:cNvSpPr txBox="1"/>
          <p:nvPr/>
        </p:nvSpPr>
        <p:spPr>
          <a:xfrm>
            <a:off x="3474720" y="1325880"/>
            <a:ext cx="5212080" cy="594360"/>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Competitors can copy a chatbot. They cannot copy decades of operation codes, labour standards and vessel histories.</a:t>
            </a:r>
            <a:endParaRPr lang="en-US" sz="1100" dirty="0"/>
          </a:p>
        </p:txBody>
      </p:sp>
      <p:sp>
        <p:nvSpPr>
          <p:cNvPr id="7" name="Shape 4"/>
          <p:cNvSpPr/>
          <p:nvPr/>
        </p:nvSpPr>
        <p:spPr>
          <a:xfrm>
            <a:off x="457200" y="1965960"/>
            <a:ext cx="8229600" cy="0"/>
          </a:xfrm>
          <a:prstGeom prst="line">
            <a:avLst/>
          </a:prstGeom>
          <a:noFill/>
          <a:ln w="9525">
            <a:solidFill>
              <a:srgbClr val="E1E7EC"/>
            </a:solidFill>
            <a:prstDash val="solid"/>
          </a:ln>
        </p:spPr>
      </p:sp>
      <p:pic>
        <p:nvPicPr>
          <p:cNvPr id="8" name="Image 1" descr="preencoded.png">    </p:cNvPr>
          <p:cNvPicPr>
            <a:picLocks noChangeAspect="1"/>
          </p:cNvPicPr>
          <p:nvPr/>
        </p:nvPicPr>
        <p:blipFill>
          <a:blip r:embed="rId2"/>
          <a:stretch>
            <a:fillRect/>
          </a:stretch>
        </p:blipFill>
        <p:spPr>
          <a:xfrm>
            <a:off x="457200" y="2075688"/>
            <a:ext cx="457200" cy="457200"/>
          </a:xfrm>
          <a:prstGeom prst="rect">
            <a:avLst/>
          </a:prstGeom>
        </p:spPr>
      </p:pic>
      <p:sp>
        <p:nvSpPr>
          <p:cNvPr id="9" name="Text 5"/>
          <p:cNvSpPr txBox="1"/>
          <p:nvPr/>
        </p:nvSpPr>
        <p:spPr>
          <a:xfrm>
            <a:off x="1051560" y="2002536"/>
            <a:ext cx="2377440" cy="5943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Compounds existing AI</a:t>
            </a:r>
            <a:endParaRPr lang="en-US" sz="1400" dirty="0"/>
          </a:p>
        </p:txBody>
      </p:sp>
      <p:sp>
        <p:nvSpPr>
          <p:cNvPr id="10" name="Text 6"/>
          <p:cNvSpPr txBox="1"/>
          <p:nvPr/>
        </p:nvSpPr>
        <p:spPr>
          <a:xfrm>
            <a:off x="3474720" y="2002536"/>
            <a:ext cx="5212080" cy="594360"/>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Blu takes the call, scheduling assigns the tech, the Service Writer turns the job into revenue. One story, three features.</a:t>
            </a:r>
            <a:endParaRPr lang="en-US" sz="1100" dirty="0"/>
          </a:p>
        </p:txBody>
      </p:sp>
      <p:sp>
        <p:nvSpPr>
          <p:cNvPr id="11" name="Shape 7"/>
          <p:cNvSpPr/>
          <p:nvPr/>
        </p:nvSpPr>
        <p:spPr>
          <a:xfrm>
            <a:off x="457200" y="2642616"/>
            <a:ext cx="8229600" cy="0"/>
          </a:xfrm>
          <a:prstGeom prst="line">
            <a:avLst/>
          </a:prstGeom>
          <a:noFill/>
          <a:ln w="9525">
            <a:solidFill>
              <a:srgbClr val="E1E7EC"/>
            </a:solidFill>
            <a:prstDash val="solid"/>
          </a:ln>
        </p:spPr>
      </p:sp>
      <p:pic>
        <p:nvPicPr>
          <p:cNvPr id="12" name="Image 2" descr="preencoded.png">    </p:cNvPr>
          <p:cNvPicPr>
            <a:picLocks noChangeAspect="1"/>
          </p:cNvPicPr>
          <p:nvPr/>
        </p:nvPicPr>
        <p:blipFill>
          <a:blip r:embed="rId3"/>
          <a:stretch>
            <a:fillRect/>
          </a:stretch>
        </p:blipFill>
        <p:spPr>
          <a:xfrm>
            <a:off x="457200" y="2752344"/>
            <a:ext cx="457200" cy="457200"/>
          </a:xfrm>
          <a:prstGeom prst="rect">
            <a:avLst/>
          </a:prstGeom>
        </p:spPr>
      </p:pic>
      <p:sp>
        <p:nvSpPr>
          <p:cNvPr id="13" name="Text 8"/>
          <p:cNvSpPr txBox="1"/>
          <p:nvPr/>
        </p:nvSpPr>
        <p:spPr>
          <a:xfrm>
            <a:off x="1051560" y="2679192"/>
            <a:ext cx="2377440" cy="5943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Drives Web migration</a:t>
            </a:r>
            <a:endParaRPr lang="en-US" sz="1400" dirty="0"/>
          </a:p>
        </p:txBody>
      </p:sp>
      <p:sp>
        <p:nvSpPr>
          <p:cNvPr id="14" name="Text 9"/>
          <p:cNvSpPr txBox="1"/>
          <p:nvPr/>
        </p:nvSpPr>
        <p:spPr>
          <a:xfrm>
            <a:off x="3474720" y="2679192"/>
            <a:ext cx="5212080" cy="594360"/>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It needs Web 2.0 and Mobile, which gives Desktop-only accounts a revenue reason to move and answers the UX critique.</a:t>
            </a:r>
            <a:endParaRPr lang="en-US" sz="1100" dirty="0"/>
          </a:p>
        </p:txBody>
      </p:sp>
      <p:sp>
        <p:nvSpPr>
          <p:cNvPr id="15" name="Shape 10"/>
          <p:cNvSpPr/>
          <p:nvPr/>
        </p:nvSpPr>
        <p:spPr>
          <a:xfrm>
            <a:off x="457200" y="3319272"/>
            <a:ext cx="8229600" cy="0"/>
          </a:xfrm>
          <a:prstGeom prst="line">
            <a:avLst/>
          </a:prstGeom>
          <a:noFill/>
          <a:ln w="9525">
            <a:solidFill>
              <a:srgbClr val="E1E7EC"/>
            </a:solidFill>
            <a:prstDash val="solid"/>
          </a:ln>
        </p:spPr>
      </p:sp>
      <p:pic>
        <p:nvPicPr>
          <p:cNvPr id="16" name="Image 3" descr="preencoded.png">    </p:cNvPr>
          <p:cNvPicPr>
            <a:picLocks noChangeAspect="1"/>
          </p:cNvPicPr>
          <p:nvPr/>
        </p:nvPicPr>
        <p:blipFill>
          <a:blip r:embed="rId4"/>
          <a:stretch>
            <a:fillRect/>
          </a:stretch>
        </p:blipFill>
        <p:spPr>
          <a:xfrm>
            <a:off x="457200" y="3429000"/>
            <a:ext cx="457200" cy="457200"/>
          </a:xfrm>
          <a:prstGeom prst="rect">
            <a:avLst/>
          </a:prstGeom>
        </p:spPr>
      </p:pic>
      <p:sp>
        <p:nvSpPr>
          <p:cNvPr id="17" name="Text 11"/>
          <p:cNvSpPr txBox="1"/>
          <p:nvPr/>
        </p:nvSpPr>
        <p:spPr>
          <a:xfrm>
            <a:off x="1051560" y="3355848"/>
            <a:ext cx="2377440" cy="5943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Drives payments attach</a:t>
            </a:r>
            <a:endParaRPr lang="en-US" sz="1400" dirty="0"/>
          </a:p>
        </p:txBody>
      </p:sp>
      <p:sp>
        <p:nvSpPr>
          <p:cNvPr id="18" name="Text 12"/>
          <p:cNvSpPr txBox="1"/>
          <p:nvPr/>
        </p:nvSpPr>
        <p:spPr>
          <a:xfrm>
            <a:off x="3474720" y="3355848"/>
            <a:ext cx="5212080" cy="594360"/>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Collections via ValPay lifts volume on Valsoft's own rails; margin there subsidises the software price.</a:t>
            </a:r>
            <a:endParaRPr lang="en-US" sz="1100" dirty="0"/>
          </a:p>
        </p:txBody>
      </p:sp>
      <p:sp>
        <p:nvSpPr>
          <p:cNvPr id="19" name="Shape 13"/>
          <p:cNvSpPr/>
          <p:nvPr/>
        </p:nvSpPr>
        <p:spPr>
          <a:xfrm>
            <a:off x="457200" y="3995928"/>
            <a:ext cx="8229600" cy="0"/>
          </a:xfrm>
          <a:prstGeom prst="line">
            <a:avLst/>
          </a:prstGeom>
          <a:noFill/>
          <a:ln w="9525">
            <a:solidFill>
              <a:srgbClr val="E1E7EC"/>
            </a:solidFill>
            <a:prstDash val="solid"/>
          </a:ln>
        </p:spPr>
      </p:sp>
      <p:pic>
        <p:nvPicPr>
          <p:cNvPr id="20" name="Image 4" descr="preencoded.png">    </p:cNvPr>
          <p:cNvPicPr>
            <a:picLocks noChangeAspect="1"/>
          </p:cNvPicPr>
          <p:nvPr/>
        </p:nvPicPr>
        <p:blipFill>
          <a:blip r:embed="rId5"/>
          <a:stretch>
            <a:fillRect/>
          </a:stretch>
        </p:blipFill>
        <p:spPr>
          <a:xfrm>
            <a:off x="457200" y="4105656"/>
            <a:ext cx="457200" cy="457200"/>
          </a:xfrm>
          <a:prstGeom prst="rect">
            <a:avLst/>
          </a:prstGeom>
        </p:spPr>
      </p:pic>
      <p:sp>
        <p:nvSpPr>
          <p:cNvPr id="21" name="Text 14"/>
          <p:cNvSpPr txBox="1"/>
          <p:nvPr/>
        </p:nvSpPr>
        <p:spPr>
          <a:xfrm>
            <a:off x="1051560" y="4032504"/>
            <a:ext cx="2377440" cy="594360"/>
          </a:xfrm>
          <a:prstGeom prst="rect">
            <a:avLst/>
          </a:prstGeom>
          <a:noFill/>
          <a:ln/>
        </p:spPr>
        <p:txBody>
          <a:bodyPr wrap="square" lIns="0" tIns="0" rIns="0" bIns="0" rtlCol="0" anchor="ctr"/>
          <a:lstStyle/>
          <a:p>
            <a:pPr indent="0" marL="0">
              <a:buNone/>
            </a:pPr>
            <a:r>
              <a:rPr lang="en-US" sz="1400" b="1" dirty="0">
                <a:solidFill>
                  <a:srgbClr val="0B2545"/>
                </a:solidFill>
                <a:latin typeface="Cambria" pitchFamily="34" charset="0"/>
                <a:ea typeface="Cambria" pitchFamily="34" charset="-122"/>
                <a:cs typeface="Cambria" pitchFamily="34" charset="-120"/>
              </a:rPr>
              <a:t>Valsoft-shaped</a:t>
            </a:r>
            <a:endParaRPr lang="en-US" sz="1400" dirty="0"/>
          </a:p>
        </p:txBody>
      </p:sp>
      <p:sp>
        <p:nvSpPr>
          <p:cNvPr id="22" name="Text 15"/>
          <p:cNvSpPr txBox="1"/>
          <p:nvPr/>
        </p:nvSpPr>
        <p:spPr>
          <a:xfrm>
            <a:off x="3474720" y="4032504"/>
            <a:ext cx="5212080" cy="594360"/>
          </a:xfrm>
          <a:prstGeom prst="rect">
            <a:avLst/>
          </a:prstGeom>
          <a:noFill/>
          <a:ln/>
        </p:spPr>
        <p:txBody>
          <a:bodyPr wrap="square" lIns="0" tIns="0" rIns="0" bIns="0" rtlCol="0" anchor="ctr"/>
          <a:lstStyle/>
          <a:p>
            <a:pPr indent="0" marL="0">
              <a:buNone/>
            </a:pPr>
            <a:r>
              <a:rPr lang="en-US" sz="1100" dirty="0">
                <a:solidFill>
                  <a:srgbClr val="1B2430"/>
                </a:solidFill>
                <a:latin typeface="Calibri" pitchFamily="34" charset="0"/>
                <a:ea typeface="Calibri" pitchFamily="34" charset="-122"/>
                <a:cs typeface="Calibri" pitchFamily="34" charset="-120"/>
              </a:rPr>
              <a:t>Human-in-the-loop lands with a conservative base. Validate on 1,000+ accounts, then take a standalone product beyond the ecosystem via AI Ventures.</a:t>
            </a:r>
            <a:endParaRPr lang="en-US" sz="1100" dirty="0"/>
          </a:p>
        </p:txBody>
      </p:sp>
      <p:sp>
        <p:nvSpPr>
          <p:cNvPr id="23"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The prototype</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A working Service Writer on a realistic mock of DockMaster's data, with a golden-set evaluation</a:t>
            </a:r>
            <a:endParaRPr lang="en-US" sz="1300" dirty="0"/>
          </a:p>
        </p:txBody>
      </p:sp>
      <p:sp>
        <p:nvSpPr>
          <p:cNvPr id="4" name="Shape 2"/>
          <p:cNvSpPr/>
          <p:nvPr/>
        </p:nvSpPr>
        <p:spPr>
          <a:xfrm>
            <a:off x="457200" y="1325880"/>
            <a:ext cx="4023360" cy="3291840"/>
          </a:xfrm>
          <a:prstGeom prst="roundRect">
            <a:avLst>
              <a:gd name="adj" fmla="val 2222"/>
            </a:avLst>
          </a:prstGeom>
          <a:solidFill>
            <a:srgbClr val="F3F6F8"/>
          </a:solidFill>
          <a:ln w="6350">
            <a:solidFill>
              <a:srgbClr val="F3F6F8"/>
            </a:solidFill>
            <a:prstDash val="solid"/>
          </a:ln>
        </p:spPr>
      </p:sp>
      <p:sp>
        <p:nvSpPr>
          <p:cNvPr id="5" name="Text 3"/>
          <p:cNvSpPr txBox="1"/>
          <p:nvPr/>
        </p:nvSpPr>
        <p:spPr>
          <a:xfrm>
            <a:off x="640080" y="1417320"/>
            <a:ext cx="2743200" cy="320040"/>
          </a:xfrm>
          <a:prstGeom prst="rect">
            <a:avLst/>
          </a:prstGeom>
          <a:noFill/>
          <a:ln/>
        </p:spPr>
        <p:txBody>
          <a:bodyPr wrap="square" lIns="0" tIns="0" rIns="0" bIns="0" rtlCol="0" anchor="ctr"/>
          <a:lstStyle/>
          <a:p>
            <a:pPr indent="0" marL="0">
              <a:buNone/>
            </a:pPr>
            <a:r>
              <a:rPr lang="en-US" sz="1500" b="1" dirty="0">
                <a:solidFill>
                  <a:srgbClr val="0B2545"/>
                </a:solidFill>
                <a:latin typeface="Cambria" pitchFamily="34" charset="0"/>
                <a:ea typeface="Cambria" pitchFamily="34" charset="-122"/>
                <a:cs typeface="Cambria" pitchFamily="34" charset="-120"/>
              </a:rPr>
              <a:t>Demo path</a:t>
            </a:r>
            <a:endParaRPr lang="en-US" sz="1500" dirty="0"/>
          </a:p>
        </p:txBody>
      </p:sp>
      <p:sp>
        <p:nvSpPr>
          <p:cNvPr id="6" name="Text 4"/>
          <p:cNvSpPr txBox="1"/>
          <p:nvPr/>
        </p:nvSpPr>
        <p:spPr>
          <a:xfrm>
            <a:off x="640080" y="1783080"/>
            <a:ext cx="3657600" cy="274320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Tech records: "Sea Ray 400 in C-12, port engine hot, impeller chewed up, pump weeping, three hours, quote the trim tab separately."</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Vessel matched on HIN suffix and slip. Operations, standard hours and parts kit drafted from the yard's own codes.</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History flag: last impeller change 26 months ago, interval 24.</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Manager edits one line, approves. Owner signs in the portal. Work order lands on the scheduler.</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Side panels: vessels due for service and overdue AR with one-click reminders (products two and three).</a:t>
            </a:r>
            <a:endParaRPr lang="en-US" sz="1050" dirty="0"/>
          </a:p>
        </p:txBody>
      </p:sp>
      <p:sp>
        <p:nvSpPr>
          <p:cNvPr id="7" name="Shape 5"/>
          <p:cNvSpPr/>
          <p:nvPr/>
        </p:nvSpPr>
        <p:spPr>
          <a:xfrm>
            <a:off x="4663440" y="1325880"/>
            <a:ext cx="4023360" cy="1554480"/>
          </a:xfrm>
          <a:prstGeom prst="roundRect">
            <a:avLst>
              <a:gd name="adj" fmla="val 4706"/>
            </a:avLst>
          </a:prstGeom>
          <a:solidFill>
            <a:srgbClr val="F3F6F8"/>
          </a:solidFill>
          <a:ln w="6350">
            <a:solidFill>
              <a:srgbClr val="F3F6F8"/>
            </a:solidFill>
            <a:prstDash val="solid"/>
          </a:ln>
        </p:spPr>
      </p:sp>
      <p:sp>
        <p:nvSpPr>
          <p:cNvPr id="8" name="Text 6"/>
          <p:cNvSpPr txBox="1"/>
          <p:nvPr/>
        </p:nvSpPr>
        <p:spPr>
          <a:xfrm>
            <a:off x="4846320" y="1417320"/>
            <a:ext cx="2743200" cy="320040"/>
          </a:xfrm>
          <a:prstGeom prst="rect">
            <a:avLst/>
          </a:prstGeom>
          <a:noFill/>
          <a:ln/>
        </p:spPr>
        <p:txBody>
          <a:bodyPr wrap="square" lIns="0" tIns="0" rIns="0" bIns="0" rtlCol="0" anchor="ctr"/>
          <a:lstStyle/>
          <a:p>
            <a:pPr indent="0" marL="0">
              <a:buNone/>
            </a:pPr>
            <a:r>
              <a:rPr lang="en-US" sz="1500" b="1" dirty="0">
                <a:solidFill>
                  <a:srgbClr val="0B2545"/>
                </a:solidFill>
                <a:latin typeface="Cambria" pitchFamily="34" charset="0"/>
                <a:ea typeface="Cambria" pitchFamily="34" charset="-122"/>
                <a:cs typeface="Cambria" pitchFamily="34" charset="-120"/>
              </a:rPr>
              <a:t>Architecture</a:t>
            </a:r>
            <a:endParaRPr lang="en-US" sz="1500" dirty="0"/>
          </a:p>
        </p:txBody>
      </p:sp>
      <p:sp>
        <p:nvSpPr>
          <p:cNvPr id="9" name="Text 7"/>
          <p:cNvSpPr txBox="1"/>
          <p:nvPr/>
        </p:nvSpPr>
        <p:spPr>
          <a:xfrm>
            <a:off x="4846320" y="1783080"/>
            <a:ext cx="3657600" cy="105156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B2430"/>
                </a:solidFill>
                <a:latin typeface="Calibri" pitchFamily="34" charset="0"/>
                <a:ea typeface="Calibri" pitchFamily="34" charset="-122"/>
                <a:cs typeface="Calibri" pitchFamily="34" charset="-120"/>
              </a:rPr>
              <a:t>Next.js and TypeScript, Prisma, Claude with structured tool-use output, Whisper for transcription</a:t>
            </a:r>
            <a:endParaRPr lang="en-US" sz="1000" dirty="0"/>
          </a:p>
          <a:p>
            <a:pPr marL="152400" indent="-152400">
              <a:spcAft>
                <a:spcPts val="500"/>
              </a:spcAft>
              <a:buSzPct val="100000"/>
              <a:buChar char="•"/>
            </a:pPr>
            <a:r>
              <a:rPr lang="en-US" sz="1000" dirty="0">
                <a:solidFill>
                  <a:srgbClr val="1B2430"/>
                </a:solidFill>
                <a:latin typeface="Calibri" pitchFamily="34" charset="0"/>
                <a:ea typeface="Calibri" pitchFamily="34" charset="-122"/>
                <a:cs typeface="Calibri" pitchFamily="34" charset="-120"/>
              </a:rPr>
              <a:t>One DockMasterClient interface is the API boundary: the mock talks to a seeded DB; production binds to the Web 2.0 API</a:t>
            </a:r>
            <a:endParaRPr lang="en-US" sz="1000" dirty="0"/>
          </a:p>
        </p:txBody>
      </p:sp>
      <p:sp>
        <p:nvSpPr>
          <p:cNvPr id="10" name="Shape 8"/>
          <p:cNvSpPr/>
          <p:nvPr/>
        </p:nvSpPr>
        <p:spPr>
          <a:xfrm>
            <a:off x="4663440" y="3063240"/>
            <a:ext cx="4023360" cy="1554480"/>
          </a:xfrm>
          <a:prstGeom prst="roundRect">
            <a:avLst>
              <a:gd name="adj" fmla="val 4706"/>
            </a:avLst>
          </a:prstGeom>
          <a:solidFill>
            <a:srgbClr val="E3F5F3"/>
          </a:solidFill>
          <a:ln w="6350">
            <a:solidFill>
              <a:srgbClr val="E3F5F3"/>
            </a:solidFill>
            <a:prstDash val="solid"/>
          </a:ln>
        </p:spPr>
      </p:sp>
      <p:sp>
        <p:nvSpPr>
          <p:cNvPr id="11" name="Text 9"/>
          <p:cNvSpPr txBox="1"/>
          <p:nvPr/>
        </p:nvSpPr>
        <p:spPr>
          <a:xfrm>
            <a:off x="4846320" y="3154680"/>
            <a:ext cx="3200400" cy="320040"/>
          </a:xfrm>
          <a:prstGeom prst="rect">
            <a:avLst/>
          </a:prstGeom>
          <a:noFill/>
          <a:ln/>
        </p:spPr>
        <p:txBody>
          <a:bodyPr wrap="square" lIns="0" tIns="0" rIns="0" bIns="0" rtlCol="0" anchor="ctr"/>
          <a:lstStyle/>
          <a:p>
            <a:pPr indent="0" marL="0">
              <a:buNone/>
            </a:pPr>
            <a:r>
              <a:rPr lang="en-US" sz="1500" b="1" dirty="0">
                <a:solidFill>
                  <a:srgbClr val="0B2545"/>
                </a:solidFill>
                <a:latin typeface="Cambria" pitchFamily="34" charset="0"/>
                <a:ea typeface="Cambria" pitchFamily="34" charset="-122"/>
                <a:cs typeface="Cambria" pitchFamily="34" charset="-120"/>
              </a:rPr>
              <a:t>Evaluation</a:t>
            </a:r>
            <a:endParaRPr lang="en-US" sz="1500" dirty="0"/>
          </a:p>
        </p:txBody>
      </p:sp>
      <p:sp>
        <p:nvSpPr>
          <p:cNvPr id="12" name="Text 10"/>
          <p:cNvSpPr txBox="1"/>
          <p:nvPr/>
        </p:nvSpPr>
        <p:spPr>
          <a:xfrm>
            <a:off x="4846320" y="3520440"/>
            <a:ext cx="3657600" cy="105156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B2430"/>
                </a:solidFill>
                <a:latin typeface="Calibri" pitchFamily="34" charset="0"/>
                <a:ea typeface="Calibri" pitchFamily="34" charset="-122"/>
                <a:cs typeface="Calibri" pitchFamily="34" charset="-120"/>
              </a:rPr>
              <a:t>15-case golden set: clear notes, slang, ambiguous vessel hints, multi-system jobs, one note with nothing actionable</a:t>
            </a:r>
            <a:endParaRPr lang="en-US" sz="1000" dirty="0"/>
          </a:p>
          <a:p>
            <a:pPr marL="152400" indent="-152400">
              <a:spcAft>
                <a:spcPts val="500"/>
              </a:spcAft>
              <a:buSzPct val="100000"/>
              <a:buChar char="•"/>
            </a:pPr>
            <a:r>
              <a:rPr lang="en-US" sz="1000" dirty="0">
                <a:solidFill>
                  <a:srgbClr val="1B2430"/>
                </a:solidFill>
                <a:latin typeface="Calibri" pitchFamily="34" charset="0"/>
                <a:ea typeface="Calibri" pitchFamily="34" charset="-122"/>
                <a:cs typeface="Calibri" pitchFamily="34" charset="-120"/>
              </a:rPr>
              <a:t>Targets: vessel match 14/15, operation recall 85%+, separate-estimate detection correct</a:t>
            </a:r>
            <a:endParaRPr lang="en-US" sz="1000" dirty="0"/>
          </a:p>
          <a:p>
            <a:pPr marL="152400" indent="-152400">
              <a:spcAft>
                <a:spcPts val="500"/>
              </a:spcAft>
              <a:buSzPct val="100000"/>
              <a:buChar char="•"/>
            </a:pPr>
            <a:r>
              <a:rPr lang="en-US" sz="1000" dirty="0">
                <a:solidFill>
                  <a:srgbClr val="1B2430"/>
                </a:solidFill>
                <a:latin typeface="Calibri" pitchFamily="34" charset="0"/>
                <a:ea typeface="Calibri" pitchFamily="34" charset="-122"/>
                <a:cs typeface="Calibri" pitchFamily="34" charset="-120"/>
              </a:rPr>
              <a:t>Guardrails from the previous slide are implemented in code, not just described</a:t>
            </a:r>
            <a:endParaRPr lang="en-US" sz="1000" dirty="0"/>
          </a:p>
        </p:txBody>
      </p:sp>
      <p:sp>
        <p:nvSpPr>
          <p:cNvPr id="13" name="Text 11"/>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Go-to-market: sell every marina its own money</a:t>
            </a:r>
            <a:endParaRPr lang="en-US" sz="2800" dirty="0"/>
          </a:p>
        </p:txBody>
      </p:sp>
      <p:sp>
        <p:nvSpPr>
          <p:cNvPr id="3" name="Text 1"/>
          <p:cNvSpPr txBox="1"/>
          <p:nvPr/>
        </p:nvSpPr>
        <p:spPr>
          <a:xfrm>
            <a:off x="457200" y="868680"/>
            <a:ext cx="8229600" cy="457200"/>
          </a:xfrm>
          <a:prstGeom prst="rect">
            <a:avLst/>
          </a:prstGeom>
          <a:noFill/>
          <a:ln/>
        </p:spPr>
        <p:txBody>
          <a:bodyPr wrap="square" lIns="0" tIns="0" rIns="0" bIns="0" rtlCol="0" anchor="ctr"/>
          <a:lstStyle/>
          <a:p>
            <a:pPr indent="0" marL="0">
              <a:buNone/>
            </a:pPr>
            <a:r>
              <a:rPr lang="en-US" sz="1300" dirty="0">
                <a:solidFill>
                  <a:srgbClr val="BFE9E5"/>
                </a:solidFill>
                <a:latin typeface="Calibri" pitchFamily="34" charset="0"/>
                <a:ea typeface="Calibri" pitchFamily="34" charset="-122"/>
                <a:cs typeface="Calibri" pitchFamily="34" charset="-120"/>
              </a:rPr>
              <a:t>DockMaster already holds each account's work orders, invoices and vessel histories. The pitch is computed from that data, per account, and a human sends it.</a:t>
            </a:r>
            <a:endParaRPr lang="en-US" sz="1300" dirty="0"/>
          </a:p>
        </p:txBody>
      </p:sp>
      <p:sp>
        <p:nvSpPr>
          <p:cNvPr id="4" name="Shape 2"/>
          <p:cNvSpPr/>
          <p:nvPr/>
        </p:nvSpPr>
        <p:spPr>
          <a:xfrm>
            <a:off x="457200" y="1463040"/>
            <a:ext cx="8229600" cy="914400"/>
          </a:xfrm>
          <a:prstGeom prst="roundRect">
            <a:avLst>
              <a:gd name="adj" fmla="val 8000"/>
            </a:avLst>
          </a:prstGeom>
          <a:solidFill>
            <a:srgbClr val="13315C"/>
          </a:solidFill>
          <a:ln w="12700">
            <a:solidFill>
              <a:srgbClr val="13315C"/>
            </a:solidFill>
            <a:prstDash val="solid"/>
          </a:ln>
        </p:spPr>
      </p:sp>
      <p:sp>
        <p:nvSpPr>
          <p:cNvPr id="5" name="Text 3"/>
          <p:cNvSpPr txBox="1"/>
          <p:nvPr/>
        </p:nvSpPr>
        <p:spPr>
          <a:xfrm>
            <a:off x="640080" y="1508760"/>
            <a:ext cx="7863840" cy="822960"/>
          </a:xfrm>
          <a:prstGeom prst="rect">
            <a:avLst/>
          </a:prstGeom>
          <a:noFill/>
          <a:ln/>
        </p:spPr>
        <p:txBody>
          <a:bodyPr wrap="square" lIns="0" tIns="0" rIns="0" bIns="0" rtlCol="0" anchor="ctr"/>
          <a:lstStyle/>
          <a:p>
            <a:pPr indent="0" marL="0">
              <a:buNone/>
            </a:pPr>
            <a:r>
              <a:rPr lang="en-US" sz="1200" i="1" dirty="0">
                <a:solidFill>
                  <a:srgbClr val="FFFFFF"/>
                </a:solidFill>
                <a:latin typeface="Calibri" pitchFamily="34" charset="0"/>
                <a:ea typeface="Calibri" pitchFamily="34" charset="-122"/>
                <a:cs typeface="Calibri" pitchFamily="34" charset="-120"/>
              </a:rPr>
              <a:t>"Harbourline, last season you billed 4,120 of 5,300 standard hours, 38 estimates took more than three days to reach the customer, 61 vessels are past a maintenance interval, and $84k of AR is over 45 days. Here is what the Service Writer would have recovered."</a:t>
            </a:r>
            <a:endParaRPr lang="en-US" sz="1200" dirty="0"/>
          </a:p>
        </p:txBody>
      </p:sp>
      <p:sp>
        <p:nvSpPr>
          <p:cNvPr id="6" name="Shape 4"/>
          <p:cNvSpPr/>
          <p:nvPr/>
        </p:nvSpPr>
        <p:spPr>
          <a:xfrm>
            <a:off x="457200" y="2606040"/>
            <a:ext cx="2606040" cy="2011680"/>
          </a:xfrm>
          <a:prstGeom prst="roundRect">
            <a:avLst>
              <a:gd name="adj" fmla="val 3636"/>
            </a:avLst>
          </a:prstGeom>
          <a:solidFill>
            <a:srgbClr val="13315C"/>
          </a:solidFill>
          <a:ln w="12700">
            <a:solidFill>
              <a:srgbClr val="13315C"/>
            </a:solidFill>
            <a:prstDash val="solid"/>
          </a:ln>
        </p:spPr>
      </p:sp>
      <p:sp>
        <p:nvSpPr>
          <p:cNvPr id="7" name="Text 5"/>
          <p:cNvSpPr txBox="1"/>
          <p:nvPr/>
        </p:nvSpPr>
        <p:spPr>
          <a:xfrm>
            <a:off x="640080" y="2724912"/>
            <a:ext cx="2286000" cy="365760"/>
          </a:xfrm>
          <a:prstGeom prst="rect">
            <a:avLst/>
          </a:prstGeom>
          <a:noFill/>
          <a:ln/>
        </p:spPr>
        <p:txBody>
          <a:bodyPr wrap="square" lIns="0" tIns="0" rIns="0" bIns="0" rtlCol="0" anchor="ctr"/>
          <a:lstStyle/>
          <a:p>
            <a:pPr indent="0" marL="0">
              <a:buNone/>
            </a:pPr>
            <a:r>
              <a:rPr lang="en-US" sz="1500" b="1" dirty="0">
                <a:solidFill>
                  <a:srgbClr val="5FD3C8"/>
                </a:solidFill>
                <a:latin typeface="Cambria" pitchFamily="34" charset="0"/>
                <a:ea typeface="Cambria" pitchFamily="34" charset="-122"/>
                <a:cs typeface="Cambria" pitchFamily="34" charset="-120"/>
              </a:rPr>
              <a:t>1. Install base</a:t>
            </a:r>
            <a:endParaRPr lang="en-US" sz="1500" dirty="0"/>
          </a:p>
        </p:txBody>
      </p:sp>
      <p:sp>
        <p:nvSpPr>
          <p:cNvPr id="8" name="Text 6"/>
          <p:cNvSpPr txBox="1"/>
          <p:nvPr/>
        </p:nvSpPr>
        <p:spPr>
          <a:xfrm>
            <a:off x="640080" y="3108960"/>
            <a:ext cx="2286000" cy="14173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1,000+ accounts, existing trust, data in hand. Launch at the October user conference. Fastest revenue and proof.</a:t>
            </a:r>
            <a:endParaRPr lang="en-US" sz="1100" dirty="0"/>
          </a:p>
        </p:txBody>
      </p:sp>
      <p:sp>
        <p:nvSpPr>
          <p:cNvPr id="9" name="Shape 7"/>
          <p:cNvSpPr/>
          <p:nvPr/>
        </p:nvSpPr>
        <p:spPr>
          <a:xfrm>
            <a:off x="3246120" y="2606040"/>
            <a:ext cx="2606040" cy="2011680"/>
          </a:xfrm>
          <a:prstGeom prst="roundRect">
            <a:avLst>
              <a:gd name="adj" fmla="val 3636"/>
            </a:avLst>
          </a:prstGeom>
          <a:solidFill>
            <a:srgbClr val="13315C"/>
          </a:solidFill>
          <a:ln w="12700">
            <a:solidFill>
              <a:srgbClr val="13315C"/>
            </a:solidFill>
            <a:prstDash val="solid"/>
          </a:ln>
        </p:spPr>
      </p:sp>
      <p:sp>
        <p:nvSpPr>
          <p:cNvPr id="10" name="Text 8"/>
          <p:cNvSpPr txBox="1"/>
          <p:nvPr/>
        </p:nvSpPr>
        <p:spPr>
          <a:xfrm>
            <a:off x="3429000" y="2724912"/>
            <a:ext cx="2286000" cy="365760"/>
          </a:xfrm>
          <a:prstGeom prst="rect">
            <a:avLst/>
          </a:prstGeom>
          <a:noFill/>
          <a:ln/>
        </p:spPr>
        <p:txBody>
          <a:bodyPr wrap="square" lIns="0" tIns="0" rIns="0" bIns="0" rtlCol="0" anchor="ctr"/>
          <a:lstStyle/>
          <a:p>
            <a:pPr indent="0" marL="0">
              <a:buNone/>
            </a:pPr>
            <a:r>
              <a:rPr lang="en-US" sz="1500" b="1" dirty="0">
                <a:solidFill>
                  <a:srgbClr val="5FD3C8"/>
                </a:solidFill>
                <a:latin typeface="Cambria" pitchFamily="34" charset="0"/>
                <a:ea typeface="Cambria" pitchFamily="34" charset="-122"/>
                <a:cs typeface="Cambria" pitchFamily="34" charset="-120"/>
              </a:rPr>
              <a:t>2. New logos</a:t>
            </a:r>
            <a:endParaRPr lang="en-US" sz="1500" dirty="0"/>
          </a:p>
        </p:txBody>
      </p:sp>
      <p:sp>
        <p:nvSpPr>
          <p:cNvPr id="11" name="Text 9"/>
          <p:cNvSpPr txBox="1"/>
          <p:nvPr/>
        </p:nvSpPr>
        <p:spPr>
          <a:xfrm>
            <a:off x="3429000" y="3108960"/>
            <a:ext cx="2286000" cy="14173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Service-heavy yards on Molo, MarinaOffice or spreadsheets. Hook: a free "paste a tech note, get an estimate" tool.</a:t>
            </a:r>
            <a:endParaRPr lang="en-US" sz="1100" dirty="0"/>
          </a:p>
        </p:txBody>
      </p:sp>
      <p:sp>
        <p:nvSpPr>
          <p:cNvPr id="12" name="Shape 10"/>
          <p:cNvSpPr/>
          <p:nvPr/>
        </p:nvSpPr>
        <p:spPr>
          <a:xfrm>
            <a:off x="6035040" y="2606040"/>
            <a:ext cx="2606040" cy="2011680"/>
          </a:xfrm>
          <a:prstGeom prst="roundRect">
            <a:avLst>
              <a:gd name="adj" fmla="val 3636"/>
            </a:avLst>
          </a:prstGeom>
          <a:solidFill>
            <a:srgbClr val="13315C"/>
          </a:solidFill>
          <a:ln w="12700">
            <a:solidFill>
              <a:srgbClr val="13315C"/>
            </a:solidFill>
            <a:prstDash val="solid"/>
          </a:ln>
        </p:spPr>
      </p:sp>
      <p:sp>
        <p:nvSpPr>
          <p:cNvPr id="13" name="Text 11"/>
          <p:cNvSpPr txBox="1"/>
          <p:nvPr/>
        </p:nvSpPr>
        <p:spPr>
          <a:xfrm>
            <a:off x="6217920" y="2724912"/>
            <a:ext cx="2286000" cy="365760"/>
          </a:xfrm>
          <a:prstGeom prst="rect">
            <a:avLst/>
          </a:prstGeom>
          <a:noFill/>
          <a:ln/>
        </p:spPr>
        <p:txBody>
          <a:bodyPr wrap="square" lIns="0" tIns="0" rIns="0" bIns="0" rtlCol="0" anchor="ctr"/>
          <a:lstStyle/>
          <a:p>
            <a:pPr indent="0" marL="0">
              <a:buNone/>
            </a:pPr>
            <a:r>
              <a:rPr lang="en-US" sz="1500" b="1" dirty="0">
                <a:solidFill>
                  <a:srgbClr val="5FD3C8"/>
                </a:solidFill>
                <a:latin typeface="Cambria" pitchFamily="34" charset="0"/>
                <a:ea typeface="Cambria" pitchFamily="34" charset="-122"/>
                <a:cs typeface="Cambria" pitchFamily="34" charset="-120"/>
              </a:rPr>
              <a:t>3. Beyond the ecosystem</a:t>
            </a:r>
            <a:endParaRPr lang="en-US" sz="1500" dirty="0"/>
          </a:p>
        </p:txBody>
      </p:sp>
      <p:sp>
        <p:nvSpPr>
          <p:cNvPr id="14" name="Text 12"/>
          <p:cNvSpPr txBox="1"/>
          <p:nvPr/>
        </p:nvSpPr>
        <p:spPr>
          <a:xfrm>
            <a:off x="6217920" y="3108960"/>
            <a:ext cx="2286000" cy="141732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Standalone Service Writer for marine and powersports shops on other platforms. The AI Ventures step.</a:t>
            </a:r>
            <a:endParaRPr lang="en-US" sz="1100" dirty="0"/>
          </a:p>
        </p:txBody>
      </p:sp>
      <p:sp>
        <p:nvSpPr>
          <p:cNvPr id="15" name="Text 1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7F93A8"/>
                </a:solidFill>
                <a:latin typeface="Calibri" pitchFamily="34" charset="0"/>
                <a:ea typeface="Calibri" pitchFamily="34" charset="-122"/>
                <a:cs typeface="Calibri" pitchFamily="34" charset="-120"/>
              </a:rPr>
              <a:t>DockMaster AI opportunity  |  Valsoft AI Venture Builder case  |  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AI agents do the prep, people own the relationship</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Every agent drafts into a review queue. No message reaches a customer without a named approver.</a:t>
            </a:r>
            <a:endParaRPr lang="en-US" sz="1300" dirty="0"/>
          </a:p>
        </p:txBody>
      </p:sp>
      <p:sp>
        <p:nvSpPr>
          <p:cNvPr id="4" name="Shape 2"/>
          <p:cNvSpPr/>
          <p:nvPr/>
        </p:nvSpPr>
        <p:spPr>
          <a:xfrm>
            <a:off x="457200" y="1325880"/>
            <a:ext cx="4023360" cy="749808"/>
          </a:xfrm>
          <a:prstGeom prst="roundRect">
            <a:avLst>
              <a:gd name="adj" fmla="val 9756"/>
            </a:avLst>
          </a:prstGeom>
          <a:solidFill>
            <a:srgbClr val="F3F6F8"/>
          </a:solidFill>
          <a:ln w="6350">
            <a:solidFill>
              <a:srgbClr val="F3F6F8"/>
            </a:solidFill>
            <a:prstDash val="solid"/>
          </a:ln>
        </p:spPr>
      </p:sp>
      <p:pic>
        <p:nvPicPr>
          <p:cNvPr id="5" name="Image 0" descr="preencoded.png">    </p:cNvPr>
          <p:cNvPicPr>
            <a:picLocks noChangeAspect="1"/>
          </p:cNvPicPr>
          <p:nvPr/>
        </p:nvPicPr>
        <p:blipFill>
          <a:blip r:embed="rId1"/>
          <a:stretch>
            <a:fillRect/>
          </a:stretch>
        </p:blipFill>
        <p:spPr>
          <a:xfrm>
            <a:off x="594360" y="1481328"/>
            <a:ext cx="438912" cy="438912"/>
          </a:xfrm>
          <a:prstGeom prst="rect">
            <a:avLst/>
          </a:prstGeom>
        </p:spPr>
      </p:pic>
      <p:sp>
        <p:nvSpPr>
          <p:cNvPr id="6" name="Text 3"/>
          <p:cNvSpPr txBox="1"/>
          <p:nvPr/>
        </p:nvSpPr>
        <p:spPr>
          <a:xfrm>
            <a:off x="1143000" y="1399032"/>
            <a:ext cx="3200400" cy="256032"/>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Opportunity Scout</a:t>
            </a:r>
            <a:endParaRPr lang="en-US" sz="1200" dirty="0"/>
          </a:p>
        </p:txBody>
      </p:sp>
      <p:sp>
        <p:nvSpPr>
          <p:cNvPr id="7" name="Text 4"/>
          <p:cNvSpPr txBox="1"/>
          <p:nvPr/>
        </p:nvSpPr>
        <p:spPr>
          <a:xfrm>
            <a:off x="1143000" y="1655064"/>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Computes a "Revenue Left on the Dock" report per consented account and ranks targets.</a:t>
            </a:r>
            <a:endParaRPr lang="en-US" sz="950" dirty="0"/>
          </a:p>
        </p:txBody>
      </p:sp>
      <p:sp>
        <p:nvSpPr>
          <p:cNvPr id="8" name="Shape 5"/>
          <p:cNvSpPr/>
          <p:nvPr/>
        </p:nvSpPr>
        <p:spPr>
          <a:xfrm>
            <a:off x="4663440" y="1325880"/>
            <a:ext cx="4023360" cy="749808"/>
          </a:xfrm>
          <a:prstGeom prst="roundRect">
            <a:avLst>
              <a:gd name="adj" fmla="val 9756"/>
            </a:avLst>
          </a:prstGeom>
          <a:solidFill>
            <a:srgbClr val="F3F6F8"/>
          </a:solidFill>
          <a:ln w="6350">
            <a:solidFill>
              <a:srgbClr val="F3F6F8"/>
            </a:solidFill>
            <a:prstDash val="solid"/>
          </a:ln>
        </p:spPr>
      </p:sp>
      <p:pic>
        <p:nvPicPr>
          <p:cNvPr id="9" name="Image 1" descr="preencoded.png">    </p:cNvPr>
          <p:cNvPicPr>
            <a:picLocks noChangeAspect="1"/>
          </p:cNvPicPr>
          <p:nvPr/>
        </p:nvPicPr>
        <p:blipFill>
          <a:blip r:embed="rId2"/>
          <a:stretch>
            <a:fillRect/>
          </a:stretch>
        </p:blipFill>
        <p:spPr>
          <a:xfrm>
            <a:off x="4800600" y="1481328"/>
            <a:ext cx="438912" cy="438912"/>
          </a:xfrm>
          <a:prstGeom prst="rect">
            <a:avLst/>
          </a:prstGeom>
        </p:spPr>
      </p:pic>
      <p:sp>
        <p:nvSpPr>
          <p:cNvPr id="10" name="Text 6"/>
          <p:cNvSpPr txBox="1"/>
          <p:nvPr/>
        </p:nvSpPr>
        <p:spPr>
          <a:xfrm>
            <a:off x="5349240" y="1399032"/>
            <a:ext cx="3200400" cy="256032"/>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Account Researcher</a:t>
            </a:r>
            <a:endParaRPr lang="en-US" sz="1200" dirty="0"/>
          </a:p>
        </p:txBody>
      </p:sp>
      <p:sp>
        <p:nvSpPr>
          <p:cNvPr id="11" name="Text 7"/>
          <p:cNvSpPr txBox="1"/>
          <p:nvPr/>
        </p:nvSpPr>
        <p:spPr>
          <a:xfrm>
            <a:off x="5349240" y="1655064"/>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Enriches with public signals: reviews, job ads, boat shows, new GM.</a:t>
            </a:r>
            <a:endParaRPr lang="en-US" sz="950" dirty="0"/>
          </a:p>
        </p:txBody>
      </p:sp>
      <p:sp>
        <p:nvSpPr>
          <p:cNvPr id="12" name="Shape 8"/>
          <p:cNvSpPr/>
          <p:nvPr/>
        </p:nvSpPr>
        <p:spPr>
          <a:xfrm>
            <a:off x="457200" y="2167128"/>
            <a:ext cx="4023360" cy="749808"/>
          </a:xfrm>
          <a:prstGeom prst="roundRect">
            <a:avLst>
              <a:gd name="adj" fmla="val 9756"/>
            </a:avLst>
          </a:prstGeom>
          <a:solidFill>
            <a:srgbClr val="F3F6F8"/>
          </a:solidFill>
          <a:ln w="6350">
            <a:solidFill>
              <a:srgbClr val="F3F6F8"/>
            </a:solidFill>
            <a:prstDash val="solid"/>
          </a:ln>
        </p:spPr>
      </p:sp>
      <p:pic>
        <p:nvPicPr>
          <p:cNvPr id="13" name="Image 2" descr="preencoded.png">    </p:cNvPr>
          <p:cNvPicPr>
            <a:picLocks noChangeAspect="1"/>
          </p:cNvPicPr>
          <p:nvPr/>
        </p:nvPicPr>
        <p:blipFill>
          <a:blip r:embed="rId3"/>
          <a:stretch>
            <a:fillRect/>
          </a:stretch>
        </p:blipFill>
        <p:spPr>
          <a:xfrm>
            <a:off x="594360" y="2322576"/>
            <a:ext cx="438912" cy="438912"/>
          </a:xfrm>
          <a:prstGeom prst="rect">
            <a:avLst/>
          </a:prstGeom>
        </p:spPr>
      </p:pic>
      <p:sp>
        <p:nvSpPr>
          <p:cNvPr id="14" name="Text 9"/>
          <p:cNvSpPr txBox="1"/>
          <p:nvPr/>
        </p:nvSpPr>
        <p:spPr>
          <a:xfrm>
            <a:off x="1143000" y="2240280"/>
            <a:ext cx="3200400" cy="256032"/>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Sequencer</a:t>
            </a:r>
            <a:endParaRPr lang="en-US" sz="1200" dirty="0"/>
          </a:p>
        </p:txBody>
      </p:sp>
      <p:sp>
        <p:nvSpPr>
          <p:cNvPr id="15" name="Text 10"/>
          <p:cNvSpPr txBox="1"/>
          <p:nvPr/>
        </p:nvSpPr>
        <p:spPr>
          <a:xfrm>
            <a:off x="1143000" y="2496312"/>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Drafts personalised multi-touch outreach using the account's own numbers.</a:t>
            </a:r>
            <a:endParaRPr lang="en-US" sz="950" dirty="0"/>
          </a:p>
        </p:txBody>
      </p:sp>
      <p:sp>
        <p:nvSpPr>
          <p:cNvPr id="16" name="Shape 11"/>
          <p:cNvSpPr/>
          <p:nvPr/>
        </p:nvSpPr>
        <p:spPr>
          <a:xfrm>
            <a:off x="4663440" y="2167128"/>
            <a:ext cx="4023360" cy="749808"/>
          </a:xfrm>
          <a:prstGeom prst="roundRect">
            <a:avLst>
              <a:gd name="adj" fmla="val 9756"/>
            </a:avLst>
          </a:prstGeom>
          <a:solidFill>
            <a:srgbClr val="F3F6F8"/>
          </a:solidFill>
          <a:ln w="6350">
            <a:solidFill>
              <a:srgbClr val="F3F6F8"/>
            </a:solidFill>
            <a:prstDash val="solid"/>
          </a:ln>
        </p:spPr>
      </p:sp>
      <p:pic>
        <p:nvPicPr>
          <p:cNvPr id="17" name="Image 3" descr="preencoded.png">    </p:cNvPr>
          <p:cNvPicPr>
            <a:picLocks noChangeAspect="1"/>
          </p:cNvPicPr>
          <p:nvPr/>
        </p:nvPicPr>
        <p:blipFill>
          <a:blip r:embed="rId4"/>
          <a:stretch>
            <a:fillRect/>
          </a:stretch>
        </p:blipFill>
        <p:spPr>
          <a:xfrm>
            <a:off x="4800600" y="2322576"/>
            <a:ext cx="438912" cy="438912"/>
          </a:xfrm>
          <a:prstGeom prst="rect">
            <a:avLst/>
          </a:prstGeom>
        </p:spPr>
      </p:pic>
      <p:sp>
        <p:nvSpPr>
          <p:cNvPr id="18" name="Text 12"/>
          <p:cNvSpPr txBox="1"/>
          <p:nvPr/>
        </p:nvSpPr>
        <p:spPr>
          <a:xfrm>
            <a:off x="5349240" y="2240280"/>
            <a:ext cx="3200400" cy="256032"/>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Demo Builder</a:t>
            </a:r>
            <a:endParaRPr lang="en-US" sz="1200" dirty="0"/>
          </a:p>
        </p:txBody>
      </p:sp>
      <p:sp>
        <p:nvSpPr>
          <p:cNvPr id="19" name="Text 13"/>
          <p:cNvSpPr txBox="1"/>
          <p:nvPr/>
        </p:nvSpPr>
        <p:spPr>
          <a:xfrm>
            <a:off x="5349240" y="2496312"/>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Spins up a sandbox seeded with the prospect's operation codes plus a narrated walkthrough.</a:t>
            </a:r>
            <a:endParaRPr lang="en-US" sz="950" dirty="0"/>
          </a:p>
        </p:txBody>
      </p:sp>
      <p:sp>
        <p:nvSpPr>
          <p:cNvPr id="20" name="Shape 14"/>
          <p:cNvSpPr/>
          <p:nvPr/>
        </p:nvSpPr>
        <p:spPr>
          <a:xfrm>
            <a:off x="457200" y="3008376"/>
            <a:ext cx="4023360" cy="749808"/>
          </a:xfrm>
          <a:prstGeom prst="roundRect">
            <a:avLst>
              <a:gd name="adj" fmla="val 9756"/>
            </a:avLst>
          </a:prstGeom>
          <a:solidFill>
            <a:srgbClr val="F3F6F8"/>
          </a:solidFill>
          <a:ln w="6350">
            <a:solidFill>
              <a:srgbClr val="F3F6F8"/>
            </a:solidFill>
            <a:prstDash val="solid"/>
          </a:ln>
        </p:spPr>
      </p:sp>
      <p:pic>
        <p:nvPicPr>
          <p:cNvPr id="21" name="Image 4" descr="preencoded.png">    </p:cNvPr>
          <p:cNvPicPr>
            <a:picLocks noChangeAspect="1"/>
          </p:cNvPicPr>
          <p:nvPr/>
        </p:nvPicPr>
        <p:blipFill>
          <a:blip r:embed="rId5"/>
          <a:stretch>
            <a:fillRect/>
          </a:stretch>
        </p:blipFill>
        <p:spPr>
          <a:xfrm>
            <a:off x="594360" y="3163824"/>
            <a:ext cx="438912" cy="438912"/>
          </a:xfrm>
          <a:prstGeom prst="rect">
            <a:avLst/>
          </a:prstGeom>
        </p:spPr>
      </p:pic>
      <p:sp>
        <p:nvSpPr>
          <p:cNvPr id="22" name="Text 15"/>
          <p:cNvSpPr txBox="1"/>
          <p:nvPr/>
        </p:nvSpPr>
        <p:spPr>
          <a:xfrm>
            <a:off x="1143000" y="3081528"/>
            <a:ext cx="3200400" cy="256032"/>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Try-It Concierge</a:t>
            </a:r>
            <a:endParaRPr lang="en-US" sz="1200" dirty="0"/>
          </a:p>
        </p:txBody>
      </p:sp>
      <p:sp>
        <p:nvSpPr>
          <p:cNvPr id="23" name="Text 16"/>
          <p:cNvSpPr txBox="1"/>
          <p:nvPr/>
        </p:nvSpPr>
        <p:spPr>
          <a:xfrm>
            <a:off x="1143000" y="3337560"/>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Runs the free web tool: paste a note, get a draft estimate, book a call.</a:t>
            </a:r>
            <a:endParaRPr lang="en-US" sz="950" dirty="0"/>
          </a:p>
        </p:txBody>
      </p:sp>
      <p:sp>
        <p:nvSpPr>
          <p:cNvPr id="24" name="Shape 17"/>
          <p:cNvSpPr/>
          <p:nvPr/>
        </p:nvSpPr>
        <p:spPr>
          <a:xfrm>
            <a:off x="4663440" y="3008376"/>
            <a:ext cx="4023360" cy="749808"/>
          </a:xfrm>
          <a:prstGeom prst="roundRect">
            <a:avLst>
              <a:gd name="adj" fmla="val 9756"/>
            </a:avLst>
          </a:prstGeom>
          <a:solidFill>
            <a:srgbClr val="F3F6F8"/>
          </a:solidFill>
          <a:ln w="6350">
            <a:solidFill>
              <a:srgbClr val="F3F6F8"/>
            </a:solidFill>
            <a:prstDash val="solid"/>
          </a:ln>
        </p:spPr>
      </p:sp>
      <p:pic>
        <p:nvPicPr>
          <p:cNvPr id="25" name="Image 5" descr="preencoded.png">    </p:cNvPr>
          <p:cNvPicPr>
            <a:picLocks noChangeAspect="1"/>
          </p:cNvPicPr>
          <p:nvPr/>
        </p:nvPicPr>
        <p:blipFill>
          <a:blip r:embed="rId6"/>
          <a:stretch>
            <a:fillRect/>
          </a:stretch>
        </p:blipFill>
        <p:spPr>
          <a:xfrm>
            <a:off x="4800600" y="3163824"/>
            <a:ext cx="438912" cy="438912"/>
          </a:xfrm>
          <a:prstGeom prst="rect">
            <a:avLst/>
          </a:prstGeom>
        </p:spPr>
      </p:pic>
      <p:sp>
        <p:nvSpPr>
          <p:cNvPr id="26" name="Text 18"/>
          <p:cNvSpPr txBox="1"/>
          <p:nvPr/>
        </p:nvSpPr>
        <p:spPr>
          <a:xfrm>
            <a:off x="5349240" y="3081528"/>
            <a:ext cx="3200400" cy="256032"/>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Deal Desk and Sales Engineer</a:t>
            </a:r>
            <a:endParaRPr lang="en-US" sz="1200" dirty="0"/>
          </a:p>
        </p:txBody>
      </p:sp>
      <p:sp>
        <p:nvSpPr>
          <p:cNvPr id="27" name="Text 19"/>
          <p:cNvSpPr txBox="1"/>
          <p:nvPr/>
        </p:nvSpPr>
        <p:spPr>
          <a:xfrm>
            <a:off x="5349240" y="3337560"/>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Proposal, ROI model, RFP and security answers within policy.</a:t>
            </a:r>
            <a:endParaRPr lang="en-US" sz="950" dirty="0"/>
          </a:p>
        </p:txBody>
      </p:sp>
      <p:sp>
        <p:nvSpPr>
          <p:cNvPr id="28" name="Shape 20"/>
          <p:cNvSpPr/>
          <p:nvPr/>
        </p:nvSpPr>
        <p:spPr>
          <a:xfrm>
            <a:off x="457200" y="3849624"/>
            <a:ext cx="4023360" cy="749808"/>
          </a:xfrm>
          <a:prstGeom prst="roundRect">
            <a:avLst>
              <a:gd name="adj" fmla="val 9756"/>
            </a:avLst>
          </a:prstGeom>
          <a:solidFill>
            <a:srgbClr val="F3F6F8"/>
          </a:solidFill>
          <a:ln w="6350">
            <a:solidFill>
              <a:srgbClr val="F3F6F8"/>
            </a:solidFill>
            <a:prstDash val="solid"/>
          </a:ln>
        </p:spPr>
      </p:sp>
      <p:pic>
        <p:nvPicPr>
          <p:cNvPr id="29" name="Image 6" descr="preencoded.png">    </p:cNvPr>
          <p:cNvPicPr>
            <a:picLocks noChangeAspect="1"/>
          </p:cNvPicPr>
          <p:nvPr/>
        </p:nvPicPr>
        <p:blipFill>
          <a:blip r:embed="rId7"/>
          <a:stretch>
            <a:fillRect/>
          </a:stretch>
        </p:blipFill>
        <p:spPr>
          <a:xfrm>
            <a:off x="594360" y="4005072"/>
            <a:ext cx="438912" cy="438912"/>
          </a:xfrm>
          <a:prstGeom prst="rect">
            <a:avLst/>
          </a:prstGeom>
        </p:spPr>
      </p:pic>
      <p:sp>
        <p:nvSpPr>
          <p:cNvPr id="30" name="Text 21"/>
          <p:cNvSpPr txBox="1"/>
          <p:nvPr/>
        </p:nvSpPr>
        <p:spPr>
          <a:xfrm>
            <a:off x="1143000" y="3922776"/>
            <a:ext cx="3200400" cy="256032"/>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Onboarding Agent</a:t>
            </a:r>
            <a:endParaRPr lang="en-US" sz="1200" dirty="0"/>
          </a:p>
        </p:txBody>
      </p:sp>
      <p:sp>
        <p:nvSpPr>
          <p:cNvPr id="31" name="Text 22"/>
          <p:cNvSpPr txBox="1"/>
          <p:nvPr/>
        </p:nvSpPr>
        <p:spPr>
          <a:xfrm>
            <a:off x="1143000" y="4178808"/>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Cleans and maps operation codes so day one is a real job.</a:t>
            </a:r>
            <a:endParaRPr lang="en-US" sz="950" dirty="0"/>
          </a:p>
        </p:txBody>
      </p:sp>
      <p:sp>
        <p:nvSpPr>
          <p:cNvPr id="32" name="Shape 23"/>
          <p:cNvSpPr/>
          <p:nvPr/>
        </p:nvSpPr>
        <p:spPr>
          <a:xfrm>
            <a:off x="4663440" y="3849624"/>
            <a:ext cx="4023360" cy="749808"/>
          </a:xfrm>
          <a:prstGeom prst="roundRect">
            <a:avLst>
              <a:gd name="adj" fmla="val 9756"/>
            </a:avLst>
          </a:prstGeom>
          <a:solidFill>
            <a:srgbClr val="F3F6F8"/>
          </a:solidFill>
          <a:ln w="6350">
            <a:solidFill>
              <a:srgbClr val="F3F6F8"/>
            </a:solidFill>
            <a:prstDash val="solid"/>
          </a:ln>
        </p:spPr>
      </p:sp>
      <p:pic>
        <p:nvPicPr>
          <p:cNvPr id="33" name="Image 7" descr="preencoded.png">    </p:cNvPr>
          <p:cNvPicPr>
            <a:picLocks noChangeAspect="1"/>
          </p:cNvPicPr>
          <p:nvPr/>
        </p:nvPicPr>
        <p:blipFill>
          <a:blip r:embed="rId8"/>
          <a:stretch>
            <a:fillRect/>
          </a:stretch>
        </p:blipFill>
        <p:spPr>
          <a:xfrm>
            <a:off x="4800600" y="4005072"/>
            <a:ext cx="438912" cy="438912"/>
          </a:xfrm>
          <a:prstGeom prst="rect">
            <a:avLst/>
          </a:prstGeom>
        </p:spPr>
      </p:pic>
      <p:sp>
        <p:nvSpPr>
          <p:cNvPr id="34" name="Text 24"/>
          <p:cNvSpPr txBox="1"/>
          <p:nvPr/>
        </p:nvSpPr>
        <p:spPr>
          <a:xfrm>
            <a:off x="5349240" y="3922776"/>
            <a:ext cx="3200400" cy="256032"/>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Adoption and Proof</a:t>
            </a:r>
            <a:endParaRPr lang="en-US" sz="1200" dirty="0"/>
          </a:p>
        </p:txBody>
      </p:sp>
      <p:sp>
        <p:nvSpPr>
          <p:cNvPr id="35" name="Text 25"/>
          <p:cNvSpPr txBox="1"/>
          <p:nvPr/>
        </p:nvSpPr>
        <p:spPr>
          <a:xfrm>
            <a:off x="5349240" y="4178808"/>
            <a:ext cx="3246120" cy="402336"/>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Watches edit rate and DSO, flags expansion and churn, drafts case studies.</a:t>
            </a:r>
            <a:endParaRPr lang="en-US" sz="950" dirty="0"/>
          </a:p>
        </p:txBody>
      </p:sp>
      <p:sp>
        <p:nvSpPr>
          <p:cNvPr id="36"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Packaging, channels and targets</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Every tier requires DockMaster Web and Mobile, which makes the Service Writer the migration engine</a:t>
            </a:r>
            <a:endParaRPr lang="en-US" sz="1300" dirty="0"/>
          </a:p>
        </p:txBody>
      </p:sp>
      <p:sp>
        <p:nvSpPr>
          <p:cNvPr id="4" name="Shape 2"/>
          <p:cNvSpPr/>
          <p:nvPr/>
        </p:nvSpPr>
        <p:spPr>
          <a:xfrm>
            <a:off x="457200" y="1325880"/>
            <a:ext cx="4023360" cy="658368"/>
          </a:xfrm>
          <a:prstGeom prst="roundRect">
            <a:avLst>
              <a:gd name="adj" fmla="val 11111"/>
            </a:avLst>
          </a:prstGeom>
          <a:solidFill>
            <a:srgbClr val="F3F6F8"/>
          </a:solidFill>
          <a:ln w="6350">
            <a:solidFill>
              <a:srgbClr val="F3F6F8"/>
            </a:solidFill>
            <a:prstDash val="solid"/>
          </a:ln>
        </p:spPr>
      </p:sp>
      <p:sp>
        <p:nvSpPr>
          <p:cNvPr id="5" name="Text 3"/>
          <p:cNvSpPr txBox="1"/>
          <p:nvPr/>
        </p:nvSpPr>
        <p:spPr>
          <a:xfrm>
            <a:off x="640080" y="1380744"/>
            <a:ext cx="3657600" cy="256032"/>
          </a:xfrm>
          <a:prstGeom prst="rect">
            <a:avLst/>
          </a:prstGeom>
          <a:noFill/>
          <a:ln/>
        </p:spPr>
        <p:txBody>
          <a:bodyPr wrap="square" lIns="0" tIns="0" rIns="0" bIns="0" rtlCol="0" anchor="ctr"/>
          <a:lstStyle/>
          <a:p>
            <a:pPr indent="0" marL="0">
              <a:buNone/>
            </a:pPr>
            <a:r>
              <a:rPr lang="en-US" sz="1250" b="1" dirty="0">
                <a:solidFill>
                  <a:srgbClr val="0B2545"/>
                </a:solidFill>
                <a:latin typeface="Cambria" pitchFamily="34" charset="0"/>
                <a:ea typeface="Cambria" pitchFamily="34" charset="-122"/>
                <a:cs typeface="Cambria" pitchFamily="34" charset="-120"/>
              </a:rPr>
              <a:t>Service Writer</a:t>
            </a:r>
            <a:endParaRPr lang="en-US" sz="1250" dirty="0"/>
          </a:p>
        </p:txBody>
      </p:sp>
      <p:sp>
        <p:nvSpPr>
          <p:cNvPr id="6" name="Text 4"/>
          <p:cNvSpPr txBox="1"/>
          <p:nvPr/>
        </p:nvSpPr>
        <p:spPr>
          <a:xfrm>
            <a:off x="640080" y="1636776"/>
            <a:ext cx="3657600" cy="329184"/>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Drafting, history flags, eSign handoff. Per location plus per active technician.</a:t>
            </a:r>
            <a:endParaRPr lang="en-US" sz="950" dirty="0"/>
          </a:p>
        </p:txBody>
      </p:sp>
      <p:sp>
        <p:nvSpPr>
          <p:cNvPr id="7" name="Shape 5"/>
          <p:cNvSpPr/>
          <p:nvPr/>
        </p:nvSpPr>
        <p:spPr>
          <a:xfrm>
            <a:off x="457200" y="2075688"/>
            <a:ext cx="4023360" cy="658368"/>
          </a:xfrm>
          <a:prstGeom prst="roundRect">
            <a:avLst>
              <a:gd name="adj" fmla="val 11111"/>
            </a:avLst>
          </a:prstGeom>
          <a:solidFill>
            <a:srgbClr val="F3F6F8"/>
          </a:solidFill>
          <a:ln w="6350">
            <a:solidFill>
              <a:srgbClr val="F3F6F8"/>
            </a:solidFill>
            <a:prstDash val="solid"/>
          </a:ln>
        </p:spPr>
      </p:sp>
      <p:sp>
        <p:nvSpPr>
          <p:cNvPr id="8" name="Text 6"/>
          <p:cNvSpPr txBox="1"/>
          <p:nvPr/>
        </p:nvSpPr>
        <p:spPr>
          <a:xfrm>
            <a:off x="640080" y="2130552"/>
            <a:ext cx="3657600" cy="256032"/>
          </a:xfrm>
          <a:prstGeom prst="rect">
            <a:avLst/>
          </a:prstGeom>
          <a:noFill/>
          <a:ln/>
        </p:spPr>
        <p:txBody>
          <a:bodyPr wrap="square" lIns="0" tIns="0" rIns="0" bIns="0" rtlCol="0" anchor="ctr"/>
          <a:lstStyle/>
          <a:p>
            <a:pPr indent="0" marL="0">
              <a:buNone/>
            </a:pPr>
            <a:r>
              <a:rPr lang="en-US" sz="1250" b="1" dirty="0">
                <a:solidFill>
                  <a:srgbClr val="0B2545"/>
                </a:solidFill>
                <a:latin typeface="Cambria" pitchFamily="34" charset="0"/>
                <a:ea typeface="Cambria" pitchFamily="34" charset="-122"/>
                <a:cs typeface="Cambria" pitchFamily="34" charset="-120"/>
              </a:rPr>
              <a:t>AI Service Desk</a:t>
            </a:r>
            <a:endParaRPr lang="en-US" sz="1250" dirty="0"/>
          </a:p>
        </p:txBody>
      </p:sp>
      <p:sp>
        <p:nvSpPr>
          <p:cNvPr id="9" name="Text 7"/>
          <p:cNvSpPr txBox="1"/>
          <p:nvPr/>
        </p:nvSpPr>
        <p:spPr>
          <a:xfrm>
            <a:off x="640080" y="2386584"/>
            <a:ext cx="3657600" cy="329184"/>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Adds AI Scheduling and Blu Voice. Bundle discount.</a:t>
            </a:r>
            <a:endParaRPr lang="en-US" sz="950" dirty="0"/>
          </a:p>
        </p:txBody>
      </p:sp>
      <p:sp>
        <p:nvSpPr>
          <p:cNvPr id="10" name="Shape 8"/>
          <p:cNvSpPr/>
          <p:nvPr/>
        </p:nvSpPr>
        <p:spPr>
          <a:xfrm>
            <a:off x="457200" y="2825496"/>
            <a:ext cx="4023360" cy="658368"/>
          </a:xfrm>
          <a:prstGeom prst="roundRect">
            <a:avLst>
              <a:gd name="adj" fmla="val 11111"/>
            </a:avLst>
          </a:prstGeom>
          <a:solidFill>
            <a:srgbClr val="E3F5F3"/>
          </a:solidFill>
          <a:ln w="6350">
            <a:solidFill>
              <a:srgbClr val="E3F5F3"/>
            </a:solidFill>
            <a:prstDash val="solid"/>
          </a:ln>
        </p:spPr>
      </p:sp>
      <p:sp>
        <p:nvSpPr>
          <p:cNvPr id="11" name="Text 9"/>
          <p:cNvSpPr txBox="1"/>
          <p:nvPr/>
        </p:nvSpPr>
        <p:spPr>
          <a:xfrm>
            <a:off x="640080" y="2880360"/>
            <a:ext cx="3657600" cy="256032"/>
          </a:xfrm>
          <a:prstGeom prst="rect">
            <a:avLst/>
          </a:prstGeom>
          <a:noFill/>
          <a:ln/>
        </p:spPr>
        <p:txBody>
          <a:bodyPr wrap="square" lIns="0" tIns="0" rIns="0" bIns="0" rtlCol="0" anchor="ctr"/>
          <a:lstStyle/>
          <a:p>
            <a:pPr indent="0" marL="0">
              <a:buNone/>
            </a:pPr>
            <a:r>
              <a:rPr lang="en-US" sz="1250" b="1" dirty="0">
                <a:solidFill>
                  <a:srgbClr val="0B2545"/>
                </a:solidFill>
                <a:latin typeface="Cambria" pitchFamily="34" charset="0"/>
                <a:ea typeface="Cambria" pitchFamily="34" charset="-122"/>
                <a:cs typeface="Cambria" pitchFamily="34" charset="-120"/>
              </a:rPr>
              <a:t>Revenue Suite</a:t>
            </a:r>
            <a:endParaRPr lang="en-US" sz="1250" dirty="0"/>
          </a:p>
        </p:txBody>
      </p:sp>
      <p:sp>
        <p:nvSpPr>
          <p:cNvPr id="12" name="Text 10"/>
          <p:cNvSpPr txBox="1"/>
          <p:nvPr/>
        </p:nvSpPr>
        <p:spPr>
          <a:xfrm>
            <a:off x="640080" y="3136392"/>
            <a:ext cx="3657600" cy="329184"/>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Adds proactive outreach and collections via ValPay. Payments margin subsidises price.</a:t>
            </a:r>
            <a:endParaRPr lang="en-US" sz="950" dirty="0"/>
          </a:p>
        </p:txBody>
      </p:sp>
      <p:sp>
        <p:nvSpPr>
          <p:cNvPr id="13" name="Shape 11"/>
          <p:cNvSpPr/>
          <p:nvPr/>
        </p:nvSpPr>
        <p:spPr>
          <a:xfrm>
            <a:off x="457200" y="3575304"/>
            <a:ext cx="4023360" cy="658368"/>
          </a:xfrm>
          <a:prstGeom prst="roundRect">
            <a:avLst>
              <a:gd name="adj" fmla="val 11111"/>
            </a:avLst>
          </a:prstGeom>
          <a:solidFill>
            <a:srgbClr val="F3F6F8"/>
          </a:solidFill>
          <a:ln w="6350">
            <a:solidFill>
              <a:srgbClr val="F3F6F8"/>
            </a:solidFill>
            <a:prstDash val="solid"/>
          </a:ln>
        </p:spPr>
      </p:sp>
      <p:sp>
        <p:nvSpPr>
          <p:cNvPr id="14" name="Text 12"/>
          <p:cNvSpPr txBox="1"/>
          <p:nvPr/>
        </p:nvSpPr>
        <p:spPr>
          <a:xfrm>
            <a:off x="640080" y="3630168"/>
            <a:ext cx="3657600" cy="256032"/>
          </a:xfrm>
          <a:prstGeom prst="rect">
            <a:avLst/>
          </a:prstGeom>
          <a:noFill/>
          <a:ln/>
        </p:spPr>
        <p:txBody>
          <a:bodyPr wrap="square" lIns="0" tIns="0" rIns="0" bIns="0" rtlCol="0" anchor="ctr"/>
          <a:lstStyle/>
          <a:p>
            <a:pPr indent="0" marL="0">
              <a:buNone/>
            </a:pPr>
            <a:r>
              <a:rPr lang="en-US" sz="1250" b="1" dirty="0">
                <a:solidFill>
                  <a:srgbClr val="0B2545"/>
                </a:solidFill>
                <a:latin typeface="Cambria" pitchFamily="34" charset="0"/>
                <a:ea typeface="Cambria" pitchFamily="34" charset="-122"/>
                <a:cs typeface="Cambria" pitchFamily="34" charset="-120"/>
              </a:rPr>
              <a:t>Group</a:t>
            </a:r>
            <a:endParaRPr lang="en-US" sz="1250" dirty="0"/>
          </a:p>
        </p:txBody>
      </p:sp>
      <p:sp>
        <p:nvSpPr>
          <p:cNvPr id="15" name="Text 13"/>
          <p:cNvSpPr txBox="1"/>
          <p:nvPr/>
        </p:nvSpPr>
        <p:spPr>
          <a:xfrm>
            <a:off x="640080" y="3886200"/>
            <a:ext cx="3657600" cy="329184"/>
          </a:xfrm>
          <a:prstGeom prst="rect">
            <a:avLst/>
          </a:prstGeom>
          <a:noFill/>
          <a:ln/>
        </p:spPr>
        <p:txBody>
          <a:bodyPr wrap="square" lIns="0" tIns="0" rIns="0" bIns="0" rtlCol="0" anchor="t"/>
          <a:lstStyle/>
          <a:p>
            <a:pPr indent="0" marL="0">
              <a:buNone/>
            </a:pPr>
            <a:r>
              <a:rPr lang="en-US" sz="950" dirty="0">
                <a:solidFill>
                  <a:srgbClr val="1B2430"/>
                </a:solidFill>
                <a:latin typeface="Calibri" pitchFamily="34" charset="0"/>
                <a:ea typeface="Calibri" pitchFamily="34" charset="-122"/>
                <a:cs typeface="Calibri" pitchFamily="34" charset="-120"/>
              </a:rPr>
              <a:t>Adds multi-site benchmarking. For PE-backed roll-ups.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663440" y="1325880"/>
          <a:ext cx="4023360" cy="914400"/>
        </p:xfrm>
        <a:graphic>
          <a:graphicData uri="http://schemas.openxmlformats.org/drawingml/2006/table">
            <a:tbl>
              <a:tblPr/>
              <a:tblGrid>
                <a:gridCol w="1143000"/>
                <a:gridCol w="1188720"/>
                <a:gridCol w="1691640"/>
              </a:tblGrid>
              <a:tr h="43891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Phase</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Window</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Target (assumption)</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solidFill>
                      <a:srgbClr val="0B2545"/>
                    </a:solidFill>
                  </a:tcPr>
                </a:tc>
              </a:tr>
              <a:tr h="438912">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Design partners</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Now to Oct 2026</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12 accounts on beta, 3 case studies</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r>
              <a:tr h="438912">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Base launch</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Oct 2026 to Mar 2027</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120 paying locations; ValPay attach up 15 pts</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r>
              <a:tr h="438912">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New logos</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Apr to Sep 2027</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60 new logos, 25% from the free tool</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r>
              <a:tr h="438912">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Groups and partners</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Q4 2027</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3 multi-site groups, 2 OEM co-marketing deals</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r>
              <a:tr h="438912">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Beyond ecosystem</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2028</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c>
                  <a:txBody>
                    <a:bodyPr/>
                    <a:lstStyle/>
                    <a:p>
                      <a:pPr indent="0" marL="0">
                        <a:buNone/>
                      </a:pPr>
                      <a:r>
                        <a:rPr lang="en-US" sz="900" dirty="0">
                          <a:solidFill>
                            <a:srgbClr val="1B2430"/>
                          </a:solidFill>
                          <a:latin typeface="Calibri" pitchFamily="34" charset="0"/>
                          <a:ea typeface="Calibri" pitchFamily="34" charset="-122"/>
                          <a:cs typeface="Calibri" pitchFamily="34" charset="-120"/>
                        </a:rPr>
                        <a:t>First 50 non-DockMaster shops</a:t>
                      </a:r>
                      <a:endParaRPr lang="en-US" sz="900" dirty="0">
                        <a:latin typeface="Calibri" charset="0"/>
                        <a:ea typeface="Calibri" charset="0"/>
                        <a:cs typeface="Calibri" charset="0"/>
                      </a:endParaRPr>
                    </a:p>
                  </a:txBody>
                  <a:tcPr marL="45720" marR="45720" marT="45720" marB="45720" anchor="ctr">
                    <a:lnL w="6350" cap="flat" cmpd="sng" algn="ctr">
                      <a:solidFill>
                        <a:srgbClr val="D9E0E6"/>
                      </a:solidFill>
                      <a:prstDash val="solid"/>
                      <a:round/>
                      <a:headEnd type="none" w="med" len="med"/>
                      <a:tailEnd type="none" w="med" len="med"/>
                    </a:lnL>
                    <a:lnR w="6350" cap="flat" cmpd="sng" algn="ctr">
                      <a:solidFill>
                        <a:srgbClr val="D9E0E6"/>
                      </a:solidFill>
                      <a:prstDash val="solid"/>
                      <a:round/>
                      <a:headEnd type="none" w="med" len="med"/>
                      <a:tailEnd type="none" w="med" len="med"/>
                    </a:lnR>
                    <a:lnT w="6350" cap="flat" cmpd="sng" algn="ctr">
                      <a:solidFill>
                        <a:srgbClr val="D9E0E6"/>
                      </a:solidFill>
                      <a:prstDash val="solid"/>
                      <a:round/>
                      <a:headEnd type="none" w="med" len="med"/>
                      <a:tailEnd type="none" w="med" len="med"/>
                    </a:lnT>
                    <a:lnB w="6350" cap="flat" cmpd="sng" algn="ctr">
                      <a:solidFill>
                        <a:srgbClr val="D9E0E6"/>
                      </a:solidFill>
                      <a:prstDash val="solid"/>
                      <a:round/>
                      <a:headEnd type="none" w="med" len="med"/>
                      <a:tailEnd type="none" w="med" len="med"/>
                    </a:lnB>
                  </a:tcPr>
                </a:tc>
              </a:tr>
            </a:tbl>
          </a:graphicData>
        </a:graphic>
      </p:graphicFrame>
      <p:sp>
        <p:nvSpPr>
          <p:cNvPr id="17" name="Text 14"/>
          <p:cNvSpPr txBox="1"/>
          <p:nvPr/>
        </p:nvSpPr>
        <p:spPr>
          <a:xfrm>
            <a:off x="4663440" y="4114800"/>
            <a:ext cx="4023360" cy="548640"/>
          </a:xfrm>
          <a:prstGeom prst="rect">
            <a:avLst/>
          </a:prstGeom>
          <a:noFill/>
          <a:ln/>
        </p:spPr>
        <p:txBody>
          <a:bodyPr wrap="square" lIns="0" tIns="0" rIns="0" bIns="0" rtlCol="0" anchor="t"/>
          <a:lstStyle/>
          <a:p>
            <a:pPr indent="0" marL="0">
              <a:buNone/>
            </a:pPr>
            <a:r>
              <a:rPr lang="en-US" sz="900" dirty="0">
                <a:solidFill>
                  <a:srgbClr val="5B6B7A"/>
                </a:solidFill>
                <a:latin typeface="Calibri" pitchFamily="34" charset="0"/>
                <a:ea typeface="Calibri" pitchFamily="34" charset="-122"/>
                <a:cs typeface="Calibri" pitchFamily="34" charset="-120"/>
              </a:rPr>
              <a:t>Channels: user conference (Oct 19-23), CSM-led base, free web tool, Marina Dock Age, AMI, ABYC, boat shows, engine OEM and parts distributor partners, review programme. Pricing is not public; anchors are stated as assumptions.</a:t>
            </a:r>
            <a:endParaRPr lang="en-US" sz="900" dirty="0"/>
          </a:p>
        </p:txBody>
      </p:sp>
      <p:sp>
        <p:nvSpPr>
          <p:cNvPr id="18" name="Text 1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12-month roadmap</a:t>
            </a:r>
            <a:endParaRPr lang="en-US" sz="2800" dirty="0"/>
          </a:p>
        </p:txBody>
      </p:sp>
      <p:sp>
        <p:nvSpPr>
          <p:cNvPr id="3" name="Text 1"/>
          <p:cNvSpPr txBox="1"/>
          <p:nvPr/>
        </p:nvSpPr>
        <p:spPr>
          <a:xfrm>
            <a:off x="457200" y="841248"/>
            <a:ext cx="8229600" cy="32004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October 2026 to September 2027</a:t>
            </a:r>
            <a:endParaRPr lang="en-US" sz="1300" dirty="0"/>
          </a:p>
        </p:txBody>
      </p:sp>
      <p:sp>
        <p:nvSpPr>
          <p:cNvPr id="4" name="Shape 2"/>
          <p:cNvSpPr/>
          <p:nvPr/>
        </p:nvSpPr>
        <p:spPr>
          <a:xfrm>
            <a:off x="1554480" y="1280160"/>
            <a:ext cx="1709928" cy="329184"/>
          </a:xfrm>
          <a:prstGeom prst="roundRect">
            <a:avLst>
              <a:gd name="adj" fmla="val 13889"/>
            </a:avLst>
          </a:prstGeom>
          <a:solidFill>
            <a:srgbClr val="0B2545"/>
          </a:solidFill>
          <a:ln w="12700">
            <a:solidFill>
              <a:srgbClr val="0B2545"/>
            </a:solidFill>
            <a:prstDash val="solid"/>
          </a:ln>
        </p:spPr>
      </p:sp>
      <p:sp>
        <p:nvSpPr>
          <p:cNvPr id="5" name="Text 3"/>
          <p:cNvSpPr txBox="1"/>
          <p:nvPr/>
        </p:nvSpPr>
        <p:spPr>
          <a:xfrm>
            <a:off x="1554480" y="1280160"/>
            <a:ext cx="1709928"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Q4 2026</a:t>
            </a:r>
            <a:endParaRPr lang="en-US" sz="1200" dirty="0"/>
          </a:p>
        </p:txBody>
      </p:sp>
      <p:sp>
        <p:nvSpPr>
          <p:cNvPr id="6" name="Shape 4"/>
          <p:cNvSpPr/>
          <p:nvPr/>
        </p:nvSpPr>
        <p:spPr>
          <a:xfrm>
            <a:off x="3337560" y="1280160"/>
            <a:ext cx="1709928" cy="329184"/>
          </a:xfrm>
          <a:prstGeom prst="roundRect">
            <a:avLst>
              <a:gd name="adj" fmla="val 13889"/>
            </a:avLst>
          </a:prstGeom>
          <a:solidFill>
            <a:srgbClr val="0B2545"/>
          </a:solidFill>
          <a:ln w="12700">
            <a:solidFill>
              <a:srgbClr val="0B2545"/>
            </a:solidFill>
            <a:prstDash val="solid"/>
          </a:ln>
        </p:spPr>
      </p:sp>
      <p:sp>
        <p:nvSpPr>
          <p:cNvPr id="7" name="Text 5"/>
          <p:cNvSpPr txBox="1"/>
          <p:nvPr/>
        </p:nvSpPr>
        <p:spPr>
          <a:xfrm>
            <a:off x="3337560" y="1280160"/>
            <a:ext cx="1709928"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Q1 2027</a:t>
            </a:r>
            <a:endParaRPr lang="en-US" sz="1200" dirty="0"/>
          </a:p>
        </p:txBody>
      </p:sp>
      <p:sp>
        <p:nvSpPr>
          <p:cNvPr id="8" name="Shape 6"/>
          <p:cNvSpPr/>
          <p:nvPr/>
        </p:nvSpPr>
        <p:spPr>
          <a:xfrm>
            <a:off x="5120640" y="1280160"/>
            <a:ext cx="1709928" cy="329184"/>
          </a:xfrm>
          <a:prstGeom prst="roundRect">
            <a:avLst>
              <a:gd name="adj" fmla="val 13889"/>
            </a:avLst>
          </a:prstGeom>
          <a:solidFill>
            <a:srgbClr val="0B2545"/>
          </a:solidFill>
          <a:ln w="12700">
            <a:solidFill>
              <a:srgbClr val="0B2545"/>
            </a:solidFill>
            <a:prstDash val="solid"/>
          </a:ln>
        </p:spPr>
      </p:sp>
      <p:sp>
        <p:nvSpPr>
          <p:cNvPr id="9" name="Text 7"/>
          <p:cNvSpPr txBox="1"/>
          <p:nvPr/>
        </p:nvSpPr>
        <p:spPr>
          <a:xfrm>
            <a:off x="5120640" y="1280160"/>
            <a:ext cx="1709928"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Q2 2027</a:t>
            </a:r>
            <a:endParaRPr lang="en-US" sz="1200" dirty="0"/>
          </a:p>
        </p:txBody>
      </p:sp>
      <p:sp>
        <p:nvSpPr>
          <p:cNvPr id="10" name="Shape 8"/>
          <p:cNvSpPr/>
          <p:nvPr/>
        </p:nvSpPr>
        <p:spPr>
          <a:xfrm>
            <a:off x="6903720" y="1280160"/>
            <a:ext cx="1709928" cy="329184"/>
          </a:xfrm>
          <a:prstGeom prst="roundRect">
            <a:avLst>
              <a:gd name="adj" fmla="val 13889"/>
            </a:avLst>
          </a:prstGeom>
          <a:solidFill>
            <a:srgbClr val="0B2545"/>
          </a:solidFill>
          <a:ln w="12700">
            <a:solidFill>
              <a:srgbClr val="0B2545"/>
            </a:solidFill>
            <a:prstDash val="solid"/>
          </a:ln>
        </p:spPr>
      </p:sp>
      <p:sp>
        <p:nvSpPr>
          <p:cNvPr id="11" name="Text 9"/>
          <p:cNvSpPr txBox="1"/>
          <p:nvPr/>
        </p:nvSpPr>
        <p:spPr>
          <a:xfrm>
            <a:off x="6903720" y="1280160"/>
            <a:ext cx="1709928"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Q3 2027</a:t>
            </a:r>
            <a:endParaRPr lang="en-US" sz="1200" dirty="0"/>
          </a:p>
        </p:txBody>
      </p:sp>
      <p:sp>
        <p:nvSpPr>
          <p:cNvPr id="12" name="Text 10"/>
          <p:cNvSpPr txBox="1"/>
          <p:nvPr/>
        </p:nvSpPr>
        <p:spPr>
          <a:xfrm>
            <a:off x="457200" y="1700784"/>
            <a:ext cx="1005840" cy="640080"/>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Product</a:t>
            </a:r>
            <a:endParaRPr lang="en-US" sz="1200" dirty="0"/>
          </a:p>
        </p:txBody>
      </p:sp>
      <p:sp>
        <p:nvSpPr>
          <p:cNvPr id="13" name="Shape 11"/>
          <p:cNvSpPr/>
          <p:nvPr/>
        </p:nvSpPr>
        <p:spPr>
          <a:xfrm>
            <a:off x="1554480" y="1700784"/>
            <a:ext cx="1709928" cy="640080"/>
          </a:xfrm>
          <a:prstGeom prst="roundRect">
            <a:avLst>
              <a:gd name="adj" fmla="val 11429"/>
            </a:avLst>
          </a:prstGeom>
          <a:solidFill>
            <a:srgbClr val="F3F6F8"/>
          </a:solidFill>
          <a:ln w="6350">
            <a:solidFill>
              <a:srgbClr val="F3F6F8"/>
            </a:solidFill>
            <a:prstDash val="solid"/>
          </a:ln>
        </p:spPr>
      </p:sp>
      <p:sp>
        <p:nvSpPr>
          <p:cNvPr id="14" name="Text 12"/>
          <p:cNvSpPr txBox="1"/>
          <p:nvPr/>
        </p:nvSpPr>
        <p:spPr>
          <a:xfrm>
            <a:off x="1645920" y="174650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Service Writer GA on Web 2.0. Golden sets from 12 design partners.</a:t>
            </a:r>
            <a:endParaRPr lang="en-US" sz="900" dirty="0"/>
          </a:p>
        </p:txBody>
      </p:sp>
      <p:sp>
        <p:nvSpPr>
          <p:cNvPr id="15" name="Shape 13"/>
          <p:cNvSpPr/>
          <p:nvPr/>
        </p:nvSpPr>
        <p:spPr>
          <a:xfrm>
            <a:off x="3337560" y="1700784"/>
            <a:ext cx="1709928" cy="640080"/>
          </a:xfrm>
          <a:prstGeom prst="roundRect">
            <a:avLst>
              <a:gd name="adj" fmla="val 11429"/>
            </a:avLst>
          </a:prstGeom>
          <a:solidFill>
            <a:srgbClr val="F3F6F8"/>
          </a:solidFill>
          <a:ln w="6350">
            <a:solidFill>
              <a:srgbClr val="F3F6F8"/>
            </a:solidFill>
            <a:prstDash val="solid"/>
          </a:ln>
        </p:spPr>
      </p:sp>
      <p:sp>
        <p:nvSpPr>
          <p:cNvPr id="16" name="Text 14"/>
          <p:cNvSpPr txBox="1"/>
          <p:nvPr/>
        </p:nvSpPr>
        <p:spPr>
          <a:xfrm>
            <a:off x="3429000" y="174650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Proactive demand (release 2). Onboarding agent for code cleanup.</a:t>
            </a:r>
            <a:endParaRPr lang="en-US" sz="900" dirty="0"/>
          </a:p>
        </p:txBody>
      </p:sp>
      <p:sp>
        <p:nvSpPr>
          <p:cNvPr id="17" name="Shape 15"/>
          <p:cNvSpPr/>
          <p:nvPr/>
        </p:nvSpPr>
        <p:spPr>
          <a:xfrm>
            <a:off x="5120640" y="1700784"/>
            <a:ext cx="1709928" cy="640080"/>
          </a:xfrm>
          <a:prstGeom prst="roundRect">
            <a:avLst>
              <a:gd name="adj" fmla="val 11429"/>
            </a:avLst>
          </a:prstGeom>
          <a:solidFill>
            <a:srgbClr val="F3F6F8"/>
          </a:solidFill>
          <a:ln w="6350">
            <a:solidFill>
              <a:srgbClr val="F3F6F8"/>
            </a:solidFill>
            <a:prstDash val="solid"/>
          </a:ln>
        </p:spPr>
      </p:sp>
      <p:sp>
        <p:nvSpPr>
          <p:cNvPr id="18" name="Text 16"/>
          <p:cNvSpPr txBox="1"/>
          <p:nvPr/>
        </p:nvSpPr>
        <p:spPr>
          <a:xfrm>
            <a:off x="5212080" y="174650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Collections via ValPay (release 3). Warranty claim assembly beta.</a:t>
            </a:r>
            <a:endParaRPr lang="en-US" sz="900" dirty="0"/>
          </a:p>
        </p:txBody>
      </p:sp>
      <p:sp>
        <p:nvSpPr>
          <p:cNvPr id="19" name="Shape 17"/>
          <p:cNvSpPr/>
          <p:nvPr/>
        </p:nvSpPr>
        <p:spPr>
          <a:xfrm>
            <a:off x="6903720" y="1700784"/>
            <a:ext cx="1709928" cy="640080"/>
          </a:xfrm>
          <a:prstGeom prst="roundRect">
            <a:avLst>
              <a:gd name="adj" fmla="val 11429"/>
            </a:avLst>
          </a:prstGeom>
          <a:solidFill>
            <a:srgbClr val="F3F6F8"/>
          </a:solidFill>
          <a:ln w="6350">
            <a:solidFill>
              <a:srgbClr val="F3F6F8"/>
            </a:solidFill>
            <a:prstDash val="solid"/>
          </a:ln>
        </p:spPr>
      </p:sp>
      <p:sp>
        <p:nvSpPr>
          <p:cNvPr id="20" name="Text 18"/>
          <p:cNvSpPr txBox="1"/>
          <p:nvPr/>
        </p:nvSpPr>
        <p:spPr>
          <a:xfrm>
            <a:off x="6995160" y="174650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Group benchmarking. API for third-party DMS pilots.</a:t>
            </a:r>
            <a:endParaRPr lang="en-US" sz="900" dirty="0"/>
          </a:p>
        </p:txBody>
      </p:sp>
      <p:sp>
        <p:nvSpPr>
          <p:cNvPr id="21" name="Text 19"/>
          <p:cNvSpPr txBox="1"/>
          <p:nvPr/>
        </p:nvSpPr>
        <p:spPr>
          <a:xfrm>
            <a:off x="457200" y="2432304"/>
            <a:ext cx="1005840" cy="640080"/>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Go-to-market</a:t>
            </a:r>
            <a:endParaRPr lang="en-US" sz="1200" dirty="0"/>
          </a:p>
        </p:txBody>
      </p:sp>
      <p:sp>
        <p:nvSpPr>
          <p:cNvPr id="22" name="Shape 20"/>
          <p:cNvSpPr/>
          <p:nvPr/>
        </p:nvSpPr>
        <p:spPr>
          <a:xfrm>
            <a:off x="1554480" y="2432304"/>
            <a:ext cx="1709928" cy="640080"/>
          </a:xfrm>
          <a:prstGeom prst="roundRect">
            <a:avLst>
              <a:gd name="adj" fmla="val 11429"/>
            </a:avLst>
          </a:prstGeom>
          <a:solidFill>
            <a:srgbClr val="F3F6F8"/>
          </a:solidFill>
          <a:ln w="6350">
            <a:solidFill>
              <a:srgbClr val="F3F6F8"/>
            </a:solidFill>
            <a:prstDash val="solid"/>
          </a:ln>
        </p:spPr>
      </p:sp>
      <p:sp>
        <p:nvSpPr>
          <p:cNvPr id="23" name="Text 21"/>
          <p:cNvSpPr txBox="1"/>
          <p:nvPr/>
        </p:nvSpPr>
        <p:spPr>
          <a:xfrm>
            <a:off x="1645920" y="247802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Conference launch, roadmap dot-vote, per-attendee sandboxes.</a:t>
            </a:r>
            <a:endParaRPr lang="en-US" sz="900" dirty="0"/>
          </a:p>
        </p:txBody>
      </p:sp>
      <p:sp>
        <p:nvSpPr>
          <p:cNvPr id="24" name="Shape 22"/>
          <p:cNvSpPr/>
          <p:nvPr/>
        </p:nvSpPr>
        <p:spPr>
          <a:xfrm>
            <a:off x="3337560" y="2432304"/>
            <a:ext cx="1709928" cy="640080"/>
          </a:xfrm>
          <a:prstGeom prst="roundRect">
            <a:avLst>
              <a:gd name="adj" fmla="val 11429"/>
            </a:avLst>
          </a:prstGeom>
          <a:solidFill>
            <a:srgbClr val="F3F6F8"/>
          </a:solidFill>
          <a:ln w="6350">
            <a:solidFill>
              <a:srgbClr val="F3F6F8"/>
            </a:solidFill>
            <a:prstDash val="solid"/>
          </a:ln>
        </p:spPr>
      </p:sp>
      <p:sp>
        <p:nvSpPr>
          <p:cNvPr id="25" name="Text 23"/>
          <p:cNvSpPr txBox="1"/>
          <p:nvPr/>
        </p:nvSpPr>
        <p:spPr>
          <a:xfrm>
            <a:off x="3429000" y="247802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Base conversion push before spring commissioning. Free web tool live.</a:t>
            </a:r>
            <a:endParaRPr lang="en-US" sz="900" dirty="0"/>
          </a:p>
        </p:txBody>
      </p:sp>
      <p:sp>
        <p:nvSpPr>
          <p:cNvPr id="26" name="Shape 24"/>
          <p:cNvSpPr/>
          <p:nvPr/>
        </p:nvSpPr>
        <p:spPr>
          <a:xfrm>
            <a:off x="5120640" y="2432304"/>
            <a:ext cx="1709928" cy="640080"/>
          </a:xfrm>
          <a:prstGeom prst="roundRect">
            <a:avLst>
              <a:gd name="adj" fmla="val 11429"/>
            </a:avLst>
          </a:prstGeom>
          <a:solidFill>
            <a:srgbClr val="F3F6F8"/>
          </a:solidFill>
          <a:ln w="6350">
            <a:solidFill>
              <a:srgbClr val="F3F6F8"/>
            </a:solidFill>
            <a:prstDash val="solid"/>
          </a:ln>
        </p:spPr>
      </p:sp>
      <p:sp>
        <p:nvSpPr>
          <p:cNvPr id="27" name="Text 25"/>
          <p:cNvSpPr txBox="1"/>
          <p:nvPr/>
        </p:nvSpPr>
        <p:spPr>
          <a:xfrm>
            <a:off x="5212080" y="247802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New-logo motion vs Molo and MarinaOffice. Boat show season.</a:t>
            </a:r>
            <a:endParaRPr lang="en-US" sz="900" dirty="0"/>
          </a:p>
        </p:txBody>
      </p:sp>
      <p:sp>
        <p:nvSpPr>
          <p:cNvPr id="28" name="Shape 26"/>
          <p:cNvSpPr/>
          <p:nvPr/>
        </p:nvSpPr>
        <p:spPr>
          <a:xfrm>
            <a:off x="6903720" y="2432304"/>
            <a:ext cx="1709928" cy="640080"/>
          </a:xfrm>
          <a:prstGeom prst="roundRect">
            <a:avLst>
              <a:gd name="adj" fmla="val 11429"/>
            </a:avLst>
          </a:prstGeom>
          <a:solidFill>
            <a:srgbClr val="F3F6F8"/>
          </a:solidFill>
          <a:ln w="6350">
            <a:solidFill>
              <a:srgbClr val="F3F6F8"/>
            </a:solidFill>
            <a:prstDash val="solid"/>
          </a:ln>
        </p:spPr>
      </p:sp>
      <p:sp>
        <p:nvSpPr>
          <p:cNvPr id="29" name="Text 27"/>
          <p:cNvSpPr txBox="1"/>
          <p:nvPr/>
        </p:nvSpPr>
        <p:spPr>
          <a:xfrm>
            <a:off x="6995160" y="247802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Group and OEM partner deals. Standalone product validation.</a:t>
            </a:r>
            <a:endParaRPr lang="en-US" sz="900" dirty="0"/>
          </a:p>
        </p:txBody>
      </p:sp>
      <p:sp>
        <p:nvSpPr>
          <p:cNvPr id="30" name="Text 28"/>
          <p:cNvSpPr txBox="1"/>
          <p:nvPr/>
        </p:nvSpPr>
        <p:spPr>
          <a:xfrm>
            <a:off x="457200" y="3163824"/>
            <a:ext cx="1005840" cy="640080"/>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Agents</a:t>
            </a:r>
            <a:endParaRPr lang="en-US" sz="1200" dirty="0"/>
          </a:p>
        </p:txBody>
      </p:sp>
      <p:sp>
        <p:nvSpPr>
          <p:cNvPr id="31" name="Shape 29"/>
          <p:cNvSpPr/>
          <p:nvPr/>
        </p:nvSpPr>
        <p:spPr>
          <a:xfrm>
            <a:off x="1554480" y="3163824"/>
            <a:ext cx="1709928" cy="640080"/>
          </a:xfrm>
          <a:prstGeom prst="roundRect">
            <a:avLst>
              <a:gd name="adj" fmla="val 11429"/>
            </a:avLst>
          </a:prstGeom>
          <a:solidFill>
            <a:srgbClr val="F3F6F8"/>
          </a:solidFill>
          <a:ln w="6350">
            <a:solidFill>
              <a:srgbClr val="F3F6F8"/>
            </a:solidFill>
            <a:prstDash val="solid"/>
          </a:ln>
        </p:spPr>
      </p:sp>
      <p:sp>
        <p:nvSpPr>
          <p:cNvPr id="32" name="Text 30"/>
          <p:cNvSpPr txBox="1"/>
          <p:nvPr/>
        </p:nvSpPr>
        <p:spPr>
          <a:xfrm>
            <a:off x="1645920" y="320954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Scout, Researcher, Sequencer and review queue live.</a:t>
            </a:r>
            <a:endParaRPr lang="en-US" sz="900" dirty="0"/>
          </a:p>
        </p:txBody>
      </p:sp>
      <p:sp>
        <p:nvSpPr>
          <p:cNvPr id="33" name="Shape 31"/>
          <p:cNvSpPr/>
          <p:nvPr/>
        </p:nvSpPr>
        <p:spPr>
          <a:xfrm>
            <a:off x="3337560" y="3163824"/>
            <a:ext cx="1709928" cy="640080"/>
          </a:xfrm>
          <a:prstGeom prst="roundRect">
            <a:avLst>
              <a:gd name="adj" fmla="val 11429"/>
            </a:avLst>
          </a:prstGeom>
          <a:solidFill>
            <a:srgbClr val="F3F6F8"/>
          </a:solidFill>
          <a:ln w="6350">
            <a:solidFill>
              <a:srgbClr val="F3F6F8"/>
            </a:solidFill>
            <a:prstDash val="solid"/>
          </a:ln>
        </p:spPr>
      </p:sp>
      <p:sp>
        <p:nvSpPr>
          <p:cNvPr id="34" name="Text 32"/>
          <p:cNvSpPr txBox="1"/>
          <p:nvPr/>
        </p:nvSpPr>
        <p:spPr>
          <a:xfrm>
            <a:off x="3429000" y="320954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Demo Builder, Try-It Concierge, Deal Desk.</a:t>
            </a:r>
            <a:endParaRPr lang="en-US" sz="900" dirty="0"/>
          </a:p>
        </p:txBody>
      </p:sp>
      <p:sp>
        <p:nvSpPr>
          <p:cNvPr id="35" name="Shape 33"/>
          <p:cNvSpPr/>
          <p:nvPr/>
        </p:nvSpPr>
        <p:spPr>
          <a:xfrm>
            <a:off x="5120640" y="3163824"/>
            <a:ext cx="1709928" cy="640080"/>
          </a:xfrm>
          <a:prstGeom prst="roundRect">
            <a:avLst>
              <a:gd name="adj" fmla="val 11429"/>
            </a:avLst>
          </a:prstGeom>
          <a:solidFill>
            <a:srgbClr val="F3F6F8"/>
          </a:solidFill>
          <a:ln w="6350">
            <a:solidFill>
              <a:srgbClr val="F3F6F8"/>
            </a:solidFill>
            <a:prstDash val="solid"/>
          </a:ln>
        </p:spPr>
      </p:sp>
      <p:sp>
        <p:nvSpPr>
          <p:cNvPr id="36" name="Text 34"/>
          <p:cNvSpPr txBox="1"/>
          <p:nvPr/>
        </p:nvSpPr>
        <p:spPr>
          <a:xfrm>
            <a:off x="5212080" y="320954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Adoption, Proof and Voice of Customer agents.</a:t>
            </a:r>
            <a:endParaRPr lang="en-US" sz="900" dirty="0"/>
          </a:p>
        </p:txBody>
      </p:sp>
      <p:sp>
        <p:nvSpPr>
          <p:cNvPr id="37" name="Shape 35"/>
          <p:cNvSpPr/>
          <p:nvPr/>
        </p:nvSpPr>
        <p:spPr>
          <a:xfrm>
            <a:off x="6903720" y="3163824"/>
            <a:ext cx="1709928" cy="640080"/>
          </a:xfrm>
          <a:prstGeom prst="roundRect">
            <a:avLst>
              <a:gd name="adj" fmla="val 11429"/>
            </a:avLst>
          </a:prstGeom>
          <a:solidFill>
            <a:srgbClr val="F3F6F8"/>
          </a:solidFill>
          <a:ln w="6350">
            <a:solidFill>
              <a:srgbClr val="F3F6F8"/>
            </a:solidFill>
            <a:prstDash val="solid"/>
          </a:ln>
        </p:spPr>
      </p:sp>
      <p:sp>
        <p:nvSpPr>
          <p:cNvPr id="38" name="Text 36"/>
          <p:cNvSpPr txBox="1"/>
          <p:nvPr/>
        </p:nvSpPr>
        <p:spPr>
          <a:xfrm>
            <a:off x="6995160" y="320954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Partner agent. Weekly edit-rate reviews retire weak prompts.</a:t>
            </a:r>
            <a:endParaRPr lang="en-US" sz="900" dirty="0"/>
          </a:p>
        </p:txBody>
      </p:sp>
      <p:sp>
        <p:nvSpPr>
          <p:cNvPr id="39" name="Text 37"/>
          <p:cNvSpPr txBox="1"/>
          <p:nvPr/>
        </p:nvSpPr>
        <p:spPr>
          <a:xfrm>
            <a:off x="457200" y="3895344"/>
            <a:ext cx="1005840" cy="640080"/>
          </a:xfrm>
          <a:prstGeom prst="rect">
            <a:avLst/>
          </a:prstGeom>
          <a:noFill/>
          <a:ln/>
        </p:spPr>
        <p:txBody>
          <a:bodyPr wrap="square" lIns="0" tIns="0" rIns="0" bIns="0" rtlCol="0" anchor="ctr"/>
          <a:lstStyle/>
          <a:p>
            <a:pPr indent="0" marL="0">
              <a:buNone/>
            </a:pPr>
            <a:r>
              <a:rPr lang="en-US" sz="1200" b="1" dirty="0">
                <a:solidFill>
                  <a:srgbClr val="0B2545"/>
                </a:solidFill>
                <a:latin typeface="Cambria" pitchFamily="34" charset="0"/>
                <a:ea typeface="Cambria" pitchFamily="34" charset="-122"/>
                <a:cs typeface="Cambria" pitchFamily="34" charset="-120"/>
              </a:rPr>
              <a:t>Milestones</a:t>
            </a:r>
            <a:endParaRPr lang="en-US" sz="1200" dirty="0"/>
          </a:p>
        </p:txBody>
      </p:sp>
      <p:sp>
        <p:nvSpPr>
          <p:cNvPr id="40" name="Shape 38"/>
          <p:cNvSpPr/>
          <p:nvPr/>
        </p:nvSpPr>
        <p:spPr>
          <a:xfrm>
            <a:off x="1554480" y="3895344"/>
            <a:ext cx="1709928" cy="640080"/>
          </a:xfrm>
          <a:prstGeom prst="roundRect">
            <a:avLst>
              <a:gd name="adj" fmla="val 11429"/>
            </a:avLst>
          </a:prstGeom>
          <a:solidFill>
            <a:srgbClr val="E3F5F3"/>
          </a:solidFill>
          <a:ln w="6350">
            <a:solidFill>
              <a:srgbClr val="E3F5F3"/>
            </a:solidFill>
            <a:prstDash val="solid"/>
          </a:ln>
        </p:spPr>
      </p:sp>
      <p:sp>
        <p:nvSpPr>
          <p:cNvPr id="41" name="Text 39"/>
          <p:cNvSpPr txBox="1"/>
          <p:nvPr/>
        </p:nvSpPr>
        <p:spPr>
          <a:xfrm>
            <a:off x="1645920" y="394106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12 design partners, 3 case studies.</a:t>
            </a:r>
            <a:endParaRPr lang="en-US" sz="900" dirty="0"/>
          </a:p>
        </p:txBody>
      </p:sp>
      <p:sp>
        <p:nvSpPr>
          <p:cNvPr id="42" name="Shape 40"/>
          <p:cNvSpPr/>
          <p:nvPr/>
        </p:nvSpPr>
        <p:spPr>
          <a:xfrm>
            <a:off x="3337560" y="3895344"/>
            <a:ext cx="1709928" cy="640080"/>
          </a:xfrm>
          <a:prstGeom prst="roundRect">
            <a:avLst>
              <a:gd name="adj" fmla="val 11429"/>
            </a:avLst>
          </a:prstGeom>
          <a:solidFill>
            <a:srgbClr val="E3F5F3"/>
          </a:solidFill>
          <a:ln w="6350">
            <a:solidFill>
              <a:srgbClr val="E3F5F3"/>
            </a:solidFill>
            <a:prstDash val="solid"/>
          </a:ln>
        </p:spPr>
      </p:sp>
      <p:sp>
        <p:nvSpPr>
          <p:cNvPr id="43" name="Text 41"/>
          <p:cNvSpPr txBox="1"/>
          <p:nvPr/>
        </p:nvSpPr>
        <p:spPr>
          <a:xfrm>
            <a:off x="3429000" y="394106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120 paying locations. ValPay attach up.</a:t>
            </a:r>
            <a:endParaRPr lang="en-US" sz="900" dirty="0"/>
          </a:p>
        </p:txBody>
      </p:sp>
      <p:sp>
        <p:nvSpPr>
          <p:cNvPr id="44" name="Shape 42"/>
          <p:cNvSpPr/>
          <p:nvPr/>
        </p:nvSpPr>
        <p:spPr>
          <a:xfrm>
            <a:off x="5120640" y="3895344"/>
            <a:ext cx="1709928" cy="640080"/>
          </a:xfrm>
          <a:prstGeom prst="roundRect">
            <a:avLst>
              <a:gd name="adj" fmla="val 11429"/>
            </a:avLst>
          </a:prstGeom>
          <a:solidFill>
            <a:srgbClr val="E3F5F3"/>
          </a:solidFill>
          <a:ln w="6350">
            <a:solidFill>
              <a:srgbClr val="E3F5F3"/>
            </a:solidFill>
            <a:prstDash val="solid"/>
          </a:ln>
        </p:spPr>
      </p:sp>
      <p:sp>
        <p:nvSpPr>
          <p:cNvPr id="45" name="Text 43"/>
          <p:cNvSpPr txBox="1"/>
          <p:nvPr/>
        </p:nvSpPr>
        <p:spPr>
          <a:xfrm>
            <a:off x="5212080" y="394106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60 new logos. Capterra rating lift.</a:t>
            </a:r>
            <a:endParaRPr lang="en-US" sz="900" dirty="0"/>
          </a:p>
        </p:txBody>
      </p:sp>
      <p:sp>
        <p:nvSpPr>
          <p:cNvPr id="46" name="Shape 44"/>
          <p:cNvSpPr/>
          <p:nvPr/>
        </p:nvSpPr>
        <p:spPr>
          <a:xfrm>
            <a:off x="6903720" y="3895344"/>
            <a:ext cx="1709928" cy="640080"/>
          </a:xfrm>
          <a:prstGeom prst="roundRect">
            <a:avLst>
              <a:gd name="adj" fmla="val 11429"/>
            </a:avLst>
          </a:prstGeom>
          <a:solidFill>
            <a:srgbClr val="E3F5F3"/>
          </a:solidFill>
          <a:ln w="6350">
            <a:solidFill>
              <a:srgbClr val="E3F5F3"/>
            </a:solidFill>
            <a:prstDash val="solid"/>
          </a:ln>
        </p:spPr>
      </p:sp>
      <p:sp>
        <p:nvSpPr>
          <p:cNvPr id="47" name="Text 45"/>
          <p:cNvSpPr txBox="1"/>
          <p:nvPr/>
        </p:nvSpPr>
        <p:spPr>
          <a:xfrm>
            <a:off x="6995160" y="3941064"/>
            <a:ext cx="1527048" cy="548640"/>
          </a:xfrm>
          <a:prstGeom prst="rect">
            <a:avLst/>
          </a:prstGeom>
          <a:noFill/>
          <a:ln/>
        </p:spPr>
        <p:txBody>
          <a:bodyPr wrap="square" lIns="0" tIns="0" rIns="0" bIns="0" rtlCol="0" anchor="t"/>
          <a:lstStyle/>
          <a:p>
            <a:pPr indent="0" marL="0">
              <a:buNone/>
            </a:pPr>
            <a:r>
              <a:rPr lang="en-US" sz="900" dirty="0">
                <a:solidFill>
                  <a:srgbClr val="1B2430"/>
                </a:solidFill>
                <a:latin typeface="Calibri" pitchFamily="34" charset="0"/>
                <a:ea typeface="Calibri" pitchFamily="34" charset="-122"/>
                <a:cs typeface="Calibri" pitchFamily="34" charset="-120"/>
              </a:rPr>
              <a:t>3 groups signed. Phase 4 go / no-go.</a:t>
            </a:r>
            <a:endParaRPr lang="en-US" sz="900" dirty="0"/>
          </a:p>
        </p:txBody>
      </p:sp>
      <p:sp>
        <p:nvSpPr>
          <p:cNvPr id="48" name="Text 4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ctr"/>
          <a:lstStyle/>
          <a:p>
            <a:pPr indent="0" marL="0">
              <a:buNone/>
            </a:pPr>
            <a:r>
              <a:rPr lang="en-US" sz="2800" b="1" dirty="0">
                <a:solidFill>
                  <a:srgbClr val="0B2545"/>
                </a:solidFill>
                <a:latin typeface="Cambria" pitchFamily="34" charset="0"/>
                <a:ea typeface="Cambria" pitchFamily="34" charset="-122"/>
                <a:cs typeface="Cambria" pitchFamily="34" charset="-120"/>
              </a:rPr>
              <a:t>Risks, and what I would need from Valsoft</a:t>
            </a:r>
            <a:endParaRPr lang="en-US" sz="2800" dirty="0"/>
          </a:p>
        </p:txBody>
      </p:sp>
      <p:sp>
        <p:nvSpPr>
          <p:cNvPr id="3" name="Shape 1"/>
          <p:cNvSpPr/>
          <p:nvPr/>
        </p:nvSpPr>
        <p:spPr>
          <a:xfrm>
            <a:off x="457200" y="1097280"/>
            <a:ext cx="4023360" cy="3520440"/>
          </a:xfrm>
          <a:prstGeom prst="roundRect">
            <a:avLst>
              <a:gd name="adj" fmla="val 2078"/>
            </a:avLst>
          </a:prstGeom>
          <a:solidFill>
            <a:srgbClr val="F3F6F8"/>
          </a:solidFill>
          <a:ln w="6350">
            <a:solidFill>
              <a:srgbClr val="F3F6F8"/>
            </a:solidFill>
            <a:prstDash val="solid"/>
          </a:ln>
        </p:spPr>
      </p:sp>
      <p:pic>
        <p:nvPicPr>
          <p:cNvPr id="4" name="Image 0" descr="preencoded.png">    </p:cNvPr>
          <p:cNvPicPr>
            <a:picLocks noChangeAspect="1"/>
          </p:cNvPicPr>
          <p:nvPr/>
        </p:nvPicPr>
        <p:blipFill>
          <a:blip r:embed="rId1"/>
          <a:stretch>
            <a:fillRect/>
          </a:stretch>
        </p:blipFill>
        <p:spPr>
          <a:xfrm>
            <a:off x="640080" y="1234440"/>
            <a:ext cx="411480" cy="411480"/>
          </a:xfrm>
          <a:prstGeom prst="rect">
            <a:avLst/>
          </a:prstGeom>
        </p:spPr>
      </p:pic>
      <p:sp>
        <p:nvSpPr>
          <p:cNvPr id="5" name="Text 2"/>
          <p:cNvSpPr txBox="1"/>
          <p:nvPr/>
        </p:nvSpPr>
        <p:spPr>
          <a:xfrm>
            <a:off x="1143000" y="1252728"/>
            <a:ext cx="2743200" cy="365760"/>
          </a:xfrm>
          <a:prstGeom prst="rect">
            <a:avLst/>
          </a:prstGeom>
          <a:noFill/>
          <a:ln/>
        </p:spPr>
        <p:txBody>
          <a:bodyPr wrap="square" lIns="0" tIns="0" rIns="0" bIns="0" rtlCol="0" anchor="ctr"/>
          <a:lstStyle/>
          <a:p>
            <a:pPr indent="0" marL="0">
              <a:buNone/>
            </a:pPr>
            <a:r>
              <a:rPr lang="en-US" sz="1500" b="1" dirty="0">
                <a:solidFill>
                  <a:srgbClr val="0B2545"/>
                </a:solidFill>
                <a:latin typeface="Cambria" pitchFamily="34" charset="0"/>
                <a:ea typeface="Cambria" pitchFamily="34" charset="-122"/>
                <a:cs typeface="Cambria" pitchFamily="34" charset="-120"/>
              </a:rPr>
              <a:t>Risks and mitigations</a:t>
            </a:r>
            <a:endParaRPr lang="en-US" sz="1500" dirty="0"/>
          </a:p>
        </p:txBody>
      </p:sp>
      <p:sp>
        <p:nvSpPr>
          <p:cNvPr id="6" name="Text 3"/>
          <p:cNvSpPr txBox="1"/>
          <p:nvPr/>
        </p:nvSpPr>
        <p:spPr>
          <a:xfrm>
            <a:off x="640080" y="1737360"/>
            <a:ext cx="3657600" cy="283464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Using account data to sell to the account: consent first, deliver the report as free value, anonymise benchmarks.</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Legacy Desktop data quality: start with Web 2.0 accounts; onboarding agent cleans codes.</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Seasonal, conservative buyers: human-in-the-loop by default; launch in shoulder months.</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BluSynq boundary: Blu owns the conversation, Service Writer owns the job record; expose it to Blu via API.</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Over-automation on a 40-year brand: the human-send rule is non-negotiable.</a:t>
            </a:r>
            <a:endParaRPr lang="en-US" sz="1050" dirty="0"/>
          </a:p>
        </p:txBody>
      </p:sp>
      <p:sp>
        <p:nvSpPr>
          <p:cNvPr id="7" name="Shape 4"/>
          <p:cNvSpPr/>
          <p:nvPr/>
        </p:nvSpPr>
        <p:spPr>
          <a:xfrm>
            <a:off x="4663440" y="1097280"/>
            <a:ext cx="4023360" cy="3520440"/>
          </a:xfrm>
          <a:prstGeom prst="roundRect">
            <a:avLst>
              <a:gd name="adj" fmla="val 2078"/>
            </a:avLst>
          </a:prstGeom>
          <a:solidFill>
            <a:srgbClr val="E3F5F3"/>
          </a:solidFill>
          <a:ln w="6350">
            <a:solidFill>
              <a:srgbClr val="E3F5F3"/>
            </a:solidFill>
            <a:prstDash val="solid"/>
          </a:ln>
        </p:spPr>
      </p:sp>
      <p:pic>
        <p:nvPicPr>
          <p:cNvPr id="8" name="Image 1" descr="preencoded.png">    </p:cNvPr>
          <p:cNvPicPr>
            <a:picLocks noChangeAspect="1"/>
          </p:cNvPicPr>
          <p:nvPr/>
        </p:nvPicPr>
        <p:blipFill>
          <a:blip r:embed="rId2"/>
          <a:stretch>
            <a:fillRect/>
          </a:stretch>
        </p:blipFill>
        <p:spPr>
          <a:xfrm>
            <a:off x="4846320" y="1234440"/>
            <a:ext cx="411480" cy="411480"/>
          </a:xfrm>
          <a:prstGeom prst="rect">
            <a:avLst/>
          </a:prstGeom>
        </p:spPr>
      </p:pic>
      <p:sp>
        <p:nvSpPr>
          <p:cNvPr id="9" name="Text 5"/>
          <p:cNvSpPr txBox="1"/>
          <p:nvPr/>
        </p:nvSpPr>
        <p:spPr>
          <a:xfrm>
            <a:off x="5349240" y="1252728"/>
            <a:ext cx="3108960" cy="365760"/>
          </a:xfrm>
          <a:prstGeom prst="rect">
            <a:avLst/>
          </a:prstGeom>
          <a:noFill/>
          <a:ln/>
        </p:spPr>
        <p:txBody>
          <a:bodyPr wrap="square" lIns="0" tIns="0" rIns="0" bIns="0" rtlCol="0" anchor="ctr"/>
          <a:lstStyle/>
          <a:p>
            <a:pPr indent="0" marL="0">
              <a:buNone/>
            </a:pPr>
            <a:r>
              <a:rPr lang="en-US" sz="1500" b="1" dirty="0">
                <a:solidFill>
                  <a:srgbClr val="0B2545"/>
                </a:solidFill>
                <a:latin typeface="Cambria" pitchFamily="34" charset="0"/>
                <a:ea typeface="Cambria" pitchFamily="34" charset="-122"/>
                <a:cs typeface="Cambria" pitchFamily="34" charset="-120"/>
              </a:rPr>
              <a:t>Questions and assumptions</a:t>
            </a:r>
            <a:endParaRPr lang="en-US" sz="1500" dirty="0"/>
          </a:p>
        </p:txBody>
      </p:sp>
      <p:sp>
        <p:nvSpPr>
          <p:cNvPr id="10" name="Text 6"/>
          <p:cNvSpPr txBox="1"/>
          <p:nvPr/>
        </p:nvSpPr>
        <p:spPr>
          <a:xfrm>
            <a:off x="4846320" y="1737360"/>
            <a:ext cx="3657600" cy="283464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Desktop-only vs Web 2.0 vs Mobile adoption across the 1,000+ base</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Current ARPA and ValPay attach rate; how AI Labs and the portfolio company split build and P&amp;L</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Scope of the BluSynq partnership and whether Valsoft intends to own that layer</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Access to anonymised work-order data for a real evaluation</a:t>
            </a:r>
            <a:endParaRPr lang="en-US" sz="1050" dirty="0"/>
          </a:p>
          <a:p>
            <a:pPr marL="152400" indent="-152400">
              <a:spcAft>
                <a:spcPts val="600"/>
              </a:spcAft>
              <a:buSzPct val="100000"/>
              <a:buChar char="•"/>
            </a:pPr>
            <a:r>
              <a:rPr lang="en-US" sz="1050" dirty="0">
                <a:solidFill>
                  <a:srgbClr val="1B2430"/>
                </a:solidFill>
                <a:latin typeface="Calibri" pitchFamily="34" charset="0"/>
                <a:ea typeface="Calibri" pitchFamily="34" charset="-122"/>
                <a:cs typeface="Calibri" pitchFamily="34" charset="-120"/>
              </a:rPr>
              <a:t>Pricing anchors and phase targets in this deck are assumptions to be sized against those numbers</a:t>
            </a:r>
            <a:endParaRPr lang="en-US" sz="1050" dirty="0"/>
          </a:p>
        </p:txBody>
      </p:sp>
      <p:sp>
        <p:nvSpPr>
          <p:cNvPr id="11" name="Text 7"/>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800" dirty="0">
                <a:solidFill>
                  <a:srgbClr val="9AA6B2"/>
                </a:solidFill>
                <a:latin typeface="Calibri" pitchFamily="34" charset="0"/>
                <a:ea typeface="Calibri" pitchFamily="34" charset="-122"/>
                <a:cs typeface="Calibri" pitchFamily="34" charset="-120"/>
              </a:rPr>
              <a:t>DockMaster AI opportunity  |  Valsoft AI Venture Builder case  |  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2545"/>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40080"/>
            <a:ext cx="548640" cy="548640"/>
          </a:xfrm>
          <a:prstGeom prst="rect">
            <a:avLst/>
          </a:prstGeom>
        </p:spPr>
      </p:pic>
      <p:sp>
        <p:nvSpPr>
          <p:cNvPr id="3" name="Text 0"/>
          <p:cNvSpPr txBox="1"/>
          <p:nvPr/>
        </p:nvSpPr>
        <p:spPr>
          <a:xfrm>
            <a:off x="548640" y="1463040"/>
            <a:ext cx="8046720" cy="10972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Write it faster. Find more of it. Collect it sooner.</a:t>
            </a:r>
            <a:endParaRPr lang="en-US" sz="3400" dirty="0"/>
          </a:p>
        </p:txBody>
      </p:sp>
      <p:sp>
        <p:nvSpPr>
          <p:cNvPr id="4" name="Text 1"/>
          <p:cNvSpPr txBox="1"/>
          <p:nvPr/>
        </p:nvSpPr>
        <p:spPr>
          <a:xfrm>
            <a:off x="548640" y="2651760"/>
            <a:ext cx="7772400" cy="822960"/>
          </a:xfrm>
          <a:prstGeom prst="rect">
            <a:avLst/>
          </a:prstGeom>
          <a:noFill/>
          <a:ln/>
        </p:spPr>
        <p:txBody>
          <a:bodyPr wrap="square" lIns="0" tIns="0" rIns="0" bIns="0" rtlCol="0" anchor="ctr"/>
          <a:lstStyle/>
          <a:p>
            <a:pPr indent="0" marL="0">
              <a:buNone/>
            </a:pPr>
            <a:r>
              <a:rPr lang="en-US" sz="1500" dirty="0">
                <a:solidFill>
                  <a:srgbClr val="BFE9E5"/>
                </a:solidFill>
                <a:latin typeface="Calibri" pitchFamily="34" charset="0"/>
                <a:ea typeface="Calibri" pitchFamily="34" charset="-122"/>
                <a:cs typeface="Calibri" pitchFamily="34" charset="-120"/>
              </a:rPr>
              <a:t>The Service Writer turns DockMaster's 40 years of service data into revenue for its customers, migration to Web for the business, and a standalone product for Valsoft.</a:t>
            </a:r>
            <a:endParaRPr lang="en-US" sz="1500" dirty="0"/>
          </a:p>
        </p:txBody>
      </p:sp>
      <p:sp>
        <p:nvSpPr>
          <p:cNvPr id="5" name="Text 2"/>
          <p:cNvSpPr txBox="1"/>
          <p:nvPr/>
        </p:nvSpPr>
        <p:spPr>
          <a:xfrm>
            <a:off x="548640" y="3931920"/>
            <a:ext cx="7772400" cy="320040"/>
          </a:xfrm>
          <a:prstGeom prst="rect">
            <a:avLst/>
          </a:prstGeom>
          <a:noFill/>
          <a:ln/>
        </p:spPr>
        <p:txBody>
          <a:bodyPr wrap="square" lIns="0" tIns="0" rIns="0" bIns="0" rtlCol="0" anchor="ctr"/>
          <a:lstStyle/>
          <a:p>
            <a:pPr indent="0" marL="0">
              <a:buNone/>
            </a:pPr>
            <a:r>
              <a:rPr lang="en-US" sz="1200" dirty="0">
                <a:solidFill>
                  <a:srgbClr val="AAB8C8"/>
                </a:solidFill>
                <a:latin typeface="Calibri" pitchFamily="34" charset="0"/>
                <a:ea typeface="Calibri" pitchFamily="34" charset="-122"/>
                <a:cs typeface="Calibri" pitchFamily="34" charset="-120"/>
              </a:rPr>
              <a:t>Prototype demo, build spec and full GTM plan available on request.  |  Scott Anderson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Opportunities at DockMaster</dc:title>
  <dc:subject>PptxGenJS Presentation</dc:subject>
  <dc:creator>Scott Anderson</dc:creator>
  <cp:lastModifiedBy>Scott Anderson</cp:lastModifiedBy>
  <cp:revision>1</cp:revision>
  <dcterms:created xsi:type="dcterms:W3CDTF">2026-09-22T11:25:49Z</dcterms:created>
  <dcterms:modified xsi:type="dcterms:W3CDTF">2026-09-22T11:25:49Z</dcterms:modified>
</cp:coreProperties>
</file>