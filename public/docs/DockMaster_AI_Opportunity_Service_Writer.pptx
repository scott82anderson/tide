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Score</c:v>
                </c:pt>
              </c:strCache>
            </c:strRef>
          </c:tx>
          <c:spPr>
            <a:solidFill>
              <a:srgbClr val="13A89E"/>
            </a:solidFill>
            <a:effectLst/>
          </c:spPr>
          <c:invertIfNegative val="0"/>
          <c:dLbls>
            <c:numFmt formatCode="#,##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cat>
            <c:multiLvlStrRef>
              <c:f>Sheet1!$A$2:$A$9</c:f>
              <c:multiLvlStrCache>
                <c:ptCount val="8"/>
                <c:lvl>
                  <c:pt idx="0">
                    <c:v>AI Service Writer</c:v>
                  </c:pt>
                  <c:pt idx="1">
                    <c:v>Proactive service demand</c:v>
                  </c:pt>
                  <c:pt idx="2">
                    <c:v>AR collections agent (ValPay)</c:v>
                  </c:pt>
                  <c:pt idx="3">
                    <c:v>Parts demand forecasting</c:v>
                  </c:pt>
                  <c:pt idx="4">
                    <c:v>Ask DockMaster reporting</c:v>
                  </c:pt>
                  <c:pt idx="5">
                    <c:v>Warranty claim assembly</c:v>
                  </c:pt>
                  <c:pt idx="6">
                    <c:v>Slip yield / dynamic pricing</c:v>
                  </c:pt>
                  <c:pt idx="7">
                    <c:v>Boat-owner service chat</c:v>
                  </c:pt>
                </c:lvl>
              </c:multiLvlStrCache>
            </c:multiLvlStrRef>
          </c:cat>
          <c:val>
            <c:numRef>
              <c:f>Sheet1!$B$2:$B$9</c:f>
              <c:numCache>
                <c:formatCode>General</c:formatCode>
                <c:ptCount val="8"/>
                <c:pt idx="0">
                  <c:v>24</c:v>
                </c:pt>
                <c:pt idx="1">
                  <c:v>22</c:v>
                </c:pt>
                <c:pt idx="2">
                  <c:v>21</c:v>
                </c:pt>
                <c:pt idx="3">
                  <c:v>18</c:v>
                </c:pt>
                <c:pt idx="4">
                  <c:v>17</c:v>
                </c:pt>
                <c:pt idx="5">
                  <c:v>17</c:v>
                </c:pt>
                <c:pt idx="6">
                  <c:v>13</c:v>
                </c:pt>
                <c:pt idx="7">
                  <c:v>12</c:v>
                </c:pt>
              </c:numCache>
            </c:numRef>
          </c:val>
        </c:ser>
        <c:dLbls>
          <c:numFmt formatCode="#,##0" sourceLinked="0"/>
          <c:txPr>
            <a:bodyPr/>
            <a:lstStyle/>
            <a:p>
              <a:pPr>
                <a:defRPr b="0" i="0" strike="noStrike" sz="1000" u="none">
                  <a:solidFill>
                    <a:srgbClr val="1B2430"/>
                  </a:solidFill>
                  <a:latin typeface="Arial"/>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1B2430"/>
                </a:solidFill>
                <a:latin typeface="Arial"/>
              </a:defRPr>
            </a:pPr>
            <a:endParaRPr lang="en-US"/>
          </a:p>
        </c:txPr>
        <c:crossAx val="2094734552"/>
        <c:crosses val="autoZero"/>
        <c:auto val="1"/>
        <c:lblAlgn val="ctr"/>
        <c:noMultiLvlLbl val="1"/>
      </c:catAx>
      <c:valAx>
        <c:axId val="2094734552"/>
        <c:scaling>
          <c:orientation val="minMax"/>
          <c:max val="27"/>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I researched DockMaster, its market and its customers, chose one opportunity, built a working prototype and designed an AI-native GTM. Five minutes on the why, five on the demo, five on how it sells.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numbers matter most. Fewer new boats plus an ageing fleet means repair and service is where marina revenue grows. And operators are squeezed on cost, so they buy labour leverage, not more seats.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credibility point: I am not proposing a voice agent or a scheduler. Both exist. The gap is between the phone call and the invoice: the job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Scoring is my judgement and I would recalibrate it with account data. The ranking is robust: the top three all sit on data only DockMaster has and all measure in dollars a GM already tracks.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never invents an operation code, a part, a price or a vessel. It selects from the customer's own data and explains why. That is the difference between a chatbot and a service writer.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ambitious part. Most vertical software sells with generic ROI decks. DockMaster can compute the ROI from the account's own system, with consent, and offer it as a free value report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Stack: Claude with tool use, MCP connectors to the DockMaster API, the CRM, email and calendar. One review queue. Every action logged to the CRM record so any human can pick up the thread.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40080"/>
            <a:ext cx="548640" cy="548640"/>
          </a:xfrm>
          <a:prstGeom prst="rect">
            <a:avLst/>
          </a:prstGeom>
        </p:spPr>
      </p:pic>
      <p:sp>
        <p:nvSpPr>
          <p:cNvPr id="3" name="Text 0"/>
          <p:cNvSpPr txBox="1"/>
          <p:nvPr/>
        </p:nvSpPr>
        <p:spPr>
          <a:xfrm>
            <a:off x="548640" y="1463040"/>
            <a:ext cx="804672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AI Opportunities at DockMaster</a:t>
            </a:r>
            <a:endParaRPr lang="en-US" sz="4000" dirty="0"/>
          </a:p>
        </p:txBody>
      </p:sp>
      <p:sp>
        <p:nvSpPr>
          <p:cNvPr id="4" name="Text 1"/>
          <p:cNvSpPr txBox="1"/>
          <p:nvPr/>
        </p:nvSpPr>
        <p:spPr>
          <a:xfrm>
            <a:off x="548640" y="2286000"/>
            <a:ext cx="7772400" cy="548640"/>
          </a:xfrm>
          <a:prstGeom prst="rect">
            <a:avLst/>
          </a:prstGeom>
          <a:noFill/>
          <a:ln/>
        </p:spPr>
        <p:txBody>
          <a:bodyPr wrap="square" lIns="0" tIns="0" rIns="0" bIns="0" rtlCol="0" anchor="ctr"/>
          <a:lstStyle/>
          <a:p>
            <a:pPr indent="0" marL="0">
              <a:buNone/>
            </a:pPr>
            <a:r>
              <a:rPr lang="en-US" sz="1800" dirty="0">
                <a:solidFill>
                  <a:srgbClr val="BFE9E5"/>
                </a:solidFill>
                <a:latin typeface="Calibri" pitchFamily="34" charset="0"/>
                <a:ea typeface="Calibri" pitchFamily="34" charset="-122"/>
                <a:cs typeface="Calibri" pitchFamily="34" charset="-120"/>
              </a:rPr>
              <a:t>The Service Writer: turn every technician note into approved, billable work</a:t>
            </a:r>
            <a:endParaRPr lang="en-US" sz="1800" dirty="0"/>
          </a:p>
        </p:txBody>
      </p:sp>
      <p:sp>
        <p:nvSpPr>
          <p:cNvPr id="5" name="Text 2"/>
          <p:cNvSpPr txBox="1"/>
          <p:nvPr/>
        </p:nvSpPr>
        <p:spPr>
          <a:xfrm>
            <a:off x="548640" y="3566160"/>
            <a:ext cx="5486400" cy="320040"/>
          </a:xfrm>
          <a:prstGeom prst="rect">
            <a:avLst/>
          </a:prstGeom>
          <a:noFill/>
          <a:ln/>
        </p:spPr>
        <p:txBody>
          <a:bodyPr wrap="square" lIns="0" tIns="0" rIns="0" bIns="0" rtlCol="0" anchor="ctr"/>
          <a:lstStyle/>
          <a:p>
            <a:pPr indent="0" marL="0">
              <a:buNone/>
            </a:pPr>
            <a:r>
              <a:rPr lang="en-US" sz="1300" dirty="0">
                <a:solidFill>
                  <a:srgbClr val="AAB8C8"/>
                </a:solidFill>
                <a:latin typeface="Calibri" pitchFamily="34" charset="0"/>
                <a:ea typeface="Calibri" pitchFamily="34" charset="-122"/>
                <a:cs typeface="Calibri" pitchFamily="34" charset="-120"/>
              </a:rPr>
              <a:t>Opportunity analysis, prototype and go-to-market</a:t>
            </a:r>
            <a:endParaRPr lang="en-US" sz="1300" dirty="0"/>
          </a:p>
        </p:txBody>
      </p:sp>
      <p:sp>
        <p:nvSpPr>
          <p:cNvPr id="6" name="Text 3"/>
          <p:cNvSpPr txBox="1"/>
          <p:nvPr/>
        </p:nvSpPr>
        <p:spPr>
          <a:xfrm>
            <a:off x="548640" y="3886200"/>
            <a:ext cx="7315200" cy="320040"/>
          </a:xfrm>
          <a:prstGeom prst="rect">
            <a:avLst/>
          </a:prstGeom>
          <a:noFill/>
          <a:ln/>
        </p:spPr>
        <p:txBody>
          <a:bodyPr wrap="square" lIns="0" tIns="0" rIns="0" bIns="0" rtlCol="0" anchor="ctr"/>
          <a:lstStyle/>
          <a:p>
            <a:pPr indent="0" marL="0">
              <a:buNone/>
            </a:pPr>
            <a:r>
              <a:rPr lang="en-US" sz="1200" dirty="0">
                <a:solidFill>
                  <a:srgbClr val="AAB8C8"/>
                </a:solidFill>
                <a:latin typeface="Calibri" pitchFamily="34" charset="0"/>
                <a:ea typeface="Calibri" pitchFamily="34" charset="-122"/>
                <a:cs typeface="Calibri" pitchFamily="34" charset="-120"/>
              </a:rPr>
              <a:t>Scott Anderson  |  Valsoft AI Venture Builder case study  |  September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The situation in numbers</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A 40-year system of record in a market where service revenue now matters more than boat sales</a:t>
            </a:r>
            <a:endParaRPr lang="en-US" sz="1300" dirty="0"/>
          </a:p>
        </p:txBody>
      </p:sp>
      <p:sp>
        <p:nvSpPr>
          <p:cNvPr id="4" name="Shape 2"/>
          <p:cNvSpPr/>
          <p:nvPr/>
        </p:nvSpPr>
        <p:spPr>
          <a:xfrm>
            <a:off x="457200" y="1325880"/>
            <a:ext cx="2606040" cy="1463040"/>
          </a:xfrm>
          <a:prstGeom prst="roundRect">
            <a:avLst>
              <a:gd name="adj" fmla="val 5000"/>
            </a:avLst>
          </a:prstGeom>
          <a:solidFill>
            <a:srgbClr val="F3F6F8"/>
          </a:solidFill>
          <a:ln w="6350">
            <a:solidFill>
              <a:srgbClr val="F3F6F8"/>
            </a:solidFill>
            <a:prstDash val="solid"/>
          </a:ln>
        </p:spPr>
      </p:sp>
      <p:sp>
        <p:nvSpPr>
          <p:cNvPr id="5" name="Text 3"/>
          <p:cNvSpPr txBox="1"/>
          <p:nvPr/>
        </p:nvSpPr>
        <p:spPr>
          <a:xfrm>
            <a:off x="640080" y="1463040"/>
            <a:ext cx="2286000" cy="640080"/>
          </a:xfrm>
          <a:prstGeom prst="rect">
            <a:avLst/>
          </a:prstGeom>
          <a:noFill/>
          <a:ln/>
        </p:spPr>
        <p:txBody>
          <a:bodyPr wrap="square" lIns="0" tIns="0" rIns="0" bIns="0" rtlCol="0" anchor="ctr"/>
          <a:lstStyle/>
          <a:p>
            <a:pPr indent="0" marL="0">
              <a:buNone/>
            </a:pPr>
            <a:r>
              <a:rPr lang="en-US" sz="3000" b="1" dirty="0">
                <a:solidFill>
                  <a:srgbClr val="13A89E"/>
                </a:solidFill>
                <a:latin typeface="Cambria" pitchFamily="34" charset="0"/>
                <a:ea typeface="Cambria" pitchFamily="34" charset="-122"/>
                <a:cs typeface="Cambria" pitchFamily="34" charset="-120"/>
              </a:rPr>
              <a:t>1,000+</a:t>
            </a:r>
            <a:endParaRPr lang="en-US" sz="3000" dirty="0"/>
          </a:p>
        </p:txBody>
      </p:sp>
      <p:sp>
        <p:nvSpPr>
          <p:cNvPr id="6" name="Text 4"/>
          <p:cNvSpPr txBox="1"/>
          <p:nvPr/>
        </p:nvSpPr>
        <p:spPr>
          <a:xfrm>
            <a:off x="640080" y="2103120"/>
            <a:ext cx="2286000" cy="59436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marinas, boatyards and dealers on DockMaster</a:t>
            </a:r>
            <a:endParaRPr lang="en-US" sz="1150" dirty="0"/>
          </a:p>
        </p:txBody>
      </p:sp>
      <p:sp>
        <p:nvSpPr>
          <p:cNvPr id="7" name="Shape 5"/>
          <p:cNvSpPr/>
          <p:nvPr/>
        </p:nvSpPr>
        <p:spPr>
          <a:xfrm>
            <a:off x="3246120" y="1325880"/>
            <a:ext cx="2606040" cy="1463040"/>
          </a:xfrm>
          <a:prstGeom prst="roundRect">
            <a:avLst>
              <a:gd name="adj" fmla="val 5000"/>
            </a:avLst>
          </a:prstGeom>
          <a:solidFill>
            <a:srgbClr val="F3F6F8"/>
          </a:solidFill>
          <a:ln w="6350">
            <a:solidFill>
              <a:srgbClr val="F3F6F8"/>
            </a:solidFill>
            <a:prstDash val="solid"/>
          </a:ln>
        </p:spPr>
      </p:sp>
      <p:sp>
        <p:nvSpPr>
          <p:cNvPr id="8" name="Text 6"/>
          <p:cNvSpPr txBox="1"/>
          <p:nvPr/>
        </p:nvSpPr>
        <p:spPr>
          <a:xfrm>
            <a:off x="3429000" y="1463040"/>
            <a:ext cx="2286000" cy="640080"/>
          </a:xfrm>
          <a:prstGeom prst="rect">
            <a:avLst/>
          </a:prstGeom>
          <a:noFill/>
          <a:ln/>
        </p:spPr>
        <p:txBody>
          <a:bodyPr wrap="square" lIns="0" tIns="0" rIns="0" bIns="0" rtlCol="0" anchor="ctr"/>
          <a:lstStyle/>
          <a:p>
            <a:pPr indent="0" marL="0">
              <a:buNone/>
            </a:pPr>
            <a:r>
              <a:rPr lang="en-US" sz="3000" b="1" dirty="0">
                <a:solidFill>
                  <a:srgbClr val="13A89E"/>
                </a:solidFill>
                <a:latin typeface="Cambria" pitchFamily="34" charset="0"/>
                <a:ea typeface="Cambria" pitchFamily="34" charset="-122"/>
                <a:cs typeface="Cambria" pitchFamily="34" charset="-120"/>
              </a:rPr>
              <a:t>40+ yrs</a:t>
            </a:r>
            <a:endParaRPr lang="en-US" sz="3000" dirty="0"/>
          </a:p>
        </p:txBody>
      </p:sp>
      <p:sp>
        <p:nvSpPr>
          <p:cNvPr id="9" name="Text 7"/>
          <p:cNvSpPr txBox="1"/>
          <p:nvPr/>
        </p:nvSpPr>
        <p:spPr>
          <a:xfrm>
            <a:off x="3429000" y="2103120"/>
            <a:ext cx="2286000" cy="59436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of structured work orders, parts and vessel history</a:t>
            </a:r>
            <a:endParaRPr lang="en-US" sz="1150" dirty="0"/>
          </a:p>
        </p:txBody>
      </p:sp>
      <p:sp>
        <p:nvSpPr>
          <p:cNvPr id="10" name="Shape 8"/>
          <p:cNvSpPr/>
          <p:nvPr/>
        </p:nvSpPr>
        <p:spPr>
          <a:xfrm>
            <a:off x="6035040" y="1325880"/>
            <a:ext cx="2606040" cy="1463040"/>
          </a:xfrm>
          <a:prstGeom prst="roundRect">
            <a:avLst>
              <a:gd name="adj" fmla="val 5000"/>
            </a:avLst>
          </a:prstGeom>
          <a:solidFill>
            <a:srgbClr val="F3F6F8"/>
          </a:solidFill>
          <a:ln w="6350">
            <a:solidFill>
              <a:srgbClr val="F3F6F8"/>
            </a:solidFill>
            <a:prstDash val="solid"/>
          </a:ln>
        </p:spPr>
      </p:sp>
      <p:sp>
        <p:nvSpPr>
          <p:cNvPr id="11" name="Text 9"/>
          <p:cNvSpPr txBox="1"/>
          <p:nvPr/>
        </p:nvSpPr>
        <p:spPr>
          <a:xfrm>
            <a:off x="6217920" y="1463040"/>
            <a:ext cx="2286000" cy="640080"/>
          </a:xfrm>
          <a:prstGeom prst="rect">
            <a:avLst/>
          </a:prstGeom>
          <a:noFill/>
          <a:ln/>
        </p:spPr>
        <p:txBody>
          <a:bodyPr wrap="square" lIns="0" tIns="0" rIns="0" bIns="0" rtlCol="0" anchor="ctr"/>
          <a:lstStyle/>
          <a:p>
            <a:pPr indent="0" marL="0">
              <a:buNone/>
            </a:pPr>
            <a:r>
              <a:rPr lang="en-US" sz="3000" b="1" dirty="0">
                <a:solidFill>
                  <a:srgbClr val="13A89E"/>
                </a:solidFill>
                <a:latin typeface="Cambria" pitchFamily="34" charset="0"/>
                <a:ea typeface="Cambria" pitchFamily="34" charset="-122"/>
                <a:cs typeface="Cambria" pitchFamily="34" charset="-120"/>
              </a:rPr>
              <a:t>10-12k</a:t>
            </a:r>
            <a:endParaRPr lang="en-US" sz="3000" dirty="0"/>
          </a:p>
        </p:txBody>
      </p:sp>
      <p:sp>
        <p:nvSpPr>
          <p:cNvPr id="12" name="Text 10"/>
          <p:cNvSpPr txBox="1"/>
          <p:nvPr/>
        </p:nvSpPr>
        <p:spPr>
          <a:xfrm>
            <a:off x="6217920" y="2103120"/>
            <a:ext cx="2286000" cy="59436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US marinas in the addressable market</a:t>
            </a:r>
            <a:endParaRPr lang="en-US" sz="1150" dirty="0"/>
          </a:p>
        </p:txBody>
      </p:sp>
      <p:sp>
        <p:nvSpPr>
          <p:cNvPr id="13" name="Shape 11"/>
          <p:cNvSpPr/>
          <p:nvPr/>
        </p:nvSpPr>
        <p:spPr>
          <a:xfrm>
            <a:off x="457200" y="2971800"/>
            <a:ext cx="2606040" cy="1463040"/>
          </a:xfrm>
          <a:prstGeom prst="roundRect">
            <a:avLst>
              <a:gd name="adj" fmla="val 5000"/>
            </a:avLst>
          </a:prstGeom>
          <a:solidFill>
            <a:srgbClr val="F3F6F8"/>
          </a:solidFill>
          <a:ln w="6350">
            <a:solidFill>
              <a:srgbClr val="F3F6F8"/>
            </a:solidFill>
            <a:prstDash val="solid"/>
          </a:ln>
        </p:spPr>
      </p:sp>
      <p:sp>
        <p:nvSpPr>
          <p:cNvPr id="14" name="Text 12"/>
          <p:cNvSpPr txBox="1"/>
          <p:nvPr/>
        </p:nvSpPr>
        <p:spPr>
          <a:xfrm>
            <a:off x="640080" y="3108960"/>
            <a:ext cx="2286000" cy="640080"/>
          </a:xfrm>
          <a:prstGeom prst="rect">
            <a:avLst/>
          </a:prstGeom>
          <a:noFill/>
          <a:ln/>
        </p:spPr>
        <p:txBody>
          <a:bodyPr wrap="square" lIns="0" tIns="0" rIns="0" bIns="0" rtlCol="0" anchor="ctr"/>
          <a:lstStyle/>
          <a:p>
            <a:pPr indent="0" marL="0">
              <a:buNone/>
            </a:pPr>
            <a:r>
              <a:rPr lang="en-US" sz="3000" b="1" dirty="0">
                <a:solidFill>
                  <a:srgbClr val="13A89E"/>
                </a:solidFill>
                <a:latin typeface="Cambria" pitchFamily="34" charset="0"/>
                <a:ea typeface="Cambria" pitchFamily="34" charset="-122"/>
                <a:cs typeface="Cambria" pitchFamily="34" charset="-120"/>
              </a:rPr>
              <a:t>$7.6B</a:t>
            </a:r>
            <a:endParaRPr lang="en-US" sz="3000" dirty="0"/>
          </a:p>
        </p:txBody>
      </p:sp>
      <p:sp>
        <p:nvSpPr>
          <p:cNvPr id="15" name="Text 13"/>
          <p:cNvSpPr txBox="1"/>
          <p:nvPr/>
        </p:nvSpPr>
        <p:spPr>
          <a:xfrm>
            <a:off x="640080" y="3749040"/>
            <a:ext cx="2286000" cy="59436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US marina industry revenue (2025)</a:t>
            </a:r>
            <a:endParaRPr lang="en-US" sz="1150" dirty="0"/>
          </a:p>
        </p:txBody>
      </p:sp>
      <p:sp>
        <p:nvSpPr>
          <p:cNvPr id="16" name="Shape 14"/>
          <p:cNvSpPr/>
          <p:nvPr/>
        </p:nvSpPr>
        <p:spPr>
          <a:xfrm>
            <a:off x="3246120" y="2971800"/>
            <a:ext cx="2606040" cy="1463040"/>
          </a:xfrm>
          <a:prstGeom prst="roundRect">
            <a:avLst>
              <a:gd name="adj" fmla="val 5000"/>
            </a:avLst>
          </a:prstGeom>
          <a:solidFill>
            <a:srgbClr val="F3F6F8"/>
          </a:solidFill>
          <a:ln w="6350">
            <a:solidFill>
              <a:srgbClr val="F3F6F8"/>
            </a:solidFill>
            <a:prstDash val="solid"/>
          </a:ln>
        </p:spPr>
      </p:sp>
      <p:sp>
        <p:nvSpPr>
          <p:cNvPr id="17" name="Text 15"/>
          <p:cNvSpPr txBox="1"/>
          <p:nvPr/>
        </p:nvSpPr>
        <p:spPr>
          <a:xfrm>
            <a:off x="3429000" y="3108960"/>
            <a:ext cx="2286000" cy="640080"/>
          </a:xfrm>
          <a:prstGeom prst="rect">
            <a:avLst/>
          </a:prstGeom>
          <a:noFill/>
          <a:ln/>
        </p:spPr>
        <p:txBody>
          <a:bodyPr wrap="square" lIns="0" tIns="0" rIns="0" bIns="0" rtlCol="0" anchor="ctr"/>
          <a:lstStyle/>
          <a:p>
            <a:pPr indent="0" marL="0">
              <a:buNone/>
            </a:pPr>
            <a:r>
              <a:rPr lang="en-US" sz="3000" b="1" dirty="0">
                <a:solidFill>
                  <a:srgbClr val="13A89E"/>
                </a:solidFill>
                <a:latin typeface="Cambria" pitchFamily="34" charset="0"/>
                <a:ea typeface="Cambria" pitchFamily="34" charset="-122"/>
                <a:cs typeface="Cambria" pitchFamily="34" charset="-120"/>
              </a:rPr>
              <a:t>-8 to -10%</a:t>
            </a:r>
            <a:endParaRPr lang="en-US" sz="3000" dirty="0"/>
          </a:p>
        </p:txBody>
      </p:sp>
      <p:sp>
        <p:nvSpPr>
          <p:cNvPr id="18" name="Text 16"/>
          <p:cNvSpPr txBox="1"/>
          <p:nvPr/>
        </p:nvSpPr>
        <p:spPr>
          <a:xfrm>
            <a:off x="3429000" y="3749040"/>
            <a:ext cx="2286000" cy="59436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new powerboat retail sales, 2025</a:t>
            </a:r>
            <a:endParaRPr lang="en-US" sz="1150" dirty="0"/>
          </a:p>
        </p:txBody>
      </p:sp>
      <p:sp>
        <p:nvSpPr>
          <p:cNvPr id="19" name="Shape 17"/>
          <p:cNvSpPr/>
          <p:nvPr/>
        </p:nvSpPr>
        <p:spPr>
          <a:xfrm>
            <a:off x="6035040" y="2971800"/>
            <a:ext cx="2606040" cy="1463040"/>
          </a:xfrm>
          <a:prstGeom prst="roundRect">
            <a:avLst>
              <a:gd name="adj" fmla="val 5000"/>
            </a:avLst>
          </a:prstGeom>
          <a:solidFill>
            <a:srgbClr val="F3F6F8"/>
          </a:solidFill>
          <a:ln w="6350">
            <a:solidFill>
              <a:srgbClr val="F3F6F8"/>
            </a:solidFill>
            <a:prstDash val="solid"/>
          </a:ln>
        </p:spPr>
      </p:sp>
      <p:sp>
        <p:nvSpPr>
          <p:cNvPr id="20" name="Text 18"/>
          <p:cNvSpPr txBox="1"/>
          <p:nvPr/>
        </p:nvSpPr>
        <p:spPr>
          <a:xfrm>
            <a:off x="6217920" y="3108960"/>
            <a:ext cx="2286000" cy="640080"/>
          </a:xfrm>
          <a:prstGeom prst="rect">
            <a:avLst/>
          </a:prstGeom>
          <a:noFill/>
          <a:ln/>
        </p:spPr>
        <p:txBody>
          <a:bodyPr wrap="square" lIns="0" tIns="0" rIns="0" bIns="0" rtlCol="0" anchor="ctr"/>
          <a:lstStyle/>
          <a:p>
            <a:pPr indent="0" marL="0">
              <a:buNone/>
            </a:pPr>
            <a:r>
              <a:rPr lang="en-US" sz="3000" b="1" dirty="0">
                <a:solidFill>
                  <a:srgbClr val="13A89E"/>
                </a:solidFill>
                <a:latin typeface="Cambria" pitchFamily="34" charset="0"/>
                <a:ea typeface="Cambria" pitchFamily="34" charset="-122"/>
                <a:cs typeface="Cambria" pitchFamily="34" charset="-120"/>
              </a:rPr>
              <a:t>73%</a:t>
            </a:r>
            <a:endParaRPr lang="en-US" sz="3000" dirty="0"/>
          </a:p>
        </p:txBody>
      </p:sp>
      <p:sp>
        <p:nvSpPr>
          <p:cNvPr id="21" name="Text 19"/>
          <p:cNvSpPr txBox="1"/>
          <p:nvPr/>
        </p:nvSpPr>
        <p:spPr>
          <a:xfrm>
            <a:off x="6217920" y="3749040"/>
            <a:ext cx="2286000" cy="594360"/>
          </a:xfrm>
          <a:prstGeom prst="rect">
            <a:avLst/>
          </a:prstGeom>
          <a:noFill/>
          <a:ln/>
        </p:spPr>
        <p:txBody>
          <a:bodyPr wrap="square" lIns="0" tIns="0" rIns="0" bIns="0" rtlCol="0" anchor="t"/>
          <a:lstStyle/>
          <a:p>
            <a:pPr indent="0" marL="0">
              <a:buNone/>
            </a:pPr>
            <a:r>
              <a:rPr lang="en-US" sz="1150" dirty="0">
                <a:solidFill>
                  <a:srgbClr val="1B2430"/>
                </a:solidFill>
                <a:latin typeface="Calibri" pitchFamily="34" charset="0"/>
                <a:ea typeface="Calibri" pitchFamily="34" charset="-122"/>
                <a:cs typeface="Calibri" pitchFamily="34" charset="-120"/>
              </a:rPr>
              <a:t>of marinas report insurance costs up; 67% staffing costs up</a:t>
            </a:r>
            <a:endParaRPr lang="en-US" sz="1150" dirty="0"/>
          </a:p>
        </p:txBody>
      </p:sp>
      <p:sp>
        <p:nvSpPr>
          <p:cNvPr id="22" name="Text 20"/>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Sources: dockmaster.com; Marina Dock Age 2025 survey; IBISWorld; Marina World Jul 2026; NMMA via Vertical IQ</a:t>
            </a:r>
            <a:endParaRPr lang="en-US" sz="800" dirty="0"/>
          </a:p>
        </p:txBody>
      </p:sp>
      <p:sp>
        <p:nvSpPr>
          <p:cNvPr id="23" name="Text 21"/>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What DockMaster already has</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Three surfaces, one dataset, and two AI features already shipped. We build on them, not over them.</a:t>
            </a:r>
            <a:endParaRPr lang="en-US" sz="1300" dirty="0"/>
          </a:p>
        </p:txBody>
      </p:sp>
      <p:sp>
        <p:nvSpPr>
          <p:cNvPr id="4" name="Shape 2"/>
          <p:cNvSpPr/>
          <p:nvPr/>
        </p:nvSpPr>
        <p:spPr>
          <a:xfrm>
            <a:off x="457200" y="1325880"/>
            <a:ext cx="2606040" cy="2468880"/>
          </a:xfrm>
          <a:prstGeom prst="roundRect">
            <a:avLst>
              <a:gd name="adj" fmla="val 2963"/>
            </a:avLst>
          </a:prstGeom>
          <a:solidFill>
            <a:srgbClr val="F3F6F8"/>
          </a:solidFill>
          <a:ln w="6350">
            <a:solidFill>
              <a:srgbClr val="F3F6F8"/>
            </a:solidFill>
            <a:prstDash val="solid"/>
          </a:ln>
        </p:spPr>
      </p:sp>
      <p:pic>
        <p:nvPicPr>
          <p:cNvPr id="5" name="Image 0" descr="preencoded.png">    </p:cNvPr>
          <p:cNvPicPr>
            <a:picLocks noChangeAspect="1"/>
          </p:cNvPicPr>
          <p:nvPr/>
        </p:nvPicPr>
        <p:blipFill>
          <a:blip r:embed="rId1"/>
          <a:stretch>
            <a:fillRect/>
          </a:stretch>
        </p:blipFill>
        <p:spPr>
          <a:xfrm>
            <a:off x="640080" y="1508760"/>
            <a:ext cx="457200" cy="457200"/>
          </a:xfrm>
          <a:prstGeom prst="rect">
            <a:avLst/>
          </a:prstGeom>
        </p:spPr>
      </p:pic>
      <p:sp>
        <p:nvSpPr>
          <p:cNvPr id="6" name="Text 3"/>
          <p:cNvSpPr txBox="1"/>
          <p:nvPr/>
        </p:nvSpPr>
        <p:spPr>
          <a:xfrm>
            <a:off x="640080" y="2057400"/>
            <a:ext cx="2286000" cy="32004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Desktop</a:t>
            </a:r>
            <a:endParaRPr lang="en-US" sz="1600" dirty="0"/>
          </a:p>
        </p:txBody>
      </p:sp>
      <p:sp>
        <p:nvSpPr>
          <p:cNvPr id="7" name="Text 4"/>
          <p:cNvSpPr txBox="1"/>
          <p:nvPr/>
        </p:nvSpPr>
        <p:spPr>
          <a:xfrm>
            <a:off x="640080" y="2395728"/>
            <a:ext cx="2286000" cy="132588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The ERP backbone. Slips, dry stack, service, inventory, boat sales, POS and full accounting. A move to SQL is on the 2026 roadmap.</a:t>
            </a:r>
            <a:endParaRPr lang="en-US" sz="1100" dirty="0"/>
          </a:p>
        </p:txBody>
      </p:sp>
      <p:sp>
        <p:nvSpPr>
          <p:cNvPr id="8" name="Shape 5"/>
          <p:cNvSpPr/>
          <p:nvPr/>
        </p:nvSpPr>
        <p:spPr>
          <a:xfrm>
            <a:off x="3246120" y="1325880"/>
            <a:ext cx="2606040" cy="2468880"/>
          </a:xfrm>
          <a:prstGeom prst="roundRect">
            <a:avLst>
              <a:gd name="adj" fmla="val 2963"/>
            </a:avLst>
          </a:prstGeom>
          <a:solidFill>
            <a:srgbClr val="F3F6F8"/>
          </a:solidFill>
          <a:ln w="6350">
            <a:solidFill>
              <a:srgbClr val="F3F6F8"/>
            </a:solidFill>
            <a:prstDash val="solid"/>
          </a:ln>
        </p:spPr>
      </p:sp>
      <p:pic>
        <p:nvPicPr>
          <p:cNvPr id="9" name="Image 1" descr="preencoded.png">    </p:cNvPr>
          <p:cNvPicPr>
            <a:picLocks noChangeAspect="1"/>
          </p:cNvPicPr>
          <p:nvPr/>
        </p:nvPicPr>
        <p:blipFill>
          <a:blip r:embed="rId2"/>
          <a:stretch>
            <a:fillRect/>
          </a:stretch>
        </p:blipFill>
        <p:spPr>
          <a:xfrm>
            <a:off x="3429000" y="1508760"/>
            <a:ext cx="457200" cy="457200"/>
          </a:xfrm>
          <a:prstGeom prst="rect">
            <a:avLst/>
          </a:prstGeom>
        </p:spPr>
      </p:pic>
      <p:sp>
        <p:nvSpPr>
          <p:cNvPr id="10" name="Text 6"/>
          <p:cNvSpPr txBox="1"/>
          <p:nvPr/>
        </p:nvSpPr>
        <p:spPr>
          <a:xfrm>
            <a:off x="3429000" y="2057400"/>
            <a:ext cx="2286000" cy="32004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Web 2.0 and Mobile</a:t>
            </a:r>
            <a:endParaRPr lang="en-US" sz="1600" dirty="0"/>
          </a:p>
        </p:txBody>
      </p:sp>
      <p:sp>
        <p:nvSpPr>
          <p:cNvPr id="11" name="Text 7"/>
          <p:cNvSpPr txBox="1"/>
          <p:nvPr/>
        </p:nvSpPr>
        <p:spPr>
          <a:xfrm>
            <a:off x="3429000" y="2395728"/>
            <a:ext cx="2286000" cy="132588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CRM, customer portal, estimates and work orders, drag-and-drop scheduling, eSignature, payments via ValPay. Offline-first tech app with voice notes and photos.</a:t>
            </a:r>
            <a:endParaRPr lang="en-US" sz="1100" dirty="0"/>
          </a:p>
        </p:txBody>
      </p:sp>
      <p:sp>
        <p:nvSpPr>
          <p:cNvPr id="12" name="Shape 8"/>
          <p:cNvSpPr/>
          <p:nvPr/>
        </p:nvSpPr>
        <p:spPr>
          <a:xfrm>
            <a:off x="6035040" y="1325880"/>
            <a:ext cx="2606040" cy="2468880"/>
          </a:xfrm>
          <a:prstGeom prst="roundRect">
            <a:avLst>
              <a:gd name="adj" fmla="val 2963"/>
            </a:avLst>
          </a:prstGeom>
          <a:solidFill>
            <a:srgbClr val="F3F6F8"/>
          </a:solidFill>
          <a:ln w="6350">
            <a:solidFill>
              <a:srgbClr val="F3F6F8"/>
            </a:solidFill>
            <a:prstDash val="solid"/>
          </a:ln>
        </p:spPr>
      </p:sp>
      <p:pic>
        <p:nvPicPr>
          <p:cNvPr id="13" name="Image 2" descr="preencoded.png">    </p:cNvPr>
          <p:cNvPicPr>
            <a:picLocks noChangeAspect="1"/>
          </p:cNvPicPr>
          <p:nvPr/>
        </p:nvPicPr>
        <p:blipFill>
          <a:blip r:embed="rId3"/>
          <a:stretch>
            <a:fillRect/>
          </a:stretch>
        </p:blipFill>
        <p:spPr>
          <a:xfrm>
            <a:off x="6217920" y="1508760"/>
            <a:ext cx="457200" cy="457200"/>
          </a:xfrm>
          <a:prstGeom prst="rect">
            <a:avLst/>
          </a:prstGeom>
        </p:spPr>
      </p:pic>
      <p:sp>
        <p:nvSpPr>
          <p:cNvPr id="14" name="Text 9"/>
          <p:cNvSpPr txBox="1"/>
          <p:nvPr/>
        </p:nvSpPr>
        <p:spPr>
          <a:xfrm>
            <a:off x="6217920" y="2057400"/>
            <a:ext cx="2286000" cy="320040"/>
          </a:xfrm>
          <a:prstGeom prst="rect">
            <a:avLst/>
          </a:prstGeom>
          <a:noFill/>
          <a:ln/>
        </p:spPr>
        <p:txBody>
          <a:bodyPr wrap="square" lIns="0" tIns="0" rIns="0" bIns="0" rtlCol="0" anchor="ctr"/>
          <a:lstStyle/>
          <a:p>
            <a:pPr indent="0" marL="0">
              <a:buNone/>
            </a:pPr>
            <a:r>
              <a:rPr lang="en-US" sz="1600" b="1" dirty="0">
                <a:solidFill>
                  <a:srgbClr val="0B2545"/>
                </a:solidFill>
                <a:latin typeface="Cambria" pitchFamily="34" charset="0"/>
                <a:ea typeface="Cambria" pitchFamily="34" charset="-122"/>
                <a:cs typeface="Cambria" pitchFamily="34" charset="-120"/>
              </a:rPr>
              <a:t>AI shipped</a:t>
            </a:r>
            <a:endParaRPr lang="en-US" sz="1600" dirty="0"/>
          </a:p>
        </p:txBody>
      </p:sp>
      <p:sp>
        <p:nvSpPr>
          <p:cNvPr id="15" name="Text 10"/>
          <p:cNvSpPr txBox="1"/>
          <p:nvPr/>
        </p:nvSpPr>
        <p:spPr>
          <a:xfrm>
            <a:off x="6217920" y="2395728"/>
            <a:ext cx="2286000" cy="1325880"/>
          </a:xfrm>
          <a:prstGeom prst="rect">
            <a:avLst/>
          </a:prstGeom>
          <a:noFill/>
          <a:ln/>
        </p:spPr>
        <p:txBody>
          <a:bodyPr wrap="square" lIns="0" tIns="0" rIns="0" bIns="0" rtlCol="0" anchor="t"/>
          <a:lstStyle/>
          <a:p>
            <a:pPr indent="0" marL="0">
              <a:buNone/>
            </a:pPr>
            <a:r>
              <a:rPr lang="en-US" sz="1100" dirty="0">
                <a:solidFill>
                  <a:srgbClr val="1B2430"/>
                </a:solidFill>
                <a:latin typeface="Calibri" pitchFamily="34" charset="0"/>
                <a:ea typeface="Calibri" pitchFamily="34" charset="-122"/>
                <a:cs typeface="Calibri" pitchFamily="34" charset="-120"/>
              </a:rPr>
              <a:t>AI Scheduling Assistant recommends technician slots; staff accept or reject. Blu Voice Agent (BluSynq) answers calls, quotes and books 24/7.</a:t>
            </a:r>
            <a:endParaRPr lang="en-US" sz="1100" dirty="0"/>
          </a:p>
        </p:txBody>
      </p:sp>
      <p:sp>
        <p:nvSpPr>
          <p:cNvPr id="16" name="Shape 11"/>
          <p:cNvSpPr/>
          <p:nvPr/>
        </p:nvSpPr>
        <p:spPr>
          <a:xfrm>
            <a:off x="457200" y="3977640"/>
            <a:ext cx="8229600" cy="640080"/>
          </a:xfrm>
          <a:prstGeom prst="roundRect">
            <a:avLst>
              <a:gd name="adj" fmla="val 11429"/>
            </a:avLst>
          </a:prstGeom>
          <a:solidFill>
            <a:srgbClr val="E3F5F3"/>
          </a:solidFill>
          <a:ln w="6350">
            <a:solidFill>
              <a:srgbClr val="E3F5F3"/>
            </a:solidFill>
            <a:prstDash val="solid"/>
          </a:ln>
        </p:spPr>
      </p:sp>
      <p:sp>
        <p:nvSpPr>
          <p:cNvPr id="17" name="Text 12"/>
          <p:cNvSpPr txBox="1"/>
          <p:nvPr/>
        </p:nvSpPr>
        <p:spPr>
          <a:xfrm>
            <a:off x="640080" y="4023360"/>
            <a:ext cx="7863840" cy="548640"/>
          </a:xfrm>
          <a:prstGeom prst="rect">
            <a:avLst/>
          </a:prstGeom>
          <a:noFill/>
          <a:ln/>
        </p:spPr>
        <p:txBody>
          <a:bodyPr wrap="square" lIns="0" tIns="0" rIns="0" bIns="0" rtlCol="0" anchor="ctr"/>
          <a:lstStyle/>
          <a:p>
            <a:pPr indent="0" marL="0">
              <a:buNone/>
            </a:pPr>
            <a:r>
              <a:rPr lang="en-US" sz="1150" b="1" dirty="0">
                <a:solidFill>
                  <a:srgbClr val="0B2545"/>
                </a:solidFill>
                <a:latin typeface="Calibri" pitchFamily="34" charset="0"/>
                <a:ea typeface="Calibri" pitchFamily="34" charset="-122"/>
                <a:cs typeface="Calibri" pitchFamily="34" charset="-120"/>
              </a:rPr>
              <a:t>The moat: </a:t>
            </a:r>
            <a:pPr indent="0" marL="0">
              <a:buNone/>
            </a:pPr>
            <a:r>
              <a:rPr lang="en-US" sz="1150" dirty="0">
                <a:solidFill>
                  <a:srgbClr val="1B2430"/>
                </a:solidFill>
                <a:latin typeface="Calibri" pitchFamily="34" charset="0"/>
                <a:ea typeface="Calibri" pitchFamily="34" charset="-122"/>
                <a:cs typeface="Calibri" pitchFamily="34" charset="-120"/>
              </a:rPr>
              <a:t>nobody else holds decades of operation codes, labour standards, parts usage and vessel histories for full-service yards. Any AI product should be built on that data, and it should hand off to the scheduler and to Blu rather than duplicate them.</a:t>
            </a:r>
            <a:endParaRPr lang="en-US" sz="1150" dirty="0"/>
          </a:p>
        </p:txBody>
      </p:sp>
      <p:sp>
        <p:nvSpPr>
          <p:cNvPr id="18" name="Text 1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Where the market is moving</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Competitors own booking or look modern. DockMaster owns the yard.</a:t>
            </a:r>
            <a:endParaRPr lang="en-US" sz="13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120640" cy="914400"/>
        </p:xfrm>
        <a:graphic>
          <a:graphicData uri="http://schemas.openxmlformats.org/drawingml/2006/table">
            <a:tbl>
              <a:tblPr/>
              <a:tblGrid>
                <a:gridCol w="1371600"/>
                <a:gridCol w="1920240"/>
                <a:gridCol w="1828800"/>
              </a:tblGrid>
              <a:tr h="38404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Player</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solidFill>
                      <a:srgbClr val="0B2545"/>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Position</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solidFill>
                      <a:srgbClr val="0B2545"/>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Threat to DockMaster</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solidFill>
                      <a:srgbClr val="0B2545"/>
                    </a:solidFill>
                  </a:tcPr>
                </a:tc>
              </a:tr>
              <a:tr h="384048">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Dockwa</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Boater-facing transient marketplace, ~1,000 marinas</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Owns transient booking; weak on service and accounting</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r h="384048">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Storable Molo</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Cloud ops, visual dock map, QuickBooks</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Modern UX; churn reason cited by a former customer</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r h="384048">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Scribble MarinaOffice</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Full-suite incumbent</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Direct feature-for-feature rival</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r h="384048">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Lightspeed, CDK, BiT</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Dealer management systems</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Compete on the boat-sales side</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r h="384048">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AI-native newcomers</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"Ops platform plus AI" pitch</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50" dirty="0">
                          <a:solidFill>
                            <a:srgbClr val="1B2430"/>
                          </a:solidFill>
                          <a:latin typeface="Calibri" pitchFamily="34" charset="0"/>
                          <a:ea typeface="Calibri" pitchFamily="34" charset="-122"/>
                          <a:cs typeface="Calibri" pitchFamily="34" charset="-120"/>
                        </a:rPr>
                        <a:t>Greenfield, will target the small-shop base</a:t>
                      </a:r>
                      <a:endParaRPr lang="en-US" sz="95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bl>
          </a:graphicData>
        </a:graphic>
      </p:graphicFrame>
      <p:sp>
        <p:nvSpPr>
          <p:cNvPr id="5" name="Shape 2"/>
          <p:cNvSpPr/>
          <p:nvPr/>
        </p:nvSpPr>
        <p:spPr>
          <a:xfrm>
            <a:off x="5852160" y="1325880"/>
            <a:ext cx="2834640" cy="3246120"/>
          </a:xfrm>
          <a:prstGeom prst="roundRect">
            <a:avLst>
              <a:gd name="adj" fmla="val 2581"/>
            </a:avLst>
          </a:prstGeom>
          <a:solidFill>
            <a:srgbClr val="F3F6F8"/>
          </a:solidFill>
          <a:ln w="6350">
            <a:solidFill>
              <a:srgbClr val="F3F6F8"/>
            </a:solidFill>
            <a:prstDash val="solid"/>
          </a:ln>
        </p:spPr>
      </p:sp>
      <p:pic>
        <p:nvPicPr>
          <p:cNvPr id="6" name="Image 0" descr="preencoded.png">    </p:cNvPr>
          <p:cNvPicPr>
            <a:picLocks noChangeAspect="1"/>
          </p:cNvPicPr>
          <p:nvPr/>
        </p:nvPicPr>
        <p:blipFill>
          <a:blip r:embed="rId1"/>
          <a:stretch>
            <a:fillRect/>
          </a:stretch>
        </p:blipFill>
        <p:spPr>
          <a:xfrm>
            <a:off x="6035040" y="1463040"/>
            <a:ext cx="411480" cy="411480"/>
          </a:xfrm>
          <a:prstGeom prst="rect">
            <a:avLst/>
          </a:prstGeom>
        </p:spPr>
      </p:pic>
      <p:sp>
        <p:nvSpPr>
          <p:cNvPr id="7" name="Text 3"/>
          <p:cNvSpPr txBox="1"/>
          <p:nvPr/>
        </p:nvSpPr>
        <p:spPr>
          <a:xfrm>
            <a:off x="6537960" y="1481328"/>
            <a:ext cx="2011680" cy="36576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Three shifts</a:t>
            </a:r>
            <a:endParaRPr lang="en-US" sz="1500" dirty="0"/>
          </a:p>
        </p:txBody>
      </p:sp>
      <p:sp>
        <p:nvSpPr>
          <p:cNvPr id="8" name="Text 4"/>
          <p:cNvSpPr txBox="1"/>
          <p:nvPr/>
        </p:nvSpPr>
        <p:spPr>
          <a:xfrm>
            <a:off x="6035040" y="1965960"/>
            <a:ext cx="2514600" cy="2560320"/>
          </a:xfrm>
          <a:prstGeom prst="rect">
            <a:avLst/>
          </a:prstGeom>
          <a:noFill/>
          <a:ln/>
        </p:spPr>
        <p:txBody>
          <a:bodyPr wrap="square" lIns="0" tIns="0" rIns="0" bIns="0" rtlCol="0" anchor="t"/>
          <a:lstStyle/>
          <a:p>
            <a:pPr marL="152400" indent="-152400">
              <a:spcAft>
                <a:spcPts val="800"/>
              </a:spcAft>
              <a:buSzPct val="100000"/>
              <a:buChar char="•"/>
            </a:pPr>
            <a:r>
              <a:rPr lang="en-US" sz="1050" dirty="0">
                <a:solidFill>
                  <a:srgbClr val="1B2430"/>
                </a:solidFill>
                <a:latin typeface="Calibri" pitchFamily="34" charset="0"/>
                <a:ea typeface="Calibri" pitchFamily="34" charset="-122"/>
                <a:cs typeface="Calibri" pitchFamily="34" charset="-120"/>
              </a:rPr>
              <a:t>Ageing fleet: ~860k pre-owned boat sales a year and fewer new boats push revenue toward repair and service.</a:t>
            </a:r>
            <a:endParaRPr lang="en-US" sz="1050" dirty="0"/>
          </a:p>
          <a:p>
            <a:pPr marL="152400" indent="-152400">
              <a:spcAft>
                <a:spcPts val="800"/>
              </a:spcAft>
              <a:buSzPct val="100000"/>
              <a:buChar char="•"/>
            </a:pPr>
            <a:r>
              <a:rPr lang="en-US" sz="1050" dirty="0">
                <a:solidFill>
                  <a:srgbClr val="1B2430"/>
                </a:solidFill>
                <a:latin typeface="Calibri" pitchFamily="34" charset="0"/>
                <a:ea typeface="Calibri" pitchFamily="34" charset="-122"/>
                <a:cs typeface="Calibri" pitchFamily="34" charset="-120"/>
              </a:rPr>
              <a:t>Cost squeeze: insurance, maintenance and staffing all up. Buyers want labour leverage.</a:t>
            </a:r>
            <a:endParaRPr lang="en-US" sz="1050" dirty="0"/>
          </a:p>
          <a:p>
            <a:pPr marL="152400" indent="-152400">
              <a:spcAft>
                <a:spcPts val="800"/>
              </a:spcAft>
              <a:buSzPct val="100000"/>
              <a:buChar char="•"/>
            </a:pPr>
            <a:r>
              <a:rPr lang="en-US" sz="1050" dirty="0">
                <a:solidFill>
                  <a:srgbClr val="1B2430"/>
                </a:solidFill>
                <a:latin typeface="Calibri" pitchFamily="34" charset="0"/>
                <a:ea typeface="Calibri" pitchFamily="34" charset="-122"/>
                <a:cs typeface="Calibri" pitchFamily="34" charset="-120"/>
              </a:rPr>
              <a:t>Consolidation: PE-backed groups want standard process and cross-site visibility.</a:t>
            </a:r>
            <a:endParaRPr lang="en-US" sz="1050" dirty="0"/>
          </a:p>
        </p:txBody>
      </p:sp>
      <p:sp>
        <p:nvSpPr>
          <p:cNvPr id="9"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Ideal customer profile</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The full-service marina or boatyard with a real service department</a:t>
            </a:r>
            <a:endParaRPr lang="en-US" sz="1300" dirty="0"/>
          </a:p>
        </p:txBody>
      </p:sp>
      <p:sp>
        <p:nvSpPr>
          <p:cNvPr id="4" name="Shape 2"/>
          <p:cNvSpPr/>
          <p:nvPr/>
        </p:nvSpPr>
        <p:spPr>
          <a:xfrm>
            <a:off x="457200" y="1325880"/>
            <a:ext cx="3931920" cy="3291840"/>
          </a:xfrm>
          <a:prstGeom prst="roundRect">
            <a:avLst>
              <a:gd name="adj" fmla="val 2222"/>
            </a:avLst>
          </a:prstGeom>
          <a:solidFill>
            <a:srgbClr val="E3F5F3"/>
          </a:solidFill>
          <a:ln w="6350">
            <a:solidFill>
              <a:srgbClr val="E3F5F3"/>
            </a:solidFill>
            <a:prstDash val="solid"/>
          </a:ln>
        </p:spPr>
      </p:sp>
      <p:pic>
        <p:nvPicPr>
          <p:cNvPr id="5" name="Image 0" descr="preencoded.png">    </p:cNvPr>
          <p:cNvPicPr>
            <a:picLocks noChangeAspect="1"/>
          </p:cNvPicPr>
          <p:nvPr/>
        </p:nvPicPr>
        <p:blipFill>
          <a:blip r:embed="rId1"/>
          <a:stretch>
            <a:fillRect/>
          </a:stretch>
        </p:blipFill>
        <p:spPr>
          <a:xfrm>
            <a:off x="640080" y="1463040"/>
            <a:ext cx="411480" cy="411480"/>
          </a:xfrm>
          <a:prstGeom prst="rect">
            <a:avLst/>
          </a:prstGeom>
        </p:spPr>
      </p:pic>
      <p:sp>
        <p:nvSpPr>
          <p:cNvPr id="6" name="Text 3"/>
          <p:cNvSpPr txBox="1"/>
          <p:nvPr/>
        </p:nvSpPr>
        <p:spPr>
          <a:xfrm>
            <a:off x="1143000" y="1481328"/>
            <a:ext cx="2743200" cy="36576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Primary ICP</a:t>
            </a:r>
            <a:endParaRPr lang="en-US" sz="1500" dirty="0"/>
          </a:p>
        </p:txBody>
      </p:sp>
      <p:sp>
        <p:nvSpPr>
          <p:cNvPr id="7" name="Text 4"/>
          <p:cNvSpPr txBox="1"/>
          <p:nvPr/>
        </p:nvSpPr>
        <p:spPr>
          <a:xfrm>
            <a:off x="640080" y="1965960"/>
            <a:ext cx="3566160" cy="260604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50-500 slips or dry stack plus a repair shop with 3-25 technicians and a parts room</a:t>
            </a:r>
            <a:endParaRPr lang="en-US" sz="1050" dirty="0"/>
          </a:p>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$2M-$30M revenue, 10-60 staff, sharply seasonal (spring commissioning, fall haul-out)</a:t>
            </a:r>
            <a:endParaRPr lang="en-US" sz="1050" dirty="0"/>
          </a:p>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Already on Desktop; partially on Web 2.0 and Mobile; runs accounting in DockMaster</a:t>
            </a:r>
            <a:endParaRPr lang="en-US" sz="1050" dirty="0"/>
          </a:p>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Examples from their own case studies: Shearwater Marine, RMK Merrill-Stevens, West Alton Marina</a:t>
            </a:r>
            <a:endParaRPr lang="en-US" sz="1050" dirty="0"/>
          </a:p>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Secondary: multi-site PE groups (high ACV) and small service shops from the Dockworks base (standalone candidate). Yacht clubs and rental businesses are phase two: less service data.</a:t>
            </a:r>
            <a:endParaRPr lang="en-US" sz="1050" dirty="0"/>
          </a:p>
        </p:txBody>
      </p:sp>
      <p:sp>
        <p:nvSpPr>
          <p:cNvPr id="8" name="Shape 5"/>
          <p:cNvSpPr/>
          <p:nvPr/>
        </p:nvSpPr>
        <p:spPr>
          <a:xfrm>
            <a:off x="4663440" y="1325880"/>
            <a:ext cx="4023360" cy="749808"/>
          </a:xfrm>
          <a:prstGeom prst="roundRect">
            <a:avLst>
              <a:gd name="adj" fmla="val 9756"/>
            </a:avLst>
          </a:prstGeom>
          <a:solidFill>
            <a:srgbClr val="F3F6F8"/>
          </a:solidFill>
          <a:ln w="6350">
            <a:solidFill>
              <a:srgbClr val="F3F6F8"/>
            </a:solidFill>
            <a:prstDash val="solid"/>
          </a:ln>
        </p:spPr>
      </p:sp>
      <p:pic>
        <p:nvPicPr>
          <p:cNvPr id="9" name="Image 1" descr="preencoded.png">    </p:cNvPr>
          <p:cNvPicPr>
            <a:picLocks noChangeAspect="1"/>
          </p:cNvPicPr>
          <p:nvPr/>
        </p:nvPicPr>
        <p:blipFill>
          <a:blip r:embed="rId2"/>
          <a:stretch>
            <a:fillRect/>
          </a:stretch>
        </p:blipFill>
        <p:spPr>
          <a:xfrm>
            <a:off x="4800600" y="1481328"/>
            <a:ext cx="438912" cy="438912"/>
          </a:xfrm>
          <a:prstGeom prst="rect">
            <a:avLst/>
          </a:prstGeom>
        </p:spPr>
      </p:pic>
      <p:sp>
        <p:nvSpPr>
          <p:cNvPr id="10" name="Text 6"/>
          <p:cNvSpPr txBox="1"/>
          <p:nvPr/>
        </p:nvSpPr>
        <p:spPr>
          <a:xfrm>
            <a:off x="5349240" y="1399032"/>
            <a:ext cx="3200400" cy="256032"/>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Owner / GM</a:t>
            </a:r>
            <a:endParaRPr lang="en-US" sz="1250" dirty="0"/>
          </a:p>
        </p:txBody>
      </p:sp>
      <p:sp>
        <p:nvSpPr>
          <p:cNvPr id="11" name="Text 7"/>
          <p:cNvSpPr txBox="1"/>
          <p:nvPr/>
        </p:nvSpPr>
        <p:spPr>
          <a:xfrm>
            <a:off x="5349240" y="1655064"/>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Buys on billable-hour recovery, unbilled work, AR days, staff turnover.</a:t>
            </a:r>
            <a:endParaRPr lang="en-US" sz="950" dirty="0"/>
          </a:p>
        </p:txBody>
      </p:sp>
      <p:sp>
        <p:nvSpPr>
          <p:cNvPr id="12" name="Shape 8"/>
          <p:cNvSpPr/>
          <p:nvPr/>
        </p:nvSpPr>
        <p:spPr>
          <a:xfrm>
            <a:off x="4663440" y="2167128"/>
            <a:ext cx="4023360" cy="749808"/>
          </a:xfrm>
          <a:prstGeom prst="roundRect">
            <a:avLst>
              <a:gd name="adj" fmla="val 9756"/>
            </a:avLst>
          </a:prstGeom>
          <a:solidFill>
            <a:srgbClr val="F3F6F8"/>
          </a:solidFill>
          <a:ln w="6350">
            <a:solidFill>
              <a:srgbClr val="F3F6F8"/>
            </a:solidFill>
            <a:prstDash val="solid"/>
          </a:ln>
        </p:spPr>
      </p:sp>
      <p:pic>
        <p:nvPicPr>
          <p:cNvPr id="13" name="Image 2" descr="preencoded.png">    </p:cNvPr>
          <p:cNvPicPr>
            <a:picLocks noChangeAspect="1"/>
          </p:cNvPicPr>
          <p:nvPr/>
        </p:nvPicPr>
        <p:blipFill>
          <a:blip r:embed="rId3"/>
          <a:stretch>
            <a:fillRect/>
          </a:stretch>
        </p:blipFill>
        <p:spPr>
          <a:xfrm>
            <a:off x="4800600" y="2322576"/>
            <a:ext cx="438912" cy="438912"/>
          </a:xfrm>
          <a:prstGeom prst="rect">
            <a:avLst/>
          </a:prstGeom>
        </p:spPr>
      </p:pic>
      <p:sp>
        <p:nvSpPr>
          <p:cNvPr id="14" name="Text 9"/>
          <p:cNvSpPr txBox="1"/>
          <p:nvPr/>
        </p:nvSpPr>
        <p:spPr>
          <a:xfrm>
            <a:off x="5349240" y="2240280"/>
            <a:ext cx="3200400" cy="256032"/>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Service manager</a:t>
            </a:r>
            <a:endParaRPr lang="en-US" sz="1250" dirty="0"/>
          </a:p>
        </p:txBody>
      </p:sp>
      <p:sp>
        <p:nvSpPr>
          <p:cNvPr id="15" name="Text 10"/>
          <p:cNvSpPr txBox="1"/>
          <p:nvPr/>
        </p:nvSpPr>
        <p:spPr>
          <a:xfrm>
            <a:off x="5349240" y="2496312"/>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Daily power user. Estimate turnaround, quoting from memory, chasing approvals, notes not reaching the invoice.</a:t>
            </a:r>
            <a:endParaRPr lang="en-US" sz="950" dirty="0"/>
          </a:p>
        </p:txBody>
      </p:sp>
      <p:sp>
        <p:nvSpPr>
          <p:cNvPr id="16" name="Shape 11"/>
          <p:cNvSpPr/>
          <p:nvPr/>
        </p:nvSpPr>
        <p:spPr>
          <a:xfrm>
            <a:off x="4663440" y="3008376"/>
            <a:ext cx="4023360" cy="749808"/>
          </a:xfrm>
          <a:prstGeom prst="roundRect">
            <a:avLst>
              <a:gd name="adj" fmla="val 9756"/>
            </a:avLst>
          </a:prstGeom>
          <a:solidFill>
            <a:srgbClr val="F3F6F8"/>
          </a:solidFill>
          <a:ln w="6350">
            <a:solidFill>
              <a:srgbClr val="F3F6F8"/>
            </a:solidFill>
            <a:prstDash val="solid"/>
          </a:ln>
        </p:spPr>
      </p:sp>
      <p:pic>
        <p:nvPicPr>
          <p:cNvPr id="17" name="Image 3" descr="preencoded.png">    </p:cNvPr>
          <p:cNvPicPr>
            <a:picLocks noChangeAspect="1"/>
          </p:cNvPicPr>
          <p:nvPr/>
        </p:nvPicPr>
        <p:blipFill>
          <a:blip r:embed="rId4"/>
          <a:stretch>
            <a:fillRect/>
          </a:stretch>
        </p:blipFill>
        <p:spPr>
          <a:xfrm>
            <a:off x="4800600" y="3163824"/>
            <a:ext cx="438912" cy="438912"/>
          </a:xfrm>
          <a:prstGeom prst="rect">
            <a:avLst/>
          </a:prstGeom>
        </p:spPr>
      </p:pic>
      <p:sp>
        <p:nvSpPr>
          <p:cNvPr id="18" name="Text 12"/>
          <p:cNvSpPr txBox="1"/>
          <p:nvPr/>
        </p:nvSpPr>
        <p:spPr>
          <a:xfrm>
            <a:off x="5349240" y="3081528"/>
            <a:ext cx="3200400" cy="256032"/>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Office / accounting</a:t>
            </a:r>
            <a:endParaRPr lang="en-US" sz="1250" dirty="0"/>
          </a:p>
        </p:txBody>
      </p:sp>
      <p:sp>
        <p:nvSpPr>
          <p:cNvPr id="19" name="Text 13"/>
          <p:cNvSpPr txBox="1"/>
          <p:nvPr/>
        </p:nvSpPr>
        <p:spPr>
          <a:xfrm>
            <a:off x="5349240" y="3337560"/>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Month-end, collections, reconciling payments, fighting the Desktop UI.</a:t>
            </a:r>
            <a:endParaRPr lang="en-US" sz="950" dirty="0"/>
          </a:p>
        </p:txBody>
      </p:sp>
      <p:sp>
        <p:nvSpPr>
          <p:cNvPr id="20" name="Shape 14"/>
          <p:cNvSpPr/>
          <p:nvPr/>
        </p:nvSpPr>
        <p:spPr>
          <a:xfrm>
            <a:off x="4663440" y="3849624"/>
            <a:ext cx="4023360" cy="749808"/>
          </a:xfrm>
          <a:prstGeom prst="roundRect">
            <a:avLst>
              <a:gd name="adj" fmla="val 9756"/>
            </a:avLst>
          </a:prstGeom>
          <a:solidFill>
            <a:srgbClr val="F3F6F8"/>
          </a:solidFill>
          <a:ln w="6350">
            <a:solidFill>
              <a:srgbClr val="F3F6F8"/>
            </a:solidFill>
            <a:prstDash val="solid"/>
          </a:ln>
        </p:spPr>
      </p:sp>
      <p:pic>
        <p:nvPicPr>
          <p:cNvPr id="21" name="Image 4" descr="preencoded.png">    </p:cNvPr>
          <p:cNvPicPr>
            <a:picLocks noChangeAspect="1"/>
          </p:cNvPicPr>
          <p:nvPr/>
        </p:nvPicPr>
        <p:blipFill>
          <a:blip r:embed="rId5"/>
          <a:stretch>
            <a:fillRect/>
          </a:stretch>
        </p:blipFill>
        <p:spPr>
          <a:xfrm>
            <a:off x="4800600" y="4005072"/>
            <a:ext cx="438912" cy="438912"/>
          </a:xfrm>
          <a:prstGeom prst="rect">
            <a:avLst/>
          </a:prstGeom>
        </p:spPr>
      </p:pic>
      <p:sp>
        <p:nvSpPr>
          <p:cNvPr id="22" name="Text 15"/>
          <p:cNvSpPr txBox="1"/>
          <p:nvPr/>
        </p:nvSpPr>
        <p:spPr>
          <a:xfrm>
            <a:off x="5349240" y="3922776"/>
            <a:ext cx="3200400" cy="256032"/>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Technicians</a:t>
            </a:r>
            <a:endParaRPr lang="en-US" sz="1250" dirty="0"/>
          </a:p>
        </p:txBody>
      </p:sp>
      <p:sp>
        <p:nvSpPr>
          <p:cNvPr id="23" name="Text 16"/>
          <p:cNvSpPr txBox="1"/>
          <p:nvPr/>
        </p:nvSpPr>
        <p:spPr>
          <a:xfrm>
            <a:off x="5349240" y="4178808"/>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On Mobile, offline, hands dirty. Voice and photos, not typing.</a:t>
            </a:r>
            <a:endParaRPr lang="en-US" sz="950" dirty="0"/>
          </a:p>
        </p:txBody>
      </p:sp>
      <p:sp>
        <p:nvSpPr>
          <p:cNvPr id="24" name="Text 17"/>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Opportunity map</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Eight candidates scored 1-5 on customer revenue, DockMaster revenue, data moat, 12-month feasibility and fit with existing AI</a:t>
            </a:r>
            <a:endParaRPr lang="en-US" sz="1300" dirty="0"/>
          </a:p>
        </p:txBody>
      </p:sp>
      <p:graphicFrame>
        <p:nvGraphicFramePr>
          <p:cNvPr id="4" name="Chart 0" descr=""/>
          <p:cNvGraphicFramePr/>
          <p:nvPr/>
        </p:nvGraphicFramePr>
        <p:xfrm>
          <a:off x="457200" y="1280160"/>
          <a:ext cx="512064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852160" y="1325880"/>
            <a:ext cx="2834640" cy="3246120"/>
          </a:xfrm>
          <a:prstGeom prst="roundRect">
            <a:avLst>
              <a:gd name="adj" fmla="val 2581"/>
            </a:avLst>
          </a:prstGeom>
          <a:solidFill>
            <a:srgbClr val="E3F5F3"/>
          </a:solidFill>
          <a:ln w="6350">
            <a:solidFill>
              <a:srgbClr val="E3F5F3"/>
            </a:solidFill>
            <a:prstDash val="solid"/>
          </a:ln>
        </p:spPr>
      </p:sp>
      <p:sp>
        <p:nvSpPr>
          <p:cNvPr id="6" name="Text 3"/>
          <p:cNvSpPr txBox="1"/>
          <p:nvPr/>
        </p:nvSpPr>
        <p:spPr>
          <a:xfrm>
            <a:off x="6035040" y="1417320"/>
            <a:ext cx="2468880" cy="32004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The pick</a:t>
            </a:r>
            <a:endParaRPr lang="en-US" sz="1500" dirty="0"/>
          </a:p>
        </p:txBody>
      </p:sp>
      <p:sp>
        <p:nvSpPr>
          <p:cNvPr id="7" name="Text 4"/>
          <p:cNvSpPr txBox="1"/>
          <p:nvPr/>
        </p:nvSpPr>
        <p:spPr>
          <a:xfrm>
            <a:off x="6035040" y="1783080"/>
            <a:ext cx="2514600" cy="2743200"/>
          </a:xfrm>
          <a:prstGeom prst="rect">
            <a:avLst/>
          </a:prstGeom>
          <a:noFill/>
          <a:ln/>
        </p:spPr>
        <p:txBody>
          <a:bodyPr wrap="square" lIns="0" tIns="0" rIns="0" bIns="0" rtlCol="0" anchor="t"/>
          <a:lstStyle/>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Build A, the Service Writer, first.</a:t>
            </a:r>
            <a:endParaRPr lang="en-US" sz="1050" dirty="0"/>
          </a:p>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B (proactive demand) is release two and reuses the same drafting engine.</a:t>
            </a:r>
            <a:endParaRPr lang="en-US" sz="1050" dirty="0"/>
          </a:p>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C (collections) is the payments-linked upsell that drives ValPay attach.</a:t>
            </a:r>
            <a:endParaRPr lang="en-US" sz="1050" dirty="0"/>
          </a:p>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The thread: service revenue. Write it faster, find more of it, collect it sooner.</a:t>
            </a:r>
            <a:endParaRPr lang="en-US" sz="1050" dirty="0"/>
          </a:p>
          <a:p>
            <a:pPr marL="152400" indent="-152400">
              <a:spcAft>
                <a:spcPts val="700"/>
              </a:spcAft>
              <a:buSzPct val="100000"/>
              <a:buChar char="•"/>
            </a:pPr>
            <a:r>
              <a:rPr lang="en-US" sz="1050" dirty="0">
                <a:solidFill>
                  <a:srgbClr val="1B2430"/>
                </a:solidFill>
                <a:latin typeface="Calibri" pitchFamily="34" charset="0"/>
                <a:ea typeface="Calibri" pitchFamily="34" charset="-122"/>
                <a:cs typeface="Calibri" pitchFamily="34" charset="-120"/>
              </a:rPr>
              <a:t>Not chosen: voice and scheduling already exist; slip pricing is Dockwa's ground and thin on DockMaster data.</a:t>
            </a:r>
            <a:endParaRPr lang="en-US" sz="1050" dirty="0"/>
          </a:p>
        </p:txBody>
      </p:sp>
      <p:sp>
        <p:nvSpPr>
          <p:cNvPr id="8" name="Text 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The Service Writer</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From a technician's voice note to an approved work order, with a human click at every send</a:t>
            </a:r>
            <a:endParaRPr lang="en-US" sz="1300" dirty="0"/>
          </a:p>
        </p:txBody>
      </p:sp>
      <p:sp>
        <p:nvSpPr>
          <p:cNvPr id="4" name="Shape 2"/>
          <p:cNvSpPr/>
          <p:nvPr/>
        </p:nvSpPr>
        <p:spPr>
          <a:xfrm>
            <a:off x="457200" y="1371600"/>
            <a:ext cx="1481328" cy="1920240"/>
          </a:xfrm>
          <a:prstGeom prst="roundRect">
            <a:avLst>
              <a:gd name="adj" fmla="val 4938"/>
            </a:avLst>
          </a:prstGeom>
          <a:solidFill>
            <a:srgbClr val="F3F6F8"/>
          </a:solidFill>
          <a:ln w="6350">
            <a:solidFill>
              <a:srgbClr val="F3F6F8"/>
            </a:solidFill>
            <a:prstDash val="solid"/>
          </a:ln>
        </p:spPr>
      </p:sp>
      <p:pic>
        <p:nvPicPr>
          <p:cNvPr id="5" name="Image 0" descr="preencoded.png">    </p:cNvPr>
          <p:cNvPicPr>
            <a:picLocks noChangeAspect="1"/>
          </p:cNvPicPr>
          <p:nvPr/>
        </p:nvPicPr>
        <p:blipFill>
          <a:blip r:embed="rId1"/>
          <a:stretch>
            <a:fillRect/>
          </a:stretch>
        </p:blipFill>
        <p:spPr>
          <a:xfrm>
            <a:off x="923544" y="1508760"/>
            <a:ext cx="548640" cy="548640"/>
          </a:xfrm>
          <a:prstGeom prst="rect">
            <a:avLst/>
          </a:prstGeom>
        </p:spPr>
      </p:pic>
      <p:sp>
        <p:nvSpPr>
          <p:cNvPr id="6" name="Text 3"/>
          <p:cNvSpPr txBox="1"/>
          <p:nvPr/>
        </p:nvSpPr>
        <p:spPr>
          <a:xfrm>
            <a:off x="512064" y="2103120"/>
            <a:ext cx="1371600" cy="274320"/>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Tech note</a:t>
            </a:r>
            <a:endParaRPr lang="en-US" sz="1300" dirty="0"/>
          </a:p>
        </p:txBody>
      </p:sp>
      <p:sp>
        <p:nvSpPr>
          <p:cNvPr id="7" name="Text 4"/>
          <p:cNvSpPr txBox="1"/>
          <p:nvPr/>
        </p:nvSpPr>
        <p:spPr>
          <a:xfrm>
            <a:off x="512064" y="2395728"/>
            <a:ext cx="1371600" cy="822960"/>
          </a:xfrm>
          <a:prstGeom prst="rect">
            <a:avLst/>
          </a:prstGeom>
          <a:noFill/>
          <a:ln/>
        </p:spPr>
        <p:txBody>
          <a:bodyPr wrap="square" lIns="0" tIns="0" rIns="0" bIns="0" rtlCol="0" anchor="t"/>
          <a:lstStyle/>
          <a:p>
            <a:pPr algn="ctr" indent="0" marL="0">
              <a:buNone/>
            </a:pPr>
            <a:r>
              <a:rPr lang="en-US" sz="950" dirty="0">
                <a:solidFill>
                  <a:srgbClr val="1B2430"/>
                </a:solidFill>
                <a:latin typeface="Calibri" pitchFamily="34" charset="0"/>
                <a:ea typeface="Calibri" pitchFamily="34" charset="-122"/>
                <a:cs typeface="Calibri" pitchFamily="34" charset="-120"/>
              </a:rPr>
              <a:t>Voice note and photos from DockMaster Mobile</a:t>
            </a:r>
            <a:endParaRPr lang="en-US" sz="950" dirty="0"/>
          </a:p>
        </p:txBody>
      </p:sp>
      <p:sp>
        <p:nvSpPr>
          <p:cNvPr id="8" name="Shape 5"/>
          <p:cNvSpPr/>
          <p:nvPr/>
        </p:nvSpPr>
        <p:spPr>
          <a:xfrm>
            <a:off x="1975104" y="2212848"/>
            <a:ext cx="137160" cy="219456"/>
          </a:xfrm>
          <a:prstGeom prst="chevron">
            <a:avLst/>
          </a:prstGeom>
          <a:solidFill>
            <a:srgbClr val="13A89E"/>
          </a:solidFill>
          <a:ln w="12700">
            <a:solidFill>
              <a:srgbClr val="13A89E"/>
            </a:solidFill>
            <a:prstDash val="solid"/>
          </a:ln>
        </p:spPr>
      </p:sp>
      <p:sp>
        <p:nvSpPr>
          <p:cNvPr id="9" name="Shape 6"/>
          <p:cNvSpPr/>
          <p:nvPr/>
        </p:nvSpPr>
        <p:spPr>
          <a:xfrm>
            <a:off x="2148840" y="1371600"/>
            <a:ext cx="1481328" cy="1920240"/>
          </a:xfrm>
          <a:prstGeom prst="roundRect">
            <a:avLst>
              <a:gd name="adj" fmla="val 4938"/>
            </a:avLst>
          </a:prstGeom>
          <a:solidFill>
            <a:srgbClr val="F3F6F8"/>
          </a:solidFill>
          <a:ln w="6350">
            <a:solidFill>
              <a:srgbClr val="F3F6F8"/>
            </a:solidFill>
            <a:prstDash val="solid"/>
          </a:ln>
        </p:spPr>
      </p:sp>
      <p:pic>
        <p:nvPicPr>
          <p:cNvPr id="10" name="Image 1" descr="preencoded.png">    </p:cNvPr>
          <p:cNvPicPr>
            <a:picLocks noChangeAspect="1"/>
          </p:cNvPicPr>
          <p:nvPr/>
        </p:nvPicPr>
        <p:blipFill>
          <a:blip r:embed="rId2"/>
          <a:stretch>
            <a:fillRect/>
          </a:stretch>
        </p:blipFill>
        <p:spPr>
          <a:xfrm>
            <a:off x="2615184" y="1508760"/>
            <a:ext cx="548640" cy="548640"/>
          </a:xfrm>
          <a:prstGeom prst="rect">
            <a:avLst/>
          </a:prstGeom>
        </p:spPr>
      </p:pic>
      <p:sp>
        <p:nvSpPr>
          <p:cNvPr id="11" name="Text 7"/>
          <p:cNvSpPr txBox="1"/>
          <p:nvPr/>
        </p:nvSpPr>
        <p:spPr>
          <a:xfrm>
            <a:off x="2203704" y="2103120"/>
            <a:ext cx="1371600" cy="274320"/>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Draft</a:t>
            </a:r>
            <a:endParaRPr lang="en-US" sz="1300" dirty="0"/>
          </a:p>
        </p:txBody>
      </p:sp>
      <p:sp>
        <p:nvSpPr>
          <p:cNvPr id="12" name="Text 8"/>
          <p:cNvSpPr txBox="1"/>
          <p:nvPr/>
        </p:nvSpPr>
        <p:spPr>
          <a:xfrm>
            <a:off x="2203704" y="2395728"/>
            <a:ext cx="1371600" cy="822960"/>
          </a:xfrm>
          <a:prstGeom prst="rect">
            <a:avLst/>
          </a:prstGeom>
          <a:noFill/>
          <a:ln/>
        </p:spPr>
        <p:txBody>
          <a:bodyPr wrap="square" lIns="0" tIns="0" rIns="0" bIns="0" rtlCol="0" anchor="t"/>
          <a:lstStyle/>
          <a:p>
            <a:pPr algn="ctr" indent="0" marL="0">
              <a:buNone/>
            </a:pPr>
            <a:r>
              <a:rPr lang="en-US" sz="950" dirty="0">
                <a:solidFill>
                  <a:srgbClr val="1B2430"/>
                </a:solidFill>
                <a:latin typeface="Calibri" pitchFamily="34" charset="0"/>
                <a:ea typeface="Calibri" pitchFamily="34" charset="-122"/>
                <a:cs typeface="Calibri" pitchFamily="34" charset="-120"/>
              </a:rPr>
              <a:t>Matches the vessel, picks operation codes, pulls the parts kit, flags history</a:t>
            </a:r>
            <a:endParaRPr lang="en-US" sz="950" dirty="0"/>
          </a:p>
        </p:txBody>
      </p:sp>
      <p:sp>
        <p:nvSpPr>
          <p:cNvPr id="13" name="Shape 9"/>
          <p:cNvSpPr/>
          <p:nvPr/>
        </p:nvSpPr>
        <p:spPr>
          <a:xfrm>
            <a:off x="3666744" y="2212848"/>
            <a:ext cx="137160" cy="219456"/>
          </a:xfrm>
          <a:prstGeom prst="chevron">
            <a:avLst/>
          </a:prstGeom>
          <a:solidFill>
            <a:srgbClr val="13A89E"/>
          </a:solidFill>
          <a:ln w="12700">
            <a:solidFill>
              <a:srgbClr val="13A89E"/>
            </a:solidFill>
            <a:prstDash val="solid"/>
          </a:ln>
        </p:spPr>
      </p:sp>
      <p:sp>
        <p:nvSpPr>
          <p:cNvPr id="14" name="Shape 10"/>
          <p:cNvSpPr/>
          <p:nvPr/>
        </p:nvSpPr>
        <p:spPr>
          <a:xfrm>
            <a:off x="3840480" y="1371600"/>
            <a:ext cx="1481328" cy="1920240"/>
          </a:xfrm>
          <a:prstGeom prst="roundRect">
            <a:avLst>
              <a:gd name="adj" fmla="val 4938"/>
            </a:avLst>
          </a:prstGeom>
          <a:solidFill>
            <a:srgbClr val="F3F6F8"/>
          </a:solidFill>
          <a:ln w="6350">
            <a:solidFill>
              <a:srgbClr val="F3F6F8"/>
            </a:solidFill>
            <a:prstDash val="solid"/>
          </a:ln>
        </p:spPr>
      </p:sp>
      <p:pic>
        <p:nvPicPr>
          <p:cNvPr id="15" name="Image 2" descr="preencoded.png">    </p:cNvPr>
          <p:cNvPicPr>
            <a:picLocks noChangeAspect="1"/>
          </p:cNvPicPr>
          <p:nvPr/>
        </p:nvPicPr>
        <p:blipFill>
          <a:blip r:embed="rId3"/>
          <a:stretch>
            <a:fillRect/>
          </a:stretch>
        </p:blipFill>
        <p:spPr>
          <a:xfrm>
            <a:off x="4306824" y="1508760"/>
            <a:ext cx="548640" cy="548640"/>
          </a:xfrm>
          <a:prstGeom prst="rect">
            <a:avLst/>
          </a:prstGeom>
        </p:spPr>
      </p:pic>
      <p:sp>
        <p:nvSpPr>
          <p:cNvPr id="16" name="Text 11"/>
          <p:cNvSpPr txBox="1"/>
          <p:nvPr/>
        </p:nvSpPr>
        <p:spPr>
          <a:xfrm>
            <a:off x="3895344" y="2103120"/>
            <a:ext cx="1371600" cy="274320"/>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Review</a:t>
            </a:r>
            <a:endParaRPr lang="en-US" sz="1300" dirty="0"/>
          </a:p>
        </p:txBody>
      </p:sp>
      <p:sp>
        <p:nvSpPr>
          <p:cNvPr id="17" name="Text 12"/>
          <p:cNvSpPr txBox="1"/>
          <p:nvPr/>
        </p:nvSpPr>
        <p:spPr>
          <a:xfrm>
            <a:off x="3895344" y="2395728"/>
            <a:ext cx="1371600" cy="822960"/>
          </a:xfrm>
          <a:prstGeom prst="rect">
            <a:avLst/>
          </a:prstGeom>
          <a:noFill/>
          <a:ln/>
        </p:spPr>
        <p:txBody>
          <a:bodyPr wrap="square" lIns="0" tIns="0" rIns="0" bIns="0" rtlCol="0" anchor="t"/>
          <a:lstStyle/>
          <a:p>
            <a:pPr algn="ctr" indent="0" marL="0">
              <a:buNone/>
            </a:pPr>
            <a:r>
              <a:rPr lang="en-US" sz="950" dirty="0">
                <a:solidFill>
                  <a:srgbClr val="1B2430"/>
                </a:solidFill>
                <a:latin typeface="Calibri" pitchFamily="34" charset="0"/>
                <a:ea typeface="Calibri" pitchFamily="34" charset="-122"/>
                <a:cs typeface="Calibri" pitchFamily="34" charset="-120"/>
              </a:rPr>
              <a:t>Service manager edits and approves. Confidence on every line</a:t>
            </a:r>
            <a:endParaRPr lang="en-US" sz="950" dirty="0"/>
          </a:p>
        </p:txBody>
      </p:sp>
      <p:sp>
        <p:nvSpPr>
          <p:cNvPr id="18" name="Shape 13"/>
          <p:cNvSpPr/>
          <p:nvPr/>
        </p:nvSpPr>
        <p:spPr>
          <a:xfrm>
            <a:off x="5358384" y="2212848"/>
            <a:ext cx="137160" cy="219456"/>
          </a:xfrm>
          <a:prstGeom prst="chevron">
            <a:avLst/>
          </a:prstGeom>
          <a:solidFill>
            <a:srgbClr val="13A89E"/>
          </a:solidFill>
          <a:ln w="12700">
            <a:solidFill>
              <a:srgbClr val="13A89E"/>
            </a:solidFill>
            <a:prstDash val="solid"/>
          </a:ln>
        </p:spPr>
      </p:sp>
      <p:sp>
        <p:nvSpPr>
          <p:cNvPr id="19" name="Shape 14"/>
          <p:cNvSpPr/>
          <p:nvPr/>
        </p:nvSpPr>
        <p:spPr>
          <a:xfrm>
            <a:off x="5532120" y="1371600"/>
            <a:ext cx="1481328" cy="1920240"/>
          </a:xfrm>
          <a:prstGeom prst="roundRect">
            <a:avLst>
              <a:gd name="adj" fmla="val 4938"/>
            </a:avLst>
          </a:prstGeom>
          <a:solidFill>
            <a:srgbClr val="F3F6F8"/>
          </a:solidFill>
          <a:ln w="6350">
            <a:solidFill>
              <a:srgbClr val="F3F6F8"/>
            </a:solidFill>
            <a:prstDash val="solid"/>
          </a:ln>
        </p:spPr>
      </p:sp>
      <p:pic>
        <p:nvPicPr>
          <p:cNvPr id="20" name="Image 3" descr="preencoded.png">    </p:cNvPr>
          <p:cNvPicPr>
            <a:picLocks noChangeAspect="1"/>
          </p:cNvPicPr>
          <p:nvPr/>
        </p:nvPicPr>
        <p:blipFill>
          <a:blip r:embed="rId4"/>
          <a:stretch>
            <a:fillRect/>
          </a:stretch>
        </p:blipFill>
        <p:spPr>
          <a:xfrm>
            <a:off x="5998464" y="1508760"/>
            <a:ext cx="548640" cy="548640"/>
          </a:xfrm>
          <a:prstGeom prst="rect">
            <a:avLst/>
          </a:prstGeom>
        </p:spPr>
      </p:pic>
      <p:sp>
        <p:nvSpPr>
          <p:cNvPr id="21" name="Text 15"/>
          <p:cNvSpPr txBox="1"/>
          <p:nvPr/>
        </p:nvSpPr>
        <p:spPr>
          <a:xfrm>
            <a:off x="5586984" y="2103120"/>
            <a:ext cx="1371600" cy="274320"/>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eSign</a:t>
            </a:r>
            <a:endParaRPr lang="en-US" sz="1300" dirty="0"/>
          </a:p>
        </p:txBody>
      </p:sp>
      <p:sp>
        <p:nvSpPr>
          <p:cNvPr id="22" name="Text 16"/>
          <p:cNvSpPr txBox="1"/>
          <p:nvPr/>
        </p:nvSpPr>
        <p:spPr>
          <a:xfrm>
            <a:off x="5586984" y="2395728"/>
            <a:ext cx="1371600" cy="822960"/>
          </a:xfrm>
          <a:prstGeom prst="rect">
            <a:avLst/>
          </a:prstGeom>
          <a:noFill/>
          <a:ln/>
        </p:spPr>
        <p:txBody>
          <a:bodyPr wrap="square" lIns="0" tIns="0" rIns="0" bIns="0" rtlCol="0" anchor="t"/>
          <a:lstStyle/>
          <a:p>
            <a:pPr algn="ctr" indent="0" marL="0">
              <a:buNone/>
            </a:pPr>
            <a:r>
              <a:rPr lang="en-US" sz="950" dirty="0">
                <a:solidFill>
                  <a:srgbClr val="1B2430"/>
                </a:solidFill>
                <a:latin typeface="Calibri" pitchFamily="34" charset="0"/>
                <a:ea typeface="Calibri" pitchFamily="34" charset="-122"/>
                <a:cs typeface="Calibri" pitchFamily="34" charset="-120"/>
              </a:rPr>
              <a:t>Owner approves in the portal; estimate becomes a work order</a:t>
            </a:r>
            <a:endParaRPr lang="en-US" sz="950" dirty="0"/>
          </a:p>
        </p:txBody>
      </p:sp>
      <p:sp>
        <p:nvSpPr>
          <p:cNvPr id="23" name="Shape 17"/>
          <p:cNvSpPr/>
          <p:nvPr/>
        </p:nvSpPr>
        <p:spPr>
          <a:xfrm>
            <a:off x="7050024" y="2212848"/>
            <a:ext cx="137160" cy="219456"/>
          </a:xfrm>
          <a:prstGeom prst="chevron">
            <a:avLst/>
          </a:prstGeom>
          <a:solidFill>
            <a:srgbClr val="13A89E"/>
          </a:solidFill>
          <a:ln w="12700">
            <a:solidFill>
              <a:srgbClr val="13A89E"/>
            </a:solidFill>
            <a:prstDash val="solid"/>
          </a:ln>
        </p:spPr>
      </p:sp>
      <p:sp>
        <p:nvSpPr>
          <p:cNvPr id="24" name="Shape 18"/>
          <p:cNvSpPr/>
          <p:nvPr/>
        </p:nvSpPr>
        <p:spPr>
          <a:xfrm>
            <a:off x="7223760" y="1371600"/>
            <a:ext cx="1481328" cy="1920240"/>
          </a:xfrm>
          <a:prstGeom prst="roundRect">
            <a:avLst>
              <a:gd name="adj" fmla="val 4938"/>
            </a:avLst>
          </a:prstGeom>
          <a:solidFill>
            <a:srgbClr val="F3F6F8"/>
          </a:solidFill>
          <a:ln w="6350">
            <a:solidFill>
              <a:srgbClr val="F3F6F8"/>
            </a:solidFill>
            <a:prstDash val="solid"/>
          </a:ln>
        </p:spPr>
      </p:sp>
      <p:pic>
        <p:nvPicPr>
          <p:cNvPr id="25" name="Image 4" descr="preencoded.png">    </p:cNvPr>
          <p:cNvPicPr>
            <a:picLocks noChangeAspect="1"/>
          </p:cNvPicPr>
          <p:nvPr/>
        </p:nvPicPr>
        <p:blipFill>
          <a:blip r:embed="rId5"/>
          <a:stretch>
            <a:fillRect/>
          </a:stretch>
        </p:blipFill>
        <p:spPr>
          <a:xfrm>
            <a:off x="7690104" y="1508760"/>
            <a:ext cx="548640" cy="548640"/>
          </a:xfrm>
          <a:prstGeom prst="rect">
            <a:avLst/>
          </a:prstGeom>
        </p:spPr>
      </p:pic>
      <p:sp>
        <p:nvSpPr>
          <p:cNvPr id="26" name="Text 19"/>
          <p:cNvSpPr txBox="1"/>
          <p:nvPr/>
        </p:nvSpPr>
        <p:spPr>
          <a:xfrm>
            <a:off x="7278624" y="2103120"/>
            <a:ext cx="1371600" cy="274320"/>
          </a:xfrm>
          <a:prstGeom prst="rect">
            <a:avLst/>
          </a:prstGeom>
          <a:noFill/>
          <a:ln/>
        </p:spPr>
        <p:txBody>
          <a:bodyPr wrap="square" lIns="0" tIns="0" rIns="0" bIns="0" rtlCol="0" anchor="ctr"/>
          <a:lstStyle/>
          <a:p>
            <a:pPr algn="ctr" indent="0" marL="0">
              <a:buNone/>
            </a:pPr>
            <a:r>
              <a:rPr lang="en-US" sz="1300" b="1" dirty="0">
                <a:solidFill>
                  <a:srgbClr val="0B2545"/>
                </a:solidFill>
                <a:latin typeface="Cambria" pitchFamily="34" charset="0"/>
                <a:ea typeface="Cambria" pitchFamily="34" charset="-122"/>
                <a:cs typeface="Cambria" pitchFamily="34" charset="-120"/>
              </a:rPr>
              <a:t>Schedule</a:t>
            </a:r>
            <a:endParaRPr lang="en-US" sz="1300" dirty="0"/>
          </a:p>
        </p:txBody>
      </p:sp>
      <p:sp>
        <p:nvSpPr>
          <p:cNvPr id="27" name="Text 20"/>
          <p:cNvSpPr txBox="1"/>
          <p:nvPr/>
        </p:nvSpPr>
        <p:spPr>
          <a:xfrm>
            <a:off x="7278624" y="2395728"/>
            <a:ext cx="1371600" cy="822960"/>
          </a:xfrm>
          <a:prstGeom prst="rect">
            <a:avLst/>
          </a:prstGeom>
          <a:noFill/>
          <a:ln/>
        </p:spPr>
        <p:txBody>
          <a:bodyPr wrap="square" lIns="0" tIns="0" rIns="0" bIns="0" rtlCol="0" anchor="t"/>
          <a:lstStyle/>
          <a:p>
            <a:pPr algn="ctr" indent="0" marL="0">
              <a:buNone/>
            </a:pPr>
            <a:r>
              <a:rPr lang="en-US" sz="950" dirty="0">
                <a:solidFill>
                  <a:srgbClr val="1B2430"/>
                </a:solidFill>
                <a:latin typeface="Calibri" pitchFamily="34" charset="0"/>
                <a:ea typeface="Calibri" pitchFamily="34" charset="-122"/>
                <a:cs typeface="Calibri" pitchFamily="34" charset="-120"/>
              </a:rPr>
              <a:t>Hands off to the AI Scheduling Assistant and to Blu</a:t>
            </a:r>
            <a:endParaRPr lang="en-US" sz="950" dirty="0"/>
          </a:p>
        </p:txBody>
      </p:sp>
      <p:sp>
        <p:nvSpPr>
          <p:cNvPr id="28" name="Shape 21"/>
          <p:cNvSpPr/>
          <p:nvPr/>
        </p:nvSpPr>
        <p:spPr>
          <a:xfrm>
            <a:off x="457200" y="3520440"/>
            <a:ext cx="4023360" cy="1097280"/>
          </a:xfrm>
          <a:prstGeom prst="roundRect">
            <a:avLst>
              <a:gd name="adj" fmla="val 6667"/>
            </a:avLst>
          </a:prstGeom>
          <a:solidFill>
            <a:srgbClr val="E3F5F3"/>
          </a:solidFill>
          <a:ln w="6350">
            <a:solidFill>
              <a:srgbClr val="E3F5F3"/>
            </a:solidFill>
            <a:prstDash val="solid"/>
          </a:ln>
        </p:spPr>
      </p:sp>
      <p:pic>
        <p:nvPicPr>
          <p:cNvPr id="29" name="Image 5" descr="preencoded.png">    </p:cNvPr>
          <p:cNvPicPr>
            <a:picLocks noChangeAspect="1"/>
          </p:cNvPicPr>
          <p:nvPr/>
        </p:nvPicPr>
        <p:blipFill>
          <a:blip r:embed="rId6"/>
          <a:stretch>
            <a:fillRect/>
          </a:stretch>
        </p:blipFill>
        <p:spPr>
          <a:xfrm>
            <a:off x="594360" y="3703320"/>
            <a:ext cx="411480" cy="411480"/>
          </a:xfrm>
          <a:prstGeom prst="rect">
            <a:avLst/>
          </a:prstGeom>
        </p:spPr>
      </p:pic>
      <p:sp>
        <p:nvSpPr>
          <p:cNvPr id="30" name="Text 22"/>
          <p:cNvSpPr txBox="1"/>
          <p:nvPr/>
        </p:nvSpPr>
        <p:spPr>
          <a:xfrm>
            <a:off x="1143000" y="3611880"/>
            <a:ext cx="3200400" cy="274320"/>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Release 2: proactive demand</a:t>
            </a:r>
            <a:endParaRPr lang="en-US" sz="1250" dirty="0"/>
          </a:p>
        </p:txBody>
      </p:sp>
      <p:sp>
        <p:nvSpPr>
          <p:cNvPr id="31" name="Text 23"/>
          <p:cNvSpPr txBox="1"/>
          <p:nvPr/>
        </p:nvSpPr>
        <p:spPr>
          <a:xfrm>
            <a:off x="1143000" y="3904488"/>
            <a:ext cx="3200400" cy="640080"/>
          </a:xfrm>
          <a:prstGeom prst="rect">
            <a:avLst/>
          </a:prstGeom>
          <a:noFill/>
          <a:ln/>
        </p:spPr>
        <p:txBody>
          <a:bodyPr wrap="square" lIns="0" tIns="0" rIns="0" bIns="0" rtlCol="0" anchor="t"/>
          <a:lstStyle/>
          <a:p>
            <a:pPr indent="0" marL="0">
              <a:buNone/>
            </a:pPr>
            <a:r>
              <a:rPr lang="en-US" sz="1000" dirty="0">
                <a:solidFill>
                  <a:srgbClr val="1B2430"/>
                </a:solidFill>
                <a:latin typeface="Calibri" pitchFamily="34" charset="0"/>
                <a:ea typeface="Calibri" pitchFamily="34" charset="-122"/>
                <a:cs typeface="Calibri" pitchFamily="34" charset="-120"/>
              </a:rPr>
              <a:t>Per-vessel interval predictions produce a draft estimate and a short outreach message before the season starts.</a:t>
            </a:r>
            <a:endParaRPr lang="en-US" sz="1000" dirty="0"/>
          </a:p>
        </p:txBody>
      </p:sp>
      <p:sp>
        <p:nvSpPr>
          <p:cNvPr id="32" name="Shape 24"/>
          <p:cNvSpPr/>
          <p:nvPr/>
        </p:nvSpPr>
        <p:spPr>
          <a:xfrm>
            <a:off x="4663440" y="3520440"/>
            <a:ext cx="4023360" cy="1097280"/>
          </a:xfrm>
          <a:prstGeom prst="roundRect">
            <a:avLst>
              <a:gd name="adj" fmla="val 6667"/>
            </a:avLst>
          </a:prstGeom>
          <a:solidFill>
            <a:srgbClr val="E3F5F3"/>
          </a:solidFill>
          <a:ln w="6350">
            <a:solidFill>
              <a:srgbClr val="E3F5F3"/>
            </a:solidFill>
            <a:prstDash val="solid"/>
          </a:ln>
        </p:spPr>
      </p:sp>
      <p:pic>
        <p:nvPicPr>
          <p:cNvPr id="33" name="Image 6" descr="preencoded.png">    </p:cNvPr>
          <p:cNvPicPr>
            <a:picLocks noChangeAspect="1"/>
          </p:cNvPicPr>
          <p:nvPr/>
        </p:nvPicPr>
        <p:blipFill>
          <a:blip r:embed="rId7"/>
          <a:stretch>
            <a:fillRect/>
          </a:stretch>
        </p:blipFill>
        <p:spPr>
          <a:xfrm>
            <a:off x="4800600" y="3703320"/>
            <a:ext cx="411480" cy="411480"/>
          </a:xfrm>
          <a:prstGeom prst="rect">
            <a:avLst/>
          </a:prstGeom>
        </p:spPr>
      </p:pic>
      <p:sp>
        <p:nvSpPr>
          <p:cNvPr id="34" name="Text 25"/>
          <p:cNvSpPr txBox="1"/>
          <p:nvPr/>
        </p:nvSpPr>
        <p:spPr>
          <a:xfrm>
            <a:off x="5349240" y="3611880"/>
            <a:ext cx="3200400" cy="274320"/>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Release 3: collections via ValPay</a:t>
            </a:r>
            <a:endParaRPr lang="en-US" sz="1250" dirty="0"/>
          </a:p>
        </p:txBody>
      </p:sp>
      <p:sp>
        <p:nvSpPr>
          <p:cNvPr id="35" name="Text 26"/>
          <p:cNvSpPr txBox="1"/>
          <p:nvPr/>
        </p:nvSpPr>
        <p:spPr>
          <a:xfrm>
            <a:off x="5349240" y="3904488"/>
            <a:ext cx="3200400" cy="640080"/>
          </a:xfrm>
          <a:prstGeom prst="rect">
            <a:avLst/>
          </a:prstGeom>
          <a:noFill/>
          <a:ln/>
        </p:spPr>
        <p:txBody>
          <a:bodyPr wrap="square" lIns="0" tIns="0" rIns="0" bIns="0" rtlCol="0" anchor="t"/>
          <a:lstStyle/>
          <a:p>
            <a:pPr indent="0" marL="0">
              <a:buNone/>
            </a:pPr>
            <a:r>
              <a:rPr lang="en-US" sz="1000" dirty="0">
                <a:solidFill>
                  <a:srgbClr val="1B2430"/>
                </a:solidFill>
                <a:latin typeface="Calibri" pitchFamily="34" charset="0"/>
                <a:ea typeface="Calibri" pitchFamily="34" charset="-122"/>
                <a:cs typeface="Calibri" pitchFamily="34" charset="-120"/>
              </a:rPr>
              <a:t>Overdue accounts get a drafted reminder and a payment link, tone by age, one click to send.</a:t>
            </a:r>
            <a:endParaRPr lang="en-US" sz="1000" dirty="0"/>
          </a:p>
        </p:txBody>
      </p:sp>
      <p:sp>
        <p:nvSpPr>
          <p:cNvPr id="36" name="Text 27"/>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Why this opportunity</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Five reasons, in the order a marina GM and a Valsoft operator would rank them</a:t>
            </a:r>
            <a:endParaRPr lang="en-US" sz="1300" dirty="0"/>
          </a:p>
        </p:txBody>
      </p:sp>
      <p:pic>
        <p:nvPicPr>
          <p:cNvPr id="4" name="Image 0" descr="preencoded.png">    </p:cNvPr>
          <p:cNvPicPr>
            <a:picLocks noChangeAspect="1"/>
          </p:cNvPicPr>
          <p:nvPr/>
        </p:nvPicPr>
        <p:blipFill>
          <a:blip r:embed="rId1"/>
          <a:stretch>
            <a:fillRect/>
          </a:stretch>
        </p:blipFill>
        <p:spPr>
          <a:xfrm>
            <a:off x="457200" y="1399032"/>
            <a:ext cx="457200" cy="457200"/>
          </a:xfrm>
          <a:prstGeom prst="rect">
            <a:avLst/>
          </a:prstGeom>
        </p:spPr>
      </p:pic>
      <p:sp>
        <p:nvSpPr>
          <p:cNvPr id="5" name="Text 2"/>
          <p:cNvSpPr txBox="1"/>
          <p:nvPr/>
        </p:nvSpPr>
        <p:spPr>
          <a:xfrm>
            <a:off x="1051560" y="1325880"/>
            <a:ext cx="237744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Measurable ROI</a:t>
            </a:r>
            <a:endParaRPr lang="en-US" sz="1400" dirty="0"/>
          </a:p>
        </p:txBody>
      </p:sp>
      <p:sp>
        <p:nvSpPr>
          <p:cNvPr id="6" name="Text 3"/>
          <p:cNvSpPr txBox="1"/>
          <p:nvPr/>
        </p:nvSpPr>
        <p:spPr>
          <a:xfrm>
            <a:off x="3474720" y="1325880"/>
            <a:ext cx="5212080" cy="59436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Estimate turnaround, approval rate, billed vs standard hours, unbilled work, days to invoice. Units the GM already tracks.</a:t>
            </a:r>
            <a:endParaRPr lang="en-US" sz="1100" dirty="0"/>
          </a:p>
        </p:txBody>
      </p:sp>
      <p:sp>
        <p:nvSpPr>
          <p:cNvPr id="7" name="Shape 4"/>
          <p:cNvSpPr/>
          <p:nvPr/>
        </p:nvSpPr>
        <p:spPr>
          <a:xfrm>
            <a:off x="457200" y="1965960"/>
            <a:ext cx="8229600" cy="0"/>
          </a:xfrm>
          <a:prstGeom prst="line">
            <a:avLst/>
          </a:prstGeom>
          <a:noFill/>
          <a:ln w="9525">
            <a:solidFill>
              <a:srgbClr val="E1E7EC"/>
            </a:solidFill>
            <a:prstDash val="solid"/>
          </a:ln>
        </p:spPr>
      </p:sp>
      <p:pic>
        <p:nvPicPr>
          <p:cNvPr id="8" name="Image 1" descr="preencoded.png">    </p:cNvPr>
          <p:cNvPicPr>
            <a:picLocks noChangeAspect="1"/>
          </p:cNvPicPr>
          <p:nvPr/>
        </p:nvPicPr>
        <p:blipFill>
          <a:blip r:embed="rId2"/>
          <a:stretch>
            <a:fillRect/>
          </a:stretch>
        </p:blipFill>
        <p:spPr>
          <a:xfrm>
            <a:off x="457200" y="2075688"/>
            <a:ext cx="457200" cy="457200"/>
          </a:xfrm>
          <a:prstGeom prst="rect">
            <a:avLst/>
          </a:prstGeom>
        </p:spPr>
      </p:pic>
      <p:sp>
        <p:nvSpPr>
          <p:cNvPr id="9" name="Text 5"/>
          <p:cNvSpPr txBox="1"/>
          <p:nvPr/>
        </p:nvSpPr>
        <p:spPr>
          <a:xfrm>
            <a:off x="1051560" y="2002536"/>
            <a:ext cx="237744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Built on the moat</a:t>
            </a:r>
            <a:endParaRPr lang="en-US" sz="1400" dirty="0"/>
          </a:p>
        </p:txBody>
      </p:sp>
      <p:sp>
        <p:nvSpPr>
          <p:cNvPr id="10" name="Text 6"/>
          <p:cNvSpPr txBox="1"/>
          <p:nvPr/>
        </p:nvSpPr>
        <p:spPr>
          <a:xfrm>
            <a:off x="3474720" y="2002536"/>
            <a:ext cx="5212080" cy="59436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Every input exists today: voice notes, photos, operation codes, labour standards, parts, vessel history, eSign. Nothing new to capture.</a:t>
            </a:r>
            <a:endParaRPr lang="en-US" sz="1100" dirty="0"/>
          </a:p>
        </p:txBody>
      </p:sp>
      <p:sp>
        <p:nvSpPr>
          <p:cNvPr id="11" name="Shape 7"/>
          <p:cNvSpPr/>
          <p:nvPr/>
        </p:nvSpPr>
        <p:spPr>
          <a:xfrm>
            <a:off x="457200" y="2642616"/>
            <a:ext cx="8229600" cy="0"/>
          </a:xfrm>
          <a:prstGeom prst="line">
            <a:avLst/>
          </a:prstGeom>
          <a:noFill/>
          <a:ln w="9525">
            <a:solidFill>
              <a:srgbClr val="E1E7EC"/>
            </a:solidFill>
            <a:prstDash val="solid"/>
          </a:ln>
        </p:spPr>
      </p:sp>
      <p:pic>
        <p:nvPicPr>
          <p:cNvPr id="12" name="Image 2" descr="preencoded.png">    </p:cNvPr>
          <p:cNvPicPr>
            <a:picLocks noChangeAspect="1"/>
          </p:cNvPicPr>
          <p:nvPr/>
        </p:nvPicPr>
        <p:blipFill>
          <a:blip r:embed="rId3"/>
          <a:stretch>
            <a:fillRect/>
          </a:stretch>
        </p:blipFill>
        <p:spPr>
          <a:xfrm>
            <a:off x="457200" y="2752344"/>
            <a:ext cx="457200" cy="457200"/>
          </a:xfrm>
          <a:prstGeom prst="rect">
            <a:avLst/>
          </a:prstGeom>
        </p:spPr>
      </p:pic>
      <p:sp>
        <p:nvSpPr>
          <p:cNvPr id="13" name="Text 8"/>
          <p:cNvSpPr txBox="1"/>
          <p:nvPr/>
        </p:nvSpPr>
        <p:spPr>
          <a:xfrm>
            <a:off x="1051560" y="2679192"/>
            <a:ext cx="237744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Compounds existing AI</a:t>
            </a:r>
            <a:endParaRPr lang="en-US" sz="1400" dirty="0"/>
          </a:p>
        </p:txBody>
      </p:sp>
      <p:sp>
        <p:nvSpPr>
          <p:cNvPr id="14" name="Text 9"/>
          <p:cNvSpPr txBox="1"/>
          <p:nvPr/>
        </p:nvSpPr>
        <p:spPr>
          <a:xfrm>
            <a:off x="3474720" y="2679192"/>
            <a:ext cx="5212080" cy="59436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Blu takes the call, scheduling assigns the tech, the Service Writer turns the job into revenue.</a:t>
            </a:r>
            <a:endParaRPr lang="en-US" sz="1100" dirty="0"/>
          </a:p>
        </p:txBody>
      </p:sp>
      <p:sp>
        <p:nvSpPr>
          <p:cNvPr id="15" name="Shape 10"/>
          <p:cNvSpPr/>
          <p:nvPr/>
        </p:nvSpPr>
        <p:spPr>
          <a:xfrm>
            <a:off x="457200" y="3319272"/>
            <a:ext cx="8229600" cy="0"/>
          </a:xfrm>
          <a:prstGeom prst="line">
            <a:avLst/>
          </a:prstGeom>
          <a:noFill/>
          <a:ln w="9525">
            <a:solidFill>
              <a:srgbClr val="E1E7EC"/>
            </a:solidFill>
            <a:prstDash val="solid"/>
          </a:ln>
        </p:spPr>
      </p:sp>
      <p:pic>
        <p:nvPicPr>
          <p:cNvPr id="16" name="Image 3" descr="preencoded.png">    </p:cNvPr>
          <p:cNvPicPr>
            <a:picLocks noChangeAspect="1"/>
          </p:cNvPicPr>
          <p:nvPr/>
        </p:nvPicPr>
        <p:blipFill>
          <a:blip r:embed="rId4"/>
          <a:stretch>
            <a:fillRect/>
          </a:stretch>
        </p:blipFill>
        <p:spPr>
          <a:xfrm>
            <a:off x="457200" y="3429000"/>
            <a:ext cx="457200" cy="457200"/>
          </a:xfrm>
          <a:prstGeom prst="rect">
            <a:avLst/>
          </a:prstGeom>
        </p:spPr>
      </p:pic>
      <p:sp>
        <p:nvSpPr>
          <p:cNvPr id="17" name="Text 11"/>
          <p:cNvSpPr txBox="1"/>
          <p:nvPr/>
        </p:nvSpPr>
        <p:spPr>
          <a:xfrm>
            <a:off x="1051560" y="3355848"/>
            <a:ext cx="237744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Lands with a conservative base</a:t>
            </a:r>
            <a:endParaRPr lang="en-US" sz="1400" dirty="0"/>
          </a:p>
        </p:txBody>
      </p:sp>
      <p:sp>
        <p:nvSpPr>
          <p:cNvPr id="18" name="Text 12"/>
          <p:cNvSpPr txBox="1"/>
          <p:nvPr/>
        </p:nvSpPr>
        <p:spPr>
          <a:xfrm>
            <a:off x="3474720" y="3355848"/>
            <a:ext cx="5212080" cy="59436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Follows DockMaster's own principle: the AI assists, staff stays in control.</a:t>
            </a:r>
            <a:endParaRPr lang="en-US" sz="1100" dirty="0"/>
          </a:p>
        </p:txBody>
      </p:sp>
      <p:sp>
        <p:nvSpPr>
          <p:cNvPr id="19" name="Shape 13"/>
          <p:cNvSpPr/>
          <p:nvPr/>
        </p:nvSpPr>
        <p:spPr>
          <a:xfrm>
            <a:off x="457200" y="3995928"/>
            <a:ext cx="8229600" cy="0"/>
          </a:xfrm>
          <a:prstGeom prst="line">
            <a:avLst/>
          </a:prstGeom>
          <a:noFill/>
          <a:ln w="9525">
            <a:solidFill>
              <a:srgbClr val="E1E7EC"/>
            </a:solidFill>
            <a:prstDash val="solid"/>
          </a:ln>
        </p:spPr>
      </p:sp>
      <p:pic>
        <p:nvPicPr>
          <p:cNvPr id="20" name="Image 4" descr="preencoded.png">    </p:cNvPr>
          <p:cNvPicPr>
            <a:picLocks noChangeAspect="1"/>
          </p:cNvPicPr>
          <p:nvPr/>
        </p:nvPicPr>
        <p:blipFill>
          <a:blip r:embed="rId5"/>
          <a:stretch>
            <a:fillRect/>
          </a:stretch>
        </p:blipFill>
        <p:spPr>
          <a:xfrm>
            <a:off x="457200" y="4105656"/>
            <a:ext cx="457200" cy="457200"/>
          </a:xfrm>
          <a:prstGeom prst="rect">
            <a:avLst/>
          </a:prstGeom>
        </p:spPr>
      </p:pic>
      <p:sp>
        <p:nvSpPr>
          <p:cNvPr id="21" name="Text 14"/>
          <p:cNvSpPr txBox="1"/>
          <p:nvPr/>
        </p:nvSpPr>
        <p:spPr>
          <a:xfrm>
            <a:off x="1051560" y="4032504"/>
            <a:ext cx="2377440" cy="594360"/>
          </a:xfrm>
          <a:prstGeom prst="rect">
            <a:avLst/>
          </a:prstGeom>
          <a:noFill/>
          <a:ln/>
        </p:spPr>
        <p:txBody>
          <a:bodyPr wrap="square" lIns="0" tIns="0" rIns="0" bIns="0" rtlCol="0" anchor="ctr"/>
          <a:lstStyle/>
          <a:p>
            <a:pPr indent="0" marL="0">
              <a:buNone/>
            </a:pPr>
            <a:r>
              <a:rPr lang="en-US" sz="1400" b="1" dirty="0">
                <a:solidFill>
                  <a:srgbClr val="0B2545"/>
                </a:solidFill>
                <a:latin typeface="Cambria" pitchFamily="34" charset="0"/>
                <a:ea typeface="Cambria" pitchFamily="34" charset="-122"/>
                <a:cs typeface="Cambria" pitchFamily="34" charset="-120"/>
              </a:rPr>
              <a:t>Valsoft-shaped</a:t>
            </a:r>
            <a:endParaRPr lang="en-US" sz="1400" dirty="0"/>
          </a:p>
        </p:txBody>
      </p:sp>
      <p:sp>
        <p:nvSpPr>
          <p:cNvPr id="22" name="Text 15"/>
          <p:cNvSpPr txBox="1"/>
          <p:nvPr/>
        </p:nvSpPr>
        <p:spPr>
          <a:xfrm>
            <a:off x="3474720" y="4032504"/>
            <a:ext cx="5212080" cy="594360"/>
          </a:xfrm>
          <a:prstGeom prst="rect">
            <a:avLst/>
          </a:prstGeom>
          <a:noFill/>
          <a:ln/>
        </p:spPr>
        <p:txBody>
          <a:bodyPr wrap="square" lIns="0" tIns="0" rIns="0" bIns="0" rtlCol="0" anchor="ctr"/>
          <a:lstStyle/>
          <a:p>
            <a:pPr indent="0" marL="0">
              <a:buNone/>
            </a:pPr>
            <a:r>
              <a:rPr lang="en-US" sz="1100" dirty="0">
                <a:solidFill>
                  <a:srgbClr val="1B2430"/>
                </a:solidFill>
                <a:latin typeface="Calibri" pitchFamily="34" charset="0"/>
                <a:ea typeface="Calibri" pitchFamily="34" charset="-122"/>
                <a:cs typeface="Calibri" pitchFamily="34" charset="-120"/>
              </a:rPr>
              <a:t>Validate on 1,000+ accounts, drive Web migration and ValPay attach, then take a standalone product beyond the ecosystem via AI Ventures.</a:t>
            </a:r>
            <a:endParaRPr lang="en-US" sz="1100" dirty="0"/>
          </a:p>
        </p:txBody>
      </p:sp>
      <p:sp>
        <p:nvSpPr>
          <p:cNvPr id="23" name="Text 1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The prototype</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A working Service Writer on a realistic mock of DockMaster's data, with a golden-set evaluation</a:t>
            </a:r>
            <a:endParaRPr lang="en-US" sz="1300" dirty="0"/>
          </a:p>
        </p:txBody>
      </p:sp>
      <p:sp>
        <p:nvSpPr>
          <p:cNvPr id="4" name="Shape 2"/>
          <p:cNvSpPr/>
          <p:nvPr/>
        </p:nvSpPr>
        <p:spPr>
          <a:xfrm>
            <a:off x="457200" y="1325880"/>
            <a:ext cx="4023360" cy="3291840"/>
          </a:xfrm>
          <a:prstGeom prst="roundRect">
            <a:avLst>
              <a:gd name="adj" fmla="val 2222"/>
            </a:avLst>
          </a:prstGeom>
          <a:solidFill>
            <a:srgbClr val="F3F6F8"/>
          </a:solidFill>
          <a:ln w="6350">
            <a:solidFill>
              <a:srgbClr val="F3F6F8"/>
            </a:solidFill>
            <a:prstDash val="solid"/>
          </a:ln>
        </p:spPr>
      </p:sp>
      <p:sp>
        <p:nvSpPr>
          <p:cNvPr id="5" name="Text 3"/>
          <p:cNvSpPr txBox="1"/>
          <p:nvPr/>
        </p:nvSpPr>
        <p:spPr>
          <a:xfrm>
            <a:off x="640080" y="1417320"/>
            <a:ext cx="2743200" cy="32004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Demo path</a:t>
            </a:r>
            <a:endParaRPr lang="en-US" sz="1500" dirty="0"/>
          </a:p>
        </p:txBody>
      </p:sp>
      <p:sp>
        <p:nvSpPr>
          <p:cNvPr id="6" name="Text 4"/>
          <p:cNvSpPr txBox="1"/>
          <p:nvPr/>
        </p:nvSpPr>
        <p:spPr>
          <a:xfrm>
            <a:off x="640080" y="1783080"/>
            <a:ext cx="3657600" cy="274320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Tech records: "Sea Ray 400 in C-12, port engine hot, impeller chewed up, pump weeping, three hours, quote the trim tab separately."</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Vessel matched on HIN suffix and slip. Operations, standard hours and parts kit drafted from the yard's own codes.</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History flag: last impeller change 26 months ago, interval 24.</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Manager edits one line, approves. Owner signs in the portal. Work order lands on the scheduler.</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Side panels: vessels due for service and overdue AR with one-click reminders.</a:t>
            </a:r>
            <a:endParaRPr lang="en-US" sz="1050" dirty="0"/>
          </a:p>
        </p:txBody>
      </p:sp>
      <p:sp>
        <p:nvSpPr>
          <p:cNvPr id="7" name="Shape 5"/>
          <p:cNvSpPr/>
          <p:nvPr/>
        </p:nvSpPr>
        <p:spPr>
          <a:xfrm>
            <a:off x="4663440" y="1325880"/>
            <a:ext cx="4023360" cy="1554480"/>
          </a:xfrm>
          <a:prstGeom prst="roundRect">
            <a:avLst>
              <a:gd name="adj" fmla="val 4706"/>
            </a:avLst>
          </a:prstGeom>
          <a:solidFill>
            <a:srgbClr val="F3F6F8"/>
          </a:solidFill>
          <a:ln w="6350">
            <a:solidFill>
              <a:srgbClr val="F3F6F8"/>
            </a:solidFill>
            <a:prstDash val="solid"/>
          </a:ln>
        </p:spPr>
      </p:sp>
      <p:sp>
        <p:nvSpPr>
          <p:cNvPr id="8" name="Text 6"/>
          <p:cNvSpPr txBox="1"/>
          <p:nvPr/>
        </p:nvSpPr>
        <p:spPr>
          <a:xfrm>
            <a:off x="4846320" y="1417320"/>
            <a:ext cx="2743200" cy="32004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Architecture</a:t>
            </a:r>
            <a:endParaRPr lang="en-US" sz="1500" dirty="0"/>
          </a:p>
        </p:txBody>
      </p:sp>
      <p:sp>
        <p:nvSpPr>
          <p:cNvPr id="9" name="Text 7"/>
          <p:cNvSpPr txBox="1"/>
          <p:nvPr/>
        </p:nvSpPr>
        <p:spPr>
          <a:xfrm>
            <a:off x="4846320" y="1783080"/>
            <a:ext cx="3657600" cy="105156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1B2430"/>
                </a:solidFill>
                <a:latin typeface="Calibri" pitchFamily="34" charset="0"/>
                <a:ea typeface="Calibri" pitchFamily="34" charset="-122"/>
                <a:cs typeface="Calibri" pitchFamily="34" charset="-120"/>
              </a:rPr>
              <a:t>Next.js and TypeScript, Prisma, Claude with structured tool-use output, Whisper for transcription</a:t>
            </a:r>
            <a:endParaRPr lang="en-US" sz="1000" dirty="0"/>
          </a:p>
          <a:p>
            <a:pPr marL="152400" indent="-152400">
              <a:spcAft>
                <a:spcPts val="500"/>
              </a:spcAft>
              <a:buSzPct val="100000"/>
              <a:buChar char="•"/>
            </a:pPr>
            <a:r>
              <a:rPr lang="en-US" sz="1000" dirty="0">
                <a:solidFill>
                  <a:srgbClr val="1B2430"/>
                </a:solidFill>
                <a:latin typeface="Calibri" pitchFamily="34" charset="0"/>
                <a:ea typeface="Calibri" pitchFamily="34" charset="-122"/>
                <a:cs typeface="Calibri" pitchFamily="34" charset="-120"/>
              </a:rPr>
              <a:t>One DockMasterClient interface is the API boundary: the mock talks to a seeded DB; production binds to the Web 2.0 API</a:t>
            </a:r>
            <a:endParaRPr lang="en-US" sz="1000" dirty="0"/>
          </a:p>
        </p:txBody>
      </p:sp>
      <p:sp>
        <p:nvSpPr>
          <p:cNvPr id="10" name="Shape 8"/>
          <p:cNvSpPr/>
          <p:nvPr/>
        </p:nvSpPr>
        <p:spPr>
          <a:xfrm>
            <a:off x="4663440" y="3063240"/>
            <a:ext cx="4023360" cy="1554480"/>
          </a:xfrm>
          <a:prstGeom prst="roundRect">
            <a:avLst>
              <a:gd name="adj" fmla="val 4706"/>
            </a:avLst>
          </a:prstGeom>
          <a:solidFill>
            <a:srgbClr val="E3F5F3"/>
          </a:solidFill>
          <a:ln w="6350">
            <a:solidFill>
              <a:srgbClr val="E3F5F3"/>
            </a:solidFill>
            <a:prstDash val="solid"/>
          </a:ln>
        </p:spPr>
      </p:sp>
      <p:sp>
        <p:nvSpPr>
          <p:cNvPr id="11" name="Text 9"/>
          <p:cNvSpPr txBox="1"/>
          <p:nvPr/>
        </p:nvSpPr>
        <p:spPr>
          <a:xfrm>
            <a:off x="4846320" y="3154680"/>
            <a:ext cx="3200400" cy="32004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Guardrails and evaluation</a:t>
            </a:r>
            <a:endParaRPr lang="en-US" sz="1500" dirty="0"/>
          </a:p>
        </p:txBody>
      </p:sp>
      <p:sp>
        <p:nvSpPr>
          <p:cNvPr id="12" name="Text 10"/>
          <p:cNvSpPr txBox="1"/>
          <p:nvPr/>
        </p:nvSpPr>
        <p:spPr>
          <a:xfrm>
            <a:off x="4846320" y="3520440"/>
            <a:ext cx="3657600" cy="1051560"/>
          </a:xfrm>
          <a:prstGeom prst="rect">
            <a:avLst/>
          </a:prstGeom>
          <a:noFill/>
          <a:ln/>
        </p:spPr>
        <p:txBody>
          <a:bodyPr wrap="square" lIns="0" tIns="0" rIns="0" bIns="0" rtlCol="0" anchor="t"/>
          <a:lstStyle/>
          <a:p>
            <a:pPr marL="152400" indent="-152400">
              <a:spcAft>
                <a:spcPts val="500"/>
              </a:spcAft>
              <a:buSzPct val="100000"/>
              <a:buChar char="•"/>
            </a:pPr>
            <a:r>
              <a:rPr lang="en-US" sz="1000" dirty="0">
                <a:solidFill>
                  <a:srgbClr val="1B2430"/>
                </a:solidFill>
                <a:latin typeface="Calibri" pitchFamily="34" charset="0"/>
                <a:ea typeface="Calibri" pitchFamily="34" charset="-122"/>
                <a:cs typeface="Calibri" pitchFamily="34" charset="-120"/>
              </a:rPr>
              <a:t>Model only selects from DB candidates; confidence badge per line; low-confidence lines excluded by default</a:t>
            </a:r>
            <a:endParaRPr lang="en-US" sz="1000" dirty="0"/>
          </a:p>
          <a:p>
            <a:pPr marL="152400" indent="-152400">
              <a:spcAft>
                <a:spcPts val="500"/>
              </a:spcAft>
              <a:buSzPct val="100000"/>
              <a:buChar char="•"/>
            </a:pPr>
            <a:r>
              <a:rPr lang="en-US" sz="1000" dirty="0">
                <a:solidFill>
                  <a:srgbClr val="1B2430"/>
                </a:solidFill>
                <a:latin typeface="Calibri" pitchFamily="34" charset="0"/>
                <a:ea typeface="Calibri" pitchFamily="34" charset="-122"/>
                <a:cs typeface="Calibri" pitchFamily="34" charset="-120"/>
              </a:rPr>
              <a:t>No send without a staff click; scoped codes per role; audit trail on every action</a:t>
            </a:r>
            <a:endParaRPr lang="en-US" sz="1000" dirty="0"/>
          </a:p>
          <a:p>
            <a:pPr marL="152400" indent="-152400">
              <a:spcAft>
                <a:spcPts val="500"/>
              </a:spcAft>
              <a:buSzPct val="100000"/>
              <a:buChar char="•"/>
            </a:pPr>
            <a:r>
              <a:rPr lang="en-US" sz="1000" dirty="0">
                <a:solidFill>
                  <a:srgbClr val="1B2430"/>
                </a:solidFill>
                <a:latin typeface="Calibri" pitchFamily="34" charset="0"/>
                <a:ea typeface="Calibri" pitchFamily="34" charset="-122"/>
                <a:cs typeface="Calibri" pitchFamily="34" charset="-120"/>
              </a:rPr>
              <a:t>15-case golden set. Targets: vessel match 14/15, operation recall 85%+</a:t>
            </a:r>
            <a:endParaRPr lang="en-US" sz="1000" dirty="0"/>
          </a:p>
        </p:txBody>
      </p:sp>
      <p:sp>
        <p:nvSpPr>
          <p:cNvPr id="13" name="Text 11"/>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2545"/>
        </a:solidFill>
      </p:bgPr>
    </p:bg>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Go-to-market: sell every marina its own money</a:t>
            </a:r>
            <a:endParaRPr lang="en-US" sz="2800" dirty="0"/>
          </a:p>
        </p:txBody>
      </p:sp>
      <p:sp>
        <p:nvSpPr>
          <p:cNvPr id="3" name="Text 1"/>
          <p:cNvSpPr txBox="1"/>
          <p:nvPr/>
        </p:nvSpPr>
        <p:spPr>
          <a:xfrm>
            <a:off x="457200" y="868680"/>
            <a:ext cx="8229600" cy="457200"/>
          </a:xfrm>
          <a:prstGeom prst="rect">
            <a:avLst/>
          </a:prstGeom>
          <a:noFill/>
          <a:ln/>
        </p:spPr>
        <p:txBody>
          <a:bodyPr wrap="square" lIns="0" tIns="0" rIns="0" bIns="0" rtlCol="0" anchor="ctr"/>
          <a:lstStyle/>
          <a:p>
            <a:pPr indent="0" marL="0">
              <a:buNone/>
            </a:pPr>
            <a:r>
              <a:rPr lang="en-US" sz="1300" dirty="0">
                <a:solidFill>
                  <a:srgbClr val="BFE9E5"/>
                </a:solidFill>
                <a:latin typeface="Calibri" pitchFamily="34" charset="0"/>
                <a:ea typeface="Calibri" pitchFamily="34" charset="-122"/>
                <a:cs typeface="Calibri" pitchFamily="34" charset="-120"/>
              </a:rPr>
              <a:t>DockMaster already holds each account's work orders, invoices and vessel histories. The pitch is computed from that data, per account, and a human sends it.</a:t>
            </a:r>
            <a:endParaRPr lang="en-US" sz="1300" dirty="0"/>
          </a:p>
        </p:txBody>
      </p:sp>
      <p:sp>
        <p:nvSpPr>
          <p:cNvPr id="4" name="Shape 2"/>
          <p:cNvSpPr/>
          <p:nvPr/>
        </p:nvSpPr>
        <p:spPr>
          <a:xfrm>
            <a:off x="457200" y="1463040"/>
            <a:ext cx="8229600" cy="914400"/>
          </a:xfrm>
          <a:prstGeom prst="roundRect">
            <a:avLst>
              <a:gd name="adj" fmla="val 8000"/>
            </a:avLst>
          </a:prstGeom>
          <a:solidFill>
            <a:srgbClr val="13315C"/>
          </a:solidFill>
          <a:ln w="12700">
            <a:solidFill>
              <a:srgbClr val="13315C"/>
            </a:solidFill>
            <a:prstDash val="solid"/>
          </a:ln>
        </p:spPr>
      </p:sp>
      <p:sp>
        <p:nvSpPr>
          <p:cNvPr id="5" name="Text 3"/>
          <p:cNvSpPr txBox="1"/>
          <p:nvPr/>
        </p:nvSpPr>
        <p:spPr>
          <a:xfrm>
            <a:off x="640080" y="1508760"/>
            <a:ext cx="7863840" cy="82296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"Harbourline, last season you billed 4,120 of 5,300 standard hours, 38 estimates took more than three days to reach the customer, 61 vessels are past a maintenance interval, and $84k of AR is over 45 days. Here is what the Service Writer would have recovered."</a:t>
            </a:r>
            <a:endParaRPr lang="en-US" sz="1200" dirty="0"/>
          </a:p>
        </p:txBody>
      </p:sp>
      <p:sp>
        <p:nvSpPr>
          <p:cNvPr id="6" name="Shape 4"/>
          <p:cNvSpPr/>
          <p:nvPr/>
        </p:nvSpPr>
        <p:spPr>
          <a:xfrm>
            <a:off x="457200" y="2606040"/>
            <a:ext cx="2606040" cy="2011680"/>
          </a:xfrm>
          <a:prstGeom prst="roundRect">
            <a:avLst>
              <a:gd name="adj" fmla="val 3636"/>
            </a:avLst>
          </a:prstGeom>
          <a:solidFill>
            <a:srgbClr val="13315C"/>
          </a:solidFill>
          <a:ln w="12700">
            <a:solidFill>
              <a:srgbClr val="13315C"/>
            </a:solidFill>
            <a:prstDash val="solid"/>
          </a:ln>
        </p:spPr>
      </p:sp>
      <p:sp>
        <p:nvSpPr>
          <p:cNvPr id="7" name="Text 5"/>
          <p:cNvSpPr txBox="1"/>
          <p:nvPr/>
        </p:nvSpPr>
        <p:spPr>
          <a:xfrm>
            <a:off x="640080" y="2724912"/>
            <a:ext cx="2286000" cy="365760"/>
          </a:xfrm>
          <a:prstGeom prst="rect">
            <a:avLst/>
          </a:prstGeom>
          <a:noFill/>
          <a:ln/>
        </p:spPr>
        <p:txBody>
          <a:bodyPr wrap="square" lIns="0" tIns="0" rIns="0" bIns="0" rtlCol="0" anchor="ctr"/>
          <a:lstStyle/>
          <a:p>
            <a:pPr indent="0" marL="0">
              <a:buNone/>
            </a:pPr>
            <a:r>
              <a:rPr lang="en-US" sz="1500" b="1" dirty="0">
                <a:solidFill>
                  <a:srgbClr val="5FD3C8"/>
                </a:solidFill>
                <a:latin typeface="Cambria" pitchFamily="34" charset="0"/>
                <a:ea typeface="Cambria" pitchFamily="34" charset="-122"/>
                <a:cs typeface="Cambria" pitchFamily="34" charset="-120"/>
              </a:rPr>
              <a:t>1. Install base</a:t>
            </a:r>
            <a:endParaRPr lang="en-US" sz="1500" dirty="0"/>
          </a:p>
        </p:txBody>
      </p:sp>
      <p:sp>
        <p:nvSpPr>
          <p:cNvPr id="8" name="Text 6"/>
          <p:cNvSpPr txBox="1"/>
          <p:nvPr/>
        </p:nvSpPr>
        <p:spPr>
          <a:xfrm>
            <a:off x="640080" y="3108960"/>
            <a:ext cx="2286000" cy="14173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1,000+ accounts, existing trust, data in hand. Launch at the October user conference. Fastest revenue and proof.</a:t>
            </a:r>
            <a:endParaRPr lang="en-US" sz="1100" dirty="0"/>
          </a:p>
        </p:txBody>
      </p:sp>
      <p:sp>
        <p:nvSpPr>
          <p:cNvPr id="9" name="Shape 7"/>
          <p:cNvSpPr/>
          <p:nvPr/>
        </p:nvSpPr>
        <p:spPr>
          <a:xfrm>
            <a:off x="3246120" y="2606040"/>
            <a:ext cx="2606040" cy="2011680"/>
          </a:xfrm>
          <a:prstGeom prst="roundRect">
            <a:avLst>
              <a:gd name="adj" fmla="val 3636"/>
            </a:avLst>
          </a:prstGeom>
          <a:solidFill>
            <a:srgbClr val="13315C"/>
          </a:solidFill>
          <a:ln w="12700">
            <a:solidFill>
              <a:srgbClr val="13315C"/>
            </a:solidFill>
            <a:prstDash val="solid"/>
          </a:ln>
        </p:spPr>
      </p:sp>
      <p:sp>
        <p:nvSpPr>
          <p:cNvPr id="10" name="Text 8"/>
          <p:cNvSpPr txBox="1"/>
          <p:nvPr/>
        </p:nvSpPr>
        <p:spPr>
          <a:xfrm>
            <a:off x="3429000" y="2724912"/>
            <a:ext cx="2286000" cy="365760"/>
          </a:xfrm>
          <a:prstGeom prst="rect">
            <a:avLst/>
          </a:prstGeom>
          <a:noFill/>
          <a:ln/>
        </p:spPr>
        <p:txBody>
          <a:bodyPr wrap="square" lIns="0" tIns="0" rIns="0" bIns="0" rtlCol="0" anchor="ctr"/>
          <a:lstStyle/>
          <a:p>
            <a:pPr indent="0" marL="0">
              <a:buNone/>
            </a:pPr>
            <a:r>
              <a:rPr lang="en-US" sz="1500" b="1" dirty="0">
                <a:solidFill>
                  <a:srgbClr val="5FD3C8"/>
                </a:solidFill>
                <a:latin typeface="Cambria" pitchFamily="34" charset="0"/>
                <a:ea typeface="Cambria" pitchFamily="34" charset="-122"/>
                <a:cs typeface="Cambria" pitchFamily="34" charset="-120"/>
              </a:rPr>
              <a:t>2. New logos</a:t>
            </a:r>
            <a:endParaRPr lang="en-US" sz="1500" dirty="0"/>
          </a:p>
        </p:txBody>
      </p:sp>
      <p:sp>
        <p:nvSpPr>
          <p:cNvPr id="11" name="Text 9"/>
          <p:cNvSpPr txBox="1"/>
          <p:nvPr/>
        </p:nvSpPr>
        <p:spPr>
          <a:xfrm>
            <a:off x="3429000" y="3108960"/>
            <a:ext cx="2286000" cy="14173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Service-heavy yards on Molo, MarinaOffice or spreadsheets. Hook: a free "paste a tech note, get an estimate" tool.</a:t>
            </a:r>
            <a:endParaRPr lang="en-US" sz="1100" dirty="0"/>
          </a:p>
        </p:txBody>
      </p:sp>
      <p:sp>
        <p:nvSpPr>
          <p:cNvPr id="12" name="Shape 10"/>
          <p:cNvSpPr/>
          <p:nvPr/>
        </p:nvSpPr>
        <p:spPr>
          <a:xfrm>
            <a:off x="6035040" y="2606040"/>
            <a:ext cx="2606040" cy="2011680"/>
          </a:xfrm>
          <a:prstGeom prst="roundRect">
            <a:avLst>
              <a:gd name="adj" fmla="val 3636"/>
            </a:avLst>
          </a:prstGeom>
          <a:solidFill>
            <a:srgbClr val="13315C"/>
          </a:solidFill>
          <a:ln w="12700">
            <a:solidFill>
              <a:srgbClr val="13315C"/>
            </a:solidFill>
            <a:prstDash val="solid"/>
          </a:ln>
        </p:spPr>
      </p:sp>
      <p:sp>
        <p:nvSpPr>
          <p:cNvPr id="13" name="Text 11"/>
          <p:cNvSpPr txBox="1"/>
          <p:nvPr/>
        </p:nvSpPr>
        <p:spPr>
          <a:xfrm>
            <a:off x="6217920" y="2724912"/>
            <a:ext cx="2286000" cy="365760"/>
          </a:xfrm>
          <a:prstGeom prst="rect">
            <a:avLst/>
          </a:prstGeom>
          <a:noFill/>
          <a:ln/>
        </p:spPr>
        <p:txBody>
          <a:bodyPr wrap="square" lIns="0" tIns="0" rIns="0" bIns="0" rtlCol="0" anchor="ctr"/>
          <a:lstStyle/>
          <a:p>
            <a:pPr indent="0" marL="0">
              <a:buNone/>
            </a:pPr>
            <a:r>
              <a:rPr lang="en-US" sz="1500" b="1" dirty="0">
                <a:solidFill>
                  <a:srgbClr val="5FD3C8"/>
                </a:solidFill>
                <a:latin typeface="Cambria" pitchFamily="34" charset="0"/>
                <a:ea typeface="Cambria" pitchFamily="34" charset="-122"/>
                <a:cs typeface="Cambria" pitchFamily="34" charset="-120"/>
              </a:rPr>
              <a:t>3. Beyond the ecosystem</a:t>
            </a:r>
            <a:endParaRPr lang="en-US" sz="1500" dirty="0"/>
          </a:p>
        </p:txBody>
      </p:sp>
      <p:sp>
        <p:nvSpPr>
          <p:cNvPr id="14" name="Text 12"/>
          <p:cNvSpPr txBox="1"/>
          <p:nvPr/>
        </p:nvSpPr>
        <p:spPr>
          <a:xfrm>
            <a:off x="6217920" y="3108960"/>
            <a:ext cx="2286000" cy="1417320"/>
          </a:xfrm>
          <a:prstGeom prst="rect">
            <a:avLst/>
          </a:prstGeom>
          <a:noFill/>
          <a:ln/>
        </p:spPr>
        <p:txBody>
          <a:bodyPr wrap="square" lIns="0" tIns="0" rIns="0" bIns="0" rtlCol="0" anchor="t"/>
          <a:lstStyle/>
          <a:p>
            <a:pPr indent="0" marL="0">
              <a:buNone/>
            </a:pPr>
            <a:r>
              <a:rPr lang="en-US" sz="1100" dirty="0">
                <a:solidFill>
                  <a:srgbClr val="FFFFFF"/>
                </a:solidFill>
                <a:latin typeface="Calibri" pitchFamily="34" charset="0"/>
                <a:ea typeface="Calibri" pitchFamily="34" charset="-122"/>
                <a:cs typeface="Calibri" pitchFamily="34" charset="-120"/>
              </a:rPr>
              <a:t>Standalone Service Writer for marine and powersports shops on other platforms. The AI Ventures step.</a:t>
            </a:r>
            <a:endParaRPr lang="en-US" sz="1100" dirty="0"/>
          </a:p>
        </p:txBody>
      </p:sp>
      <p:sp>
        <p:nvSpPr>
          <p:cNvPr id="15" name="Text 13"/>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7F93A8"/>
                </a:solidFill>
                <a:latin typeface="Calibri" pitchFamily="34" charset="0"/>
                <a:ea typeface="Calibri" pitchFamily="34" charset="-122"/>
                <a:cs typeface="Calibri" pitchFamily="34" charset="-120"/>
              </a:rPr>
              <a:t>DockMaster AI opportunity  |  Valsoft AI Venture Builder case  |  10</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AI agents do the prep, people own the relationship</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Every agent drafts into a review queue. No message reaches a customer without a named approver.</a:t>
            </a:r>
            <a:endParaRPr lang="en-US" sz="1300" dirty="0"/>
          </a:p>
        </p:txBody>
      </p:sp>
      <p:sp>
        <p:nvSpPr>
          <p:cNvPr id="4" name="Shape 2"/>
          <p:cNvSpPr/>
          <p:nvPr/>
        </p:nvSpPr>
        <p:spPr>
          <a:xfrm>
            <a:off x="457200" y="1325880"/>
            <a:ext cx="4023360" cy="749808"/>
          </a:xfrm>
          <a:prstGeom prst="roundRect">
            <a:avLst>
              <a:gd name="adj" fmla="val 9756"/>
            </a:avLst>
          </a:prstGeom>
          <a:solidFill>
            <a:srgbClr val="F3F6F8"/>
          </a:solidFill>
          <a:ln w="6350">
            <a:solidFill>
              <a:srgbClr val="F3F6F8"/>
            </a:solidFill>
            <a:prstDash val="solid"/>
          </a:ln>
        </p:spPr>
      </p:sp>
      <p:pic>
        <p:nvPicPr>
          <p:cNvPr id="5" name="Image 0" descr="preencoded.png">    </p:cNvPr>
          <p:cNvPicPr>
            <a:picLocks noChangeAspect="1"/>
          </p:cNvPicPr>
          <p:nvPr/>
        </p:nvPicPr>
        <p:blipFill>
          <a:blip r:embed="rId1"/>
          <a:stretch>
            <a:fillRect/>
          </a:stretch>
        </p:blipFill>
        <p:spPr>
          <a:xfrm>
            <a:off x="594360" y="1481328"/>
            <a:ext cx="438912" cy="438912"/>
          </a:xfrm>
          <a:prstGeom prst="rect">
            <a:avLst/>
          </a:prstGeom>
        </p:spPr>
      </p:pic>
      <p:sp>
        <p:nvSpPr>
          <p:cNvPr id="6" name="Text 3"/>
          <p:cNvSpPr txBox="1"/>
          <p:nvPr/>
        </p:nvSpPr>
        <p:spPr>
          <a:xfrm>
            <a:off x="1143000" y="1399032"/>
            <a:ext cx="3200400" cy="256032"/>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Opportunity Scout</a:t>
            </a:r>
            <a:endParaRPr lang="en-US" sz="1200" dirty="0"/>
          </a:p>
        </p:txBody>
      </p:sp>
      <p:sp>
        <p:nvSpPr>
          <p:cNvPr id="7" name="Text 4"/>
          <p:cNvSpPr txBox="1"/>
          <p:nvPr/>
        </p:nvSpPr>
        <p:spPr>
          <a:xfrm>
            <a:off x="1143000" y="1655064"/>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Computes a "Revenue Left on the Dock" report per consented account and ranks targets.</a:t>
            </a:r>
            <a:endParaRPr lang="en-US" sz="950" dirty="0"/>
          </a:p>
        </p:txBody>
      </p:sp>
      <p:sp>
        <p:nvSpPr>
          <p:cNvPr id="8" name="Shape 5"/>
          <p:cNvSpPr/>
          <p:nvPr/>
        </p:nvSpPr>
        <p:spPr>
          <a:xfrm>
            <a:off x="4663440" y="1325880"/>
            <a:ext cx="4023360" cy="749808"/>
          </a:xfrm>
          <a:prstGeom prst="roundRect">
            <a:avLst>
              <a:gd name="adj" fmla="val 9756"/>
            </a:avLst>
          </a:prstGeom>
          <a:solidFill>
            <a:srgbClr val="F3F6F8"/>
          </a:solidFill>
          <a:ln w="6350">
            <a:solidFill>
              <a:srgbClr val="F3F6F8"/>
            </a:solidFill>
            <a:prstDash val="solid"/>
          </a:ln>
        </p:spPr>
      </p:sp>
      <p:pic>
        <p:nvPicPr>
          <p:cNvPr id="9" name="Image 1" descr="preencoded.png">    </p:cNvPr>
          <p:cNvPicPr>
            <a:picLocks noChangeAspect="1"/>
          </p:cNvPicPr>
          <p:nvPr/>
        </p:nvPicPr>
        <p:blipFill>
          <a:blip r:embed="rId2"/>
          <a:stretch>
            <a:fillRect/>
          </a:stretch>
        </p:blipFill>
        <p:spPr>
          <a:xfrm>
            <a:off x="4800600" y="1481328"/>
            <a:ext cx="438912" cy="438912"/>
          </a:xfrm>
          <a:prstGeom prst="rect">
            <a:avLst/>
          </a:prstGeom>
        </p:spPr>
      </p:pic>
      <p:sp>
        <p:nvSpPr>
          <p:cNvPr id="10" name="Text 6"/>
          <p:cNvSpPr txBox="1"/>
          <p:nvPr/>
        </p:nvSpPr>
        <p:spPr>
          <a:xfrm>
            <a:off x="5349240" y="1399032"/>
            <a:ext cx="3200400" cy="256032"/>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Account Researcher</a:t>
            </a:r>
            <a:endParaRPr lang="en-US" sz="1200" dirty="0"/>
          </a:p>
        </p:txBody>
      </p:sp>
      <p:sp>
        <p:nvSpPr>
          <p:cNvPr id="11" name="Text 7"/>
          <p:cNvSpPr txBox="1"/>
          <p:nvPr/>
        </p:nvSpPr>
        <p:spPr>
          <a:xfrm>
            <a:off x="5349240" y="1655064"/>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Enriches with public signals: reviews, job ads, boat shows, new GM.</a:t>
            </a:r>
            <a:endParaRPr lang="en-US" sz="950" dirty="0"/>
          </a:p>
        </p:txBody>
      </p:sp>
      <p:sp>
        <p:nvSpPr>
          <p:cNvPr id="12" name="Shape 8"/>
          <p:cNvSpPr/>
          <p:nvPr/>
        </p:nvSpPr>
        <p:spPr>
          <a:xfrm>
            <a:off x="457200" y="2167128"/>
            <a:ext cx="4023360" cy="749808"/>
          </a:xfrm>
          <a:prstGeom prst="roundRect">
            <a:avLst>
              <a:gd name="adj" fmla="val 9756"/>
            </a:avLst>
          </a:prstGeom>
          <a:solidFill>
            <a:srgbClr val="F3F6F8"/>
          </a:solidFill>
          <a:ln w="6350">
            <a:solidFill>
              <a:srgbClr val="F3F6F8"/>
            </a:solidFill>
            <a:prstDash val="solid"/>
          </a:ln>
        </p:spPr>
      </p:sp>
      <p:pic>
        <p:nvPicPr>
          <p:cNvPr id="13" name="Image 2" descr="preencoded.png">    </p:cNvPr>
          <p:cNvPicPr>
            <a:picLocks noChangeAspect="1"/>
          </p:cNvPicPr>
          <p:nvPr/>
        </p:nvPicPr>
        <p:blipFill>
          <a:blip r:embed="rId3"/>
          <a:stretch>
            <a:fillRect/>
          </a:stretch>
        </p:blipFill>
        <p:spPr>
          <a:xfrm>
            <a:off x="594360" y="2322576"/>
            <a:ext cx="438912" cy="438912"/>
          </a:xfrm>
          <a:prstGeom prst="rect">
            <a:avLst/>
          </a:prstGeom>
        </p:spPr>
      </p:pic>
      <p:sp>
        <p:nvSpPr>
          <p:cNvPr id="14" name="Text 9"/>
          <p:cNvSpPr txBox="1"/>
          <p:nvPr/>
        </p:nvSpPr>
        <p:spPr>
          <a:xfrm>
            <a:off x="1143000" y="2240280"/>
            <a:ext cx="3200400" cy="256032"/>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Sequencer</a:t>
            </a:r>
            <a:endParaRPr lang="en-US" sz="1200" dirty="0"/>
          </a:p>
        </p:txBody>
      </p:sp>
      <p:sp>
        <p:nvSpPr>
          <p:cNvPr id="15" name="Text 10"/>
          <p:cNvSpPr txBox="1"/>
          <p:nvPr/>
        </p:nvSpPr>
        <p:spPr>
          <a:xfrm>
            <a:off x="1143000" y="2496312"/>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Drafts personalised multi-touch outreach using the account's own numbers.</a:t>
            </a:r>
            <a:endParaRPr lang="en-US" sz="950" dirty="0"/>
          </a:p>
        </p:txBody>
      </p:sp>
      <p:sp>
        <p:nvSpPr>
          <p:cNvPr id="16" name="Shape 11"/>
          <p:cNvSpPr/>
          <p:nvPr/>
        </p:nvSpPr>
        <p:spPr>
          <a:xfrm>
            <a:off x="4663440" y="2167128"/>
            <a:ext cx="4023360" cy="749808"/>
          </a:xfrm>
          <a:prstGeom prst="roundRect">
            <a:avLst>
              <a:gd name="adj" fmla="val 9756"/>
            </a:avLst>
          </a:prstGeom>
          <a:solidFill>
            <a:srgbClr val="F3F6F8"/>
          </a:solidFill>
          <a:ln w="6350">
            <a:solidFill>
              <a:srgbClr val="F3F6F8"/>
            </a:solidFill>
            <a:prstDash val="solid"/>
          </a:ln>
        </p:spPr>
      </p:sp>
      <p:pic>
        <p:nvPicPr>
          <p:cNvPr id="17" name="Image 3" descr="preencoded.png">    </p:cNvPr>
          <p:cNvPicPr>
            <a:picLocks noChangeAspect="1"/>
          </p:cNvPicPr>
          <p:nvPr/>
        </p:nvPicPr>
        <p:blipFill>
          <a:blip r:embed="rId4"/>
          <a:stretch>
            <a:fillRect/>
          </a:stretch>
        </p:blipFill>
        <p:spPr>
          <a:xfrm>
            <a:off x="4800600" y="2322576"/>
            <a:ext cx="438912" cy="438912"/>
          </a:xfrm>
          <a:prstGeom prst="rect">
            <a:avLst/>
          </a:prstGeom>
        </p:spPr>
      </p:pic>
      <p:sp>
        <p:nvSpPr>
          <p:cNvPr id="18" name="Text 12"/>
          <p:cNvSpPr txBox="1"/>
          <p:nvPr/>
        </p:nvSpPr>
        <p:spPr>
          <a:xfrm>
            <a:off x="5349240" y="2240280"/>
            <a:ext cx="3200400" cy="256032"/>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Demo Builder</a:t>
            </a:r>
            <a:endParaRPr lang="en-US" sz="1200" dirty="0"/>
          </a:p>
        </p:txBody>
      </p:sp>
      <p:sp>
        <p:nvSpPr>
          <p:cNvPr id="19" name="Text 13"/>
          <p:cNvSpPr txBox="1"/>
          <p:nvPr/>
        </p:nvSpPr>
        <p:spPr>
          <a:xfrm>
            <a:off x="5349240" y="2496312"/>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Spins up a sandbox seeded with the prospect's operation codes plus a narrated walkthrough.</a:t>
            </a:r>
            <a:endParaRPr lang="en-US" sz="950" dirty="0"/>
          </a:p>
        </p:txBody>
      </p:sp>
      <p:sp>
        <p:nvSpPr>
          <p:cNvPr id="20" name="Shape 14"/>
          <p:cNvSpPr/>
          <p:nvPr/>
        </p:nvSpPr>
        <p:spPr>
          <a:xfrm>
            <a:off x="457200" y="3008376"/>
            <a:ext cx="4023360" cy="749808"/>
          </a:xfrm>
          <a:prstGeom prst="roundRect">
            <a:avLst>
              <a:gd name="adj" fmla="val 9756"/>
            </a:avLst>
          </a:prstGeom>
          <a:solidFill>
            <a:srgbClr val="F3F6F8"/>
          </a:solidFill>
          <a:ln w="6350">
            <a:solidFill>
              <a:srgbClr val="F3F6F8"/>
            </a:solidFill>
            <a:prstDash val="solid"/>
          </a:ln>
        </p:spPr>
      </p:sp>
      <p:pic>
        <p:nvPicPr>
          <p:cNvPr id="21" name="Image 4" descr="preencoded.png">    </p:cNvPr>
          <p:cNvPicPr>
            <a:picLocks noChangeAspect="1"/>
          </p:cNvPicPr>
          <p:nvPr/>
        </p:nvPicPr>
        <p:blipFill>
          <a:blip r:embed="rId5"/>
          <a:stretch>
            <a:fillRect/>
          </a:stretch>
        </p:blipFill>
        <p:spPr>
          <a:xfrm>
            <a:off x="594360" y="3163824"/>
            <a:ext cx="438912" cy="438912"/>
          </a:xfrm>
          <a:prstGeom prst="rect">
            <a:avLst/>
          </a:prstGeom>
        </p:spPr>
      </p:pic>
      <p:sp>
        <p:nvSpPr>
          <p:cNvPr id="22" name="Text 15"/>
          <p:cNvSpPr txBox="1"/>
          <p:nvPr/>
        </p:nvSpPr>
        <p:spPr>
          <a:xfrm>
            <a:off x="1143000" y="3081528"/>
            <a:ext cx="3200400" cy="256032"/>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Try-It Concierge</a:t>
            </a:r>
            <a:endParaRPr lang="en-US" sz="1200" dirty="0"/>
          </a:p>
        </p:txBody>
      </p:sp>
      <p:sp>
        <p:nvSpPr>
          <p:cNvPr id="23" name="Text 16"/>
          <p:cNvSpPr txBox="1"/>
          <p:nvPr/>
        </p:nvSpPr>
        <p:spPr>
          <a:xfrm>
            <a:off x="1143000" y="3337560"/>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Runs the free web tool: paste a note, get a draft estimate, book a call.</a:t>
            </a:r>
            <a:endParaRPr lang="en-US" sz="950" dirty="0"/>
          </a:p>
        </p:txBody>
      </p:sp>
      <p:sp>
        <p:nvSpPr>
          <p:cNvPr id="24" name="Shape 17"/>
          <p:cNvSpPr/>
          <p:nvPr/>
        </p:nvSpPr>
        <p:spPr>
          <a:xfrm>
            <a:off x="4663440" y="3008376"/>
            <a:ext cx="4023360" cy="749808"/>
          </a:xfrm>
          <a:prstGeom prst="roundRect">
            <a:avLst>
              <a:gd name="adj" fmla="val 9756"/>
            </a:avLst>
          </a:prstGeom>
          <a:solidFill>
            <a:srgbClr val="F3F6F8"/>
          </a:solidFill>
          <a:ln w="6350">
            <a:solidFill>
              <a:srgbClr val="F3F6F8"/>
            </a:solidFill>
            <a:prstDash val="solid"/>
          </a:ln>
        </p:spPr>
      </p:sp>
      <p:pic>
        <p:nvPicPr>
          <p:cNvPr id="25" name="Image 5" descr="preencoded.png">    </p:cNvPr>
          <p:cNvPicPr>
            <a:picLocks noChangeAspect="1"/>
          </p:cNvPicPr>
          <p:nvPr/>
        </p:nvPicPr>
        <p:blipFill>
          <a:blip r:embed="rId6"/>
          <a:stretch>
            <a:fillRect/>
          </a:stretch>
        </p:blipFill>
        <p:spPr>
          <a:xfrm>
            <a:off x="4800600" y="3163824"/>
            <a:ext cx="438912" cy="438912"/>
          </a:xfrm>
          <a:prstGeom prst="rect">
            <a:avLst/>
          </a:prstGeom>
        </p:spPr>
      </p:pic>
      <p:sp>
        <p:nvSpPr>
          <p:cNvPr id="26" name="Text 18"/>
          <p:cNvSpPr txBox="1"/>
          <p:nvPr/>
        </p:nvSpPr>
        <p:spPr>
          <a:xfrm>
            <a:off x="5349240" y="3081528"/>
            <a:ext cx="3200400" cy="256032"/>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Deal Desk and Sales Engineer</a:t>
            </a:r>
            <a:endParaRPr lang="en-US" sz="1200" dirty="0"/>
          </a:p>
        </p:txBody>
      </p:sp>
      <p:sp>
        <p:nvSpPr>
          <p:cNvPr id="27" name="Text 19"/>
          <p:cNvSpPr txBox="1"/>
          <p:nvPr/>
        </p:nvSpPr>
        <p:spPr>
          <a:xfrm>
            <a:off x="5349240" y="3337560"/>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Proposal, ROI model, RFP and security answers within policy.</a:t>
            </a:r>
            <a:endParaRPr lang="en-US" sz="950" dirty="0"/>
          </a:p>
        </p:txBody>
      </p:sp>
      <p:sp>
        <p:nvSpPr>
          <p:cNvPr id="28" name="Shape 20"/>
          <p:cNvSpPr/>
          <p:nvPr/>
        </p:nvSpPr>
        <p:spPr>
          <a:xfrm>
            <a:off x="457200" y="3849624"/>
            <a:ext cx="4023360" cy="749808"/>
          </a:xfrm>
          <a:prstGeom prst="roundRect">
            <a:avLst>
              <a:gd name="adj" fmla="val 9756"/>
            </a:avLst>
          </a:prstGeom>
          <a:solidFill>
            <a:srgbClr val="F3F6F8"/>
          </a:solidFill>
          <a:ln w="6350">
            <a:solidFill>
              <a:srgbClr val="F3F6F8"/>
            </a:solidFill>
            <a:prstDash val="solid"/>
          </a:ln>
        </p:spPr>
      </p:sp>
      <p:pic>
        <p:nvPicPr>
          <p:cNvPr id="29" name="Image 6" descr="preencoded.png">    </p:cNvPr>
          <p:cNvPicPr>
            <a:picLocks noChangeAspect="1"/>
          </p:cNvPicPr>
          <p:nvPr/>
        </p:nvPicPr>
        <p:blipFill>
          <a:blip r:embed="rId7"/>
          <a:stretch>
            <a:fillRect/>
          </a:stretch>
        </p:blipFill>
        <p:spPr>
          <a:xfrm>
            <a:off x="594360" y="4005072"/>
            <a:ext cx="438912" cy="438912"/>
          </a:xfrm>
          <a:prstGeom prst="rect">
            <a:avLst/>
          </a:prstGeom>
        </p:spPr>
      </p:pic>
      <p:sp>
        <p:nvSpPr>
          <p:cNvPr id="30" name="Text 21"/>
          <p:cNvSpPr txBox="1"/>
          <p:nvPr/>
        </p:nvSpPr>
        <p:spPr>
          <a:xfrm>
            <a:off x="1143000" y="3922776"/>
            <a:ext cx="3200400" cy="256032"/>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Onboarding Agent</a:t>
            </a:r>
            <a:endParaRPr lang="en-US" sz="1200" dirty="0"/>
          </a:p>
        </p:txBody>
      </p:sp>
      <p:sp>
        <p:nvSpPr>
          <p:cNvPr id="31" name="Text 22"/>
          <p:cNvSpPr txBox="1"/>
          <p:nvPr/>
        </p:nvSpPr>
        <p:spPr>
          <a:xfrm>
            <a:off x="1143000" y="4178808"/>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Cleans and maps operation codes so day one is a real job.</a:t>
            </a:r>
            <a:endParaRPr lang="en-US" sz="950" dirty="0"/>
          </a:p>
        </p:txBody>
      </p:sp>
      <p:sp>
        <p:nvSpPr>
          <p:cNvPr id="32" name="Shape 23"/>
          <p:cNvSpPr/>
          <p:nvPr/>
        </p:nvSpPr>
        <p:spPr>
          <a:xfrm>
            <a:off x="4663440" y="3849624"/>
            <a:ext cx="4023360" cy="749808"/>
          </a:xfrm>
          <a:prstGeom prst="roundRect">
            <a:avLst>
              <a:gd name="adj" fmla="val 9756"/>
            </a:avLst>
          </a:prstGeom>
          <a:solidFill>
            <a:srgbClr val="F3F6F8"/>
          </a:solidFill>
          <a:ln w="6350">
            <a:solidFill>
              <a:srgbClr val="F3F6F8"/>
            </a:solidFill>
            <a:prstDash val="solid"/>
          </a:ln>
        </p:spPr>
      </p:sp>
      <p:pic>
        <p:nvPicPr>
          <p:cNvPr id="33" name="Image 7" descr="preencoded.png">    </p:cNvPr>
          <p:cNvPicPr>
            <a:picLocks noChangeAspect="1"/>
          </p:cNvPicPr>
          <p:nvPr/>
        </p:nvPicPr>
        <p:blipFill>
          <a:blip r:embed="rId8"/>
          <a:stretch>
            <a:fillRect/>
          </a:stretch>
        </p:blipFill>
        <p:spPr>
          <a:xfrm>
            <a:off x="4800600" y="4005072"/>
            <a:ext cx="438912" cy="438912"/>
          </a:xfrm>
          <a:prstGeom prst="rect">
            <a:avLst/>
          </a:prstGeom>
        </p:spPr>
      </p:pic>
      <p:sp>
        <p:nvSpPr>
          <p:cNvPr id="34" name="Text 24"/>
          <p:cNvSpPr txBox="1"/>
          <p:nvPr/>
        </p:nvSpPr>
        <p:spPr>
          <a:xfrm>
            <a:off x="5349240" y="3922776"/>
            <a:ext cx="3200400" cy="256032"/>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Adoption and Proof</a:t>
            </a:r>
            <a:endParaRPr lang="en-US" sz="1200" dirty="0"/>
          </a:p>
        </p:txBody>
      </p:sp>
      <p:sp>
        <p:nvSpPr>
          <p:cNvPr id="35" name="Text 25"/>
          <p:cNvSpPr txBox="1"/>
          <p:nvPr/>
        </p:nvSpPr>
        <p:spPr>
          <a:xfrm>
            <a:off x="5349240" y="4178808"/>
            <a:ext cx="3246120" cy="402336"/>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Watches edit rate and DSO, flags expansion and churn, drafts case studies.</a:t>
            </a:r>
            <a:endParaRPr lang="en-US" sz="950" dirty="0"/>
          </a:p>
        </p:txBody>
      </p:sp>
      <p:sp>
        <p:nvSpPr>
          <p:cNvPr id="36" name="Text 2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11</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Packaging, channels and targets</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Every tier requires DockMaster Web and Mobile, which makes the Service Writer the migration engine</a:t>
            </a:r>
            <a:endParaRPr lang="en-US" sz="1300" dirty="0"/>
          </a:p>
        </p:txBody>
      </p:sp>
      <p:sp>
        <p:nvSpPr>
          <p:cNvPr id="4" name="Shape 2"/>
          <p:cNvSpPr/>
          <p:nvPr/>
        </p:nvSpPr>
        <p:spPr>
          <a:xfrm>
            <a:off x="457200" y="1325880"/>
            <a:ext cx="4023360" cy="658368"/>
          </a:xfrm>
          <a:prstGeom prst="roundRect">
            <a:avLst>
              <a:gd name="adj" fmla="val 11111"/>
            </a:avLst>
          </a:prstGeom>
          <a:solidFill>
            <a:srgbClr val="F3F6F8"/>
          </a:solidFill>
          <a:ln w="6350">
            <a:solidFill>
              <a:srgbClr val="F3F6F8"/>
            </a:solidFill>
            <a:prstDash val="solid"/>
          </a:ln>
        </p:spPr>
      </p:sp>
      <p:sp>
        <p:nvSpPr>
          <p:cNvPr id="5" name="Text 3"/>
          <p:cNvSpPr txBox="1"/>
          <p:nvPr/>
        </p:nvSpPr>
        <p:spPr>
          <a:xfrm>
            <a:off x="640080" y="1380744"/>
            <a:ext cx="3657600" cy="256032"/>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Service Writer</a:t>
            </a:r>
            <a:endParaRPr lang="en-US" sz="1250" dirty="0"/>
          </a:p>
        </p:txBody>
      </p:sp>
      <p:sp>
        <p:nvSpPr>
          <p:cNvPr id="6" name="Text 4"/>
          <p:cNvSpPr txBox="1"/>
          <p:nvPr/>
        </p:nvSpPr>
        <p:spPr>
          <a:xfrm>
            <a:off x="640080" y="1636776"/>
            <a:ext cx="3657600" cy="329184"/>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Drafting, history flags, eSign handoff. Per location plus per active technician.</a:t>
            </a:r>
            <a:endParaRPr lang="en-US" sz="950" dirty="0"/>
          </a:p>
        </p:txBody>
      </p:sp>
      <p:sp>
        <p:nvSpPr>
          <p:cNvPr id="7" name="Shape 5"/>
          <p:cNvSpPr/>
          <p:nvPr/>
        </p:nvSpPr>
        <p:spPr>
          <a:xfrm>
            <a:off x="457200" y="2075688"/>
            <a:ext cx="4023360" cy="658368"/>
          </a:xfrm>
          <a:prstGeom prst="roundRect">
            <a:avLst>
              <a:gd name="adj" fmla="val 11111"/>
            </a:avLst>
          </a:prstGeom>
          <a:solidFill>
            <a:srgbClr val="F3F6F8"/>
          </a:solidFill>
          <a:ln w="6350">
            <a:solidFill>
              <a:srgbClr val="F3F6F8"/>
            </a:solidFill>
            <a:prstDash val="solid"/>
          </a:ln>
        </p:spPr>
      </p:sp>
      <p:sp>
        <p:nvSpPr>
          <p:cNvPr id="8" name="Text 6"/>
          <p:cNvSpPr txBox="1"/>
          <p:nvPr/>
        </p:nvSpPr>
        <p:spPr>
          <a:xfrm>
            <a:off x="640080" y="2130552"/>
            <a:ext cx="3657600" cy="256032"/>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AI Service Desk</a:t>
            </a:r>
            <a:endParaRPr lang="en-US" sz="1250" dirty="0"/>
          </a:p>
        </p:txBody>
      </p:sp>
      <p:sp>
        <p:nvSpPr>
          <p:cNvPr id="9" name="Text 7"/>
          <p:cNvSpPr txBox="1"/>
          <p:nvPr/>
        </p:nvSpPr>
        <p:spPr>
          <a:xfrm>
            <a:off x="640080" y="2386584"/>
            <a:ext cx="3657600" cy="329184"/>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Adds AI Scheduling and Blu Voice. Bundle discount.</a:t>
            </a:r>
            <a:endParaRPr lang="en-US" sz="950" dirty="0"/>
          </a:p>
        </p:txBody>
      </p:sp>
      <p:sp>
        <p:nvSpPr>
          <p:cNvPr id="10" name="Shape 8"/>
          <p:cNvSpPr/>
          <p:nvPr/>
        </p:nvSpPr>
        <p:spPr>
          <a:xfrm>
            <a:off x="457200" y="2825496"/>
            <a:ext cx="4023360" cy="658368"/>
          </a:xfrm>
          <a:prstGeom prst="roundRect">
            <a:avLst>
              <a:gd name="adj" fmla="val 11111"/>
            </a:avLst>
          </a:prstGeom>
          <a:solidFill>
            <a:srgbClr val="E3F5F3"/>
          </a:solidFill>
          <a:ln w="6350">
            <a:solidFill>
              <a:srgbClr val="E3F5F3"/>
            </a:solidFill>
            <a:prstDash val="solid"/>
          </a:ln>
        </p:spPr>
      </p:sp>
      <p:sp>
        <p:nvSpPr>
          <p:cNvPr id="11" name="Text 9"/>
          <p:cNvSpPr txBox="1"/>
          <p:nvPr/>
        </p:nvSpPr>
        <p:spPr>
          <a:xfrm>
            <a:off x="640080" y="2880360"/>
            <a:ext cx="3657600" cy="256032"/>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Revenue Suite</a:t>
            </a:r>
            <a:endParaRPr lang="en-US" sz="1250" dirty="0"/>
          </a:p>
        </p:txBody>
      </p:sp>
      <p:sp>
        <p:nvSpPr>
          <p:cNvPr id="12" name="Text 10"/>
          <p:cNvSpPr txBox="1"/>
          <p:nvPr/>
        </p:nvSpPr>
        <p:spPr>
          <a:xfrm>
            <a:off x="640080" y="3136392"/>
            <a:ext cx="3657600" cy="329184"/>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Adds proactive outreach and collections via ValPay. Payments margin subsidises price.</a:t>
            </a:r>
            <a:endParaRPr lang="en-US" sz="950" dirty="0"/>
          </a:p>
        </p:txBody>
      </p:sp>
      <p:sp>
        <p:nvSpPr>
          <p:cNvPr id="13" name="Shape 11"/>
          <p:cNvSpPr/>
          <p:nvPr/>
        </p:nvSpPr>
        <p:spPr>
          <a:xfrm>
            <a:off x="457200" y="3575304"/>
            <a:ext cx="4023360" cy="658368"/>
          </a:xfrm>
          <a:prstGeom prst="roundRect">
            <a:avLst>
              <a:gd name="adj" fmla="val 11111"/>
            </a:avLst>
          </a:prstGeom>
          <a:solidFill>
            <a:srgbClr val="F3F6F8"/>
          </a:solidFill>
          <a:ln w="6350">
            <a:solidFill>
              <a:srgbClr val="F3F6F8"/>
            </a:solidFill>
            <a:prstDash val="solid"/>
          </a:ln>
        </p:spPr>
      </p:sp>
      <p:sp>
        <p:nvSpPr>
          <p:cNvPr id="14" name="Text 12"/>
          <p:cNvSpPr txBox="1"/>
          <p:nvPr/>
        </p:nvSpPr>
        <p:spPr>
          <a:xfrm>
            <a:off x="640080" y="3630168"/>
            <a:ext cx="3657600" cy="256032"/>
          </a:xfrm>
          <a:prstGeom prst="rect">
            <a:avLst/>
          </a:prstGeom>
          <a:noFill/>
          <a:ln/>
        </p:spPr>
        <p:txBody>
          <a:bodyPr wrap="square" lIns="0" tIns="0" rIns="0" bIns="0" rtlCol="0" anchor="ctr"/>
          <a:lstStyle/>
          <a:p>
            <a:pPr indent="0" marL="0">
              <a:buNone/>
            </a:pPr>
            <a:r>
              <a:rPr lang="en-US" sz="1250" b="1" dirty="0">
                <a:solidFill>
                  <a:srgbClr val="0B2545"/>
                </a:solidFill>
                <a:latin typeface="Cambria" pitchFamily="34" charset="0"/>
                <a:ea typeface="Cambria" pitchFamily="34" charset="-122"/>
                <a:cs typeface="Cambria" pitchFamily="34" charset="-120"/>
              </a:rPr>
              <a:t>Group</a:t>
            </a:r>
            <a:endParaRPr lang="en-US" sz="1250" dirty="0"/>
          </a:p>
        </p:txBody>
      </p:sp>
      <p:sp>
        <p:nvSpPr>
          <p:cNvPr id="15" name="Text 13"/>
          <p:cNvSpPr txBox="1"/>
          <p:nvPr/>
        </p:nvSpPr>
        <p:spPr>
          <a:xfrm>
            <a:off x="640080" y="3886200"/>
            <a:ext cx="3657600" cy="329184"/>
          </a:xfrm>
          <a:prstGeom prst="rect">
            <a:avLst/>
          </a:prstGeom>
          <a:noFill/>
          <a:ln/>
        </p:spPr>
        <p:txBody>
          <a:bodyPr wrap="square" lIns="0" tIns="0" rIns="0" bIns="0" rtlCol="0" anchor="t"/>
          <a:lstStyle/>
          <a:p>
            <a:pPr indent="0" marL="0">
              <a:buNone/>
            </a:pPr>
            <a:r>
              <a:rPr lang="en-US" sz="950" dirty="0">
                <a:solidFill>
                  <a:srgbClr val="1B2430"/>
                </a:solidFill>
                <a:latin typeface="Calibri" pitchFamily="34" charset="0"/>
                <a:ea typeface="Calibri" pitchFamily="34" charset="-122"/>
                <a:cs typeface="Calibri" pitchFamily="34" charset="-120"/>
              </a:rPr>
              <a:t>Adds multi-site benchmarking. For PE-backed roll-ups.</a:t>
            </a:r>
            <a:endParaRPr lang="en-US" sz="9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663440" y="1325880"/>
          <a:ext cx="4023360" cy="914400"/>
        </p:xfrm>
        <a:graphic>
          <a:graphicData uri="http://schemas.openxmlformats.org/drawingml/2006/table">
            <a:tbl>
              <a:tblPr/>
              <a:tblGrid>
                <a:gridCol w="1143000"/>
                <a:gridCol w="1188720"/>
                <a:gridCol w="1691640"/>
              </a:tblGrid>
              <a:tr h="438912">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Phase</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Window</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solidFill>
                      <a:srgbClr val="0B2545"/>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Target (assumption)</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solidFill>
                      <a:srgbClr val="0B2545"/>
                    </a:solidFill>
                  </a:tcPr>
                </a:tc>
              </a:tr>
              <a:tr h="438912">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Design partners</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Now to Oct 2026</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12 accounts on beta, 3 case studies</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r h="438912">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Base launch</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Oct 2026 to Mar 2027</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120 paying locations; ValPay attach up 15 pts</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r h="438912">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New logos</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Apr to Sep 2027</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60 new logos, 25% from the free tool</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r h="438912">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Groups and partners</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Q4 2027</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3 multi-site groups, 2 OEM co-marketing deals</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r h="438912">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Beyond ecosystem</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2028</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c>
                  <a:txBody>
                    <a:bodyPr/>
                    <a:lstStyle/>
                    <a:p>
                      <a:pPr indent="0" marL="0">
                        <a:buNone/>
                      </a:pPr>
                      <a:r>
                        <a:rPr lang="en-US" sz="900" dirty="0">
                          <a:solidFill>
                            <a:srgbClr val="1B2430"/>
                          </a:solidFill>
                          <a:latin typeface="Calibri" pitchFamily="34" charset="0"/>
                          <a:ea typeface="Calibri" pitchFamily="34" charset="-122"/>
                          <a:cs typeface="Calibri" pitchFamily="34" charset="-120"/>
                        </a:rPr>
                        <a:t>First 50 non-DockMaster shops</a:t>
                      </a:r>
                      <a:endParaRPr lang="en-US" sz="900" dirty="0">
                        <a:latin typeface="Calibri" charset="0"/>
                        <a:ea typeface="Calibri" charset="0"/>
                        <a:cs typeface="Calibri" charset="0"/>
                      </a:endParaRPr>
                    </a:p>
                  </a:txBody>
                  <a:tcPr marL="45720" marR="45720" marT="45720" marB="45720" anchor="ctr">
                    <a:lnL w="6350" cap="flat" cmpd="sng" algn="ctr">
                      <a:solidFill>
                        <a:srgbClr val="D9E0E6"/>
                      </a:solidFill>
                      <a:prstDash val="solid"/>
                      <a:round/>
                      <a:headEnd type="none" w="med" len="med"/>
                      <a:tailEnd type="none" w="med" len="med"/>
                    </a:lnL>
                    <a:lnR w="6350" cap="flat" cmpd="sng" algn="ctr">
                      <a:solidFill>
                        <a:srgbClr val="D9E0E6"/>
                      </a:solidFill>
                      <a:prstDash val="solid"/>
                      <a:round/>
                      <a:headEnd type="none" w="med" len="med"/>
                      <a:tailEnd type="none" w="med" len="med"/>
                    </a:lnR>
                    <a:lnT w="6350" cap="flat" cmpd="sng" algn="ctr">
                      <a:solidFill>
                        <a:srgbClr val="D9E0E6"/>
                      </a:solidFill>
                      <a:prstDash val="solid"/>
                      <a:round/>
                      <a:headEnd type="none" w="med" len="med"/>
                      <a:tailEnd type="none" w="med" len="med"/>
                    </a:lnT>
                    <a:lnB w="6350" cap="flat" cmpd="sng" algn="ctr">
                      <a:solidFill>
                        <a:srgbClr val="D9E0E6"/>
                      </a:solidFill>
                      <a:prstDash val="solid"/>
                      <a:round/>
                      <a:headEnd type="none" w="med" len="med"/>
                      <a:tailEnd type="none" w="med" len="med"/>
                    </a:lnB>
                  </a:tcPr>
                </a:tc>
              </a:tr>
            </a:tbl>
          </a:graphicData>
        </a:graphic>
      </p:graphicFrame>
      <p:sp>
        <p:nvSpPr>
          <p:cNvPr id="17" name="Text 14"/>
          <p:cNvSpPr txBox="1"/>
          <p:nvPr/>
        </p:nvSpPr>
        <p:spPr>
          <a:xfrm>
            <a:off x="4663440" y="4114800"/>
            <a:ext cx="4023360" cy="548640"/>
          </a:xfrm>
          <a:prstGeom prst="rect">
            <a:avLst/>
          </a:prstGeom>
          <a:noFill/>
          <a:ln/>
        </p:spPr>
        <p:txBody>
          <a:bodyPr wrap="square" lIns="0" tIns="0" rIns="0" bIns="0" rtlCol="0" anchor="t"/>
          <a:lstStyle/>
          <a:p>
            <a:pPr indent="0" marL="0">
              <a:buNone/>
            </a:pPr>
            <a:r>
              <a:rPr lang="en-US" sz="900" dirty="0">
                <a:solidFill>
                  <a:srgbClr val="5B6B7A"/>
                </a:solidFill>
                <a:latin typeface="Calibri" pitchFamily="34" charset="0"/>
                <a:ea typeface="Calibri" pitchFamily="34" charset="-122"/>
                <a:cs typeface="Calibri" pitchFamily="34" charset="-120"/>
              </a:rPr>
              <a:t>Channels: user conference (Oct 19-23), CSM-led base, free web tool, Marina Dock Age, AMI, ABYC, boat shows, engine OEM and parts distributor partners, review programme. Pricing is not public; anchors are stated as assumptions.</a:t>
            </a:r>
            <a:endParaRPr lang="en-US" sz="900" dirty="0"/>
          </a:p>
        </p:txBody>
      </p:sp>
      <p:sp>
        <p:nvSpPr>
          <p:cNvPr id="18" name="Text 15"/>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12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12-month roadmap</a:t>
            </a:r>
            <a:endParaRPr lang="en-US" sz="2800" dirty="0"/>
          </a:p>
        </p:txBody>
      </p:sp>
      <p:sp>
        <p:nvSpPr>
          <p:cNvPr id="3" name="Text 1"/>
          <p:cNvSpPr txBox="1"/>
          <p:nvPr/>
        </p:nvSpPr>
        <p:spPr>
          <a:xfrm>
            <a:off x="457200" y="841248"/>
            <a:ext cx="8229600" cy="320040"/>
          </a:xfrm>
          <a:prstGeom prst="rect">
            <a:avLst/>
          </a:prstGeom>
          <a:noFill/>
          <a:ln/>
        </p:spPr>
        <p:txBody>
          <a:bodyPr wrap="square" lIns="0" tIns="0" rIns="0" bIns="0" rtlCol="0" anchor="ctr"/>
          <a:lstStyle/>
          <a:p>
            <a:pPr indent="0" marL="0">
              <a:buNone/>
            </a:pPr>
            <a:r>
              <a:rPr lang="en-US" sz="1300" dirty="0">
                <a:solidFill>
                  <a:srgbClr val="5B6B7A"/>
                </a:solidFill>
                <a:latin typeface="Calibri" pitchFamily="34" charset="0"/>
                <a:ea typeface="Calibri" pitchFamily="34" charset="-122"/>
                <a:cs typeface="Calibri" pitchFamily="34" charset="-120"/>
              </a:rPr>
              <a:t>October 2026 to September 2027</a:t>
            </a:r>
            <a:endParaRPr lang="en-US" sz="1300" dirty="0"/>
          </a:p>
        </p:txBody>
      </p:sp>
      <p:sp>
        <p:nvSpPr>
          <p:cNvPr id="4" name="Shape 2"/>
          <p:cNvSpPr/>
          <p:nvPr/>
        </p:nvSpPr>
        <p:spPr>
          <a:xfrm>
            <a:off x="1554480" y="1280160"/>
            <a:ext cx="1709928" cy="329184"/>
          </a:xfrm>
          <a:prstGeom prst="roundRect">
            <a:avLst>
              <a:gd name="adj" fmla="val 13889"/>
            </a:avLst>
          </a:prstGeom>
          <a:solidFill>
            <a:srgbClr val="0B2545"/>
          </a:solidFill>
          <a:ln w="12700">
            <a:solidFill>
              <a:srgbClr val="0B2545"/>
            </a:solidFill>
            <a:prstDash val="solid"/>
          </a:ln>
        </p:spPr>
      </p:sp>
      <p:sp>
        <p:nvSpPr>
          <p:cNvPr id="5" name="Text 3"/>
          <p:cNvSpPr txBox="1"/>
          <p:nvPr/>
        </p:nvSpPr>
        <p:spPr>
          <a:xfrm>
            <a:off x="1554480" y="1280160"/>
            <a:ext cx="17099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Q4 2026</a:t>
            </a:r>
            <a:endParaRPr lang="en-US" sz="1200" dirty="0"/>
          </a:p>
        </p:txBody>
      </p:sp>
      <p:sp>
        <p:nvSpPr>
          <p:cNvPr id="6" name="Shape 4"/>
          <p:cNvSpPr/>
          <p:nvPr/>
        </p:nvSpPr>
        <p:spPr>
          <a:xfrm>
            <a:off x="3337560" y="1280160"/>
            <a:ext cx="1709928" cy="329184"/>
          </a:xfrm>
          <a:prstGeom prst="roundRect">
            <a:avLst>
              <a:gd name="adj" fmla="val 13889"/>
            </a:avLst>
          </a:prstGeom>
          <a:solidFill>
            <a:srgbClr val="0B2545"/>
          </a:solidFill>
          <a:ln w="12700">
            <a:solidFill>
              <a:srgbClr val="0B2545"/>
            </a:solidFill>
            <a:prstDash val="solid"/>
          </a:ln>
        </p:spPr>
      </p:sp>
      <p:sp>
        <p:nvSpPr>
          <p:cNvPr id="7" name="Text 5"/>
          <p:cNvSpPr txBox="1"/>
          <p:nvPr/>
        </p:nvSpPr>
        <p:spPr>
          <a:xfrm>
            <a:off x="3337560" y="1280160"/>
            <a:ext cx="17099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Q1 2027</a:t>
            </a:r>
            <a:endParaRPr lang="en-US" sz="1200" dirty="0"/>
          </a:p>
        </p:txBody>
      </p:sp>
      <p:sp>
        <p:nvSpPr>
          <p:cNvPr id="8" name="Shape 6"/>
          <p:cNvSpPr/>
          <p:nvPr/>
        </p:nvSpPr>
        <p:spPr>
          <a:xfrm>
            <a:off x="5120640" y="1280160"/>
            <a:ext cx="1709928" cy="329184"/>
          </a:xfrm>
          <a:prstGeom prst="roundRect">
            <a:avLst>
              <a:gd name="adj" fmla="val 13889"/>
            </a:avLst>
          </a:prstGeom>
          <a:solidFill>
            <a:srgbClr val="0B2545"/>
          </a:solidFill>
          <a:ln w="12700">
            <a:solidFill>
              <a:srgbClr val="0B2545"/>
            </a:solidFill>
            <a:prstDash val="solid"/>
          </a:ln>
        </p:spPr>
      </p:sp>
      <p:sp>
        <p:nvSpPr>
          <p:cNvPr id="9" name="Text 7"/>
          <p:cNvSpPr txBox="1"/>
          <p:nvPr/>
        </p:nvSpPr>
        <p:spPr>
          <a:xfrm>
            <a:off x="5120640" y="1280160"/>
            <a:ext cx="17099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Q2 2027</a:t>
            </a:r>
            <a:endParaRPr lang="en-US" sz="1200" dirty="0"/>
          </a:p>
        </p:txBody>
      </p:sp>
      <p:sp>
        <p:nvSpPr>
          <p:cNvPr id="10" name="Shape 8"/>
          <p:cNvSpPr/>
          <p:nvPr/>
        </p:nvSpPr>
        <p:spPr>
          <a:xfrm>
            <a:off x="6903720" y="1280160"/>
            <a:ext cx="1709928" cy="329184"/>
          </a:xfrm>
          <a:prstGeom prst="roundRect">
            <a:avLst>
              <a:gd name="adj" fmla="val 13889"/>
            </a:avLst>
          </a:prstGeom>
          <a:solidFill>
            <a:srgbClr val="0B2545"/>
          </a:solidFill>
          <a:ln w="12700">
            <a:solidFill>
              <a:srgbClr val="0B2545"/>
            </a:solidFill>
            <a:prstDash val="solid"/>
          </a:ln>
        </p:spPr>
      </p:sp>
      <p:sp>
        <p:nvSpPr>
          <p:cNvPr id="11" name="Text 9"/>
          <p:cNvSpPr txBox="1"/>
          <p:nvPr/>
        </p:nvSpPr>
        <p:spPr>
          <a:xfrm>
            <a:off x="6903720" y="1280160"/>
            <a:ext cx="1709928"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Q3 2027</a:t>
            </a:r>
            <a:endParaRPr lang="en-US" sz="1200" dirty="0"/>
          </a:p>
        </p:txBody>
      </p:sp>
      <p:sp>
        <p:nvSpPr>
          <p:cNvPr id="12" name="Text 10"/>
          <p:cNvSpPr txBox="1"/>
          <p:nvPr/>
        </p:nvSpPr>
        <p:spPr>
          <a:xfrm>
            <a:off x="457200" y="1700784"/>
            <a:ext cx="1005840" cy="640080"/>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Product</a:t>
            </a:r>
            <a:endParaRPr lang="en-US" sz="1200" dirty="0"/>
          </a:p>
        </p:txBody>
      </p:sp>
      <p:sp>
        <p:nvSpPr>
          <p:cNvPr id="13" name="Shape 11"/>
          <p:cNvSpPr/>
          <p:nvPr/>
        </p:nvSpPr>
        <p:spPr>
          <a:xfrm>
            <a:off x="1554480" y="1700784"/>
            <a:ext cx="1709928" cy="640080"/>
          </a:xfrm>
          <a:prstGeom prst="roundRect">
            <a:avLst>
              <a:gd name="adj" fmla="val 11429"/>
            </a:avLst>
          </a:prstGeom>
          <a:solidFill>
            <a:srgbClr val="F3F6F8"/>
          </a:solidFill>
          <a:ln w="6350">
            <a:solidFill>
              <a:srgbClr val="F3F6F8"/>
            </a:solidFill>
            <a:prstDash val="solid"/>
          </a:ln>
        </p:spPr>
      </p:sp>
      <p:sp>
        <p:nvSpPr>
          <p:cNvPr id="14" name="Text 12"/>
          <p:cNvSpPr txBox="1"/>
          <p:nvPr/>
        </p:nvSpPr>
        <p:spPr>
          <a:xfrm>
            <a:off x="1645920" y="174650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Service Writer GA on Web 2.0. Golden sets from 12 design partners.</a:t>
            </a:r>
            <a:endParaRPr lang="en-US" sz="900" dirty="0"/>
          </a:p>
        </p:txBody>
      </p:sp>
      <p:sp>
        <p:nvSpPr>
          <p:cNvPr id="15" name="Shape 13"/>
          <p:cNvSpPr/>
          <p:nvPr/>
        </p:nvSpPr>
        <p:spPr>
          <a:xfrm>
            <a:off x="3337560" y="1700784"/>
            <a:ext cx="1709928" cy="640080"/>
          </a:xfrm>
          <a:prstGeom prst="roundRect">
            <a:avLst>
              <a:gd name="adj" fmla="val 11429"/>
            </a:avLst>
          </a:prstGeom>
          <a:solidFill>
            <a:srgbClr val="F3F6F8"/>
          </a:solidFill>
          <a:ln w="6350">
            <a:solidFill>
              <a:srgbClr val="F3F6F8"/>
            </a:solidFill>
            <a:prstDash val="solid"/>
          </a:ln>
        </p:spPr>
      </p:sp>
      <p:sp>
        <p:nvSpPr>
          <p:cNvPr id="16" name="Text 14"/>
          <p:cNvSpPr txBox="1"/>
          <p:nvPr/>
        </p:nvSpPr>
        <p:spPr>
          <a:xfrm>
            <a:off x="3429000" y="174650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Proactive demand (release 2). Onboarding agent for code cleanup.</a:t>
            </a:r>
            <a:endParaRPr lang="en-US" sz="900" dirty="0"/>
          </a:p>
        </p:txBody>
      </p:sp>
      <p:sp>
        <p:nvSpPr>
          <p:cNvPr id="17" name="Shape 15"/>
          <p:cNvSpPr/>
          <p:nvPr/>
        </p:nvSpPr>
        <p:spPr>
          <a:xfrm>
            <a:off x="5120640" y="1700784"/>
            <a:ext cx="1709928" cy="640080"/>
          </a:xfrm>
          <a:prstGeom prst="roundRect">
            <a:avLst>
              <a:gd name="adj" fmla="val 11429"/>
            </a:avLst>
          </a:prstGeom>
          <a:solidFill>
            <a:srgbClr val="F3F6F8"/>
          </a:solidFill>
          <a:ln w="6350">
            <a:solidFill>
              <a:srgbClr val="F3F6F8"/>
            </a:solidFill>
            <a:prstDash val="solid"/>
          </a:ln>
        </p:spPr>
      </p:sp>
      <p:sp>
        <p:nvSpPr>
          <p:cNvPr id="18" name="Text 16"/>
          <p:cNvSpPr txBox="1"/>
          <p:nvPr/>
        </p:nvSpPr>
        <p:spPr>
          <a:xfrm>
            <a:off x="5212080" y="174650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Collections via ValPay (release 3). Warranty claim assembly beta.</a:t>
            </a:r>
            <a:endParaRPr lang="en-US" sz="900" dirty="0"/>
          </a:p>
        </p:txBody>
      </p:sp>
      <p:sp>
        <p:nvSpPr>
          <p:cNvPr id="19" name="Shape 17"/>
          <p:cNvSpPr/>
          <p:nvPr/>
        </p:nvSpPr>
        <p:spPr>
          <a:xfrm>
            <a:off x="6903720" y="1700784"/>
            <a:ext cx="1709928" cy="640080"/>
          </a:xfrm>
          <a:prstGeom prst="roundRect">
            <a:avLst>
              <a:gd name="adj" fmla="val 11429"/>
            </a:avLst>
          </a:prstGeom>
          <a:solidFill>
            <a:srgbClr val="F3F6F8"/>
          </a:solidFill>
          <a:ln w="6350">
            <a:solidFill>
              <a:srgbClr val="F3F6F8"/>
            </a:solidFill>
            <a:prstDash val="solid"/>
          </a:ln>
        </p:spPr>
      </p:sp>
      <p:sp>
        <p:nvSpPr>
          <p:cNvPr id="20" name="Text 18"/>
          <p:cNvSpPr txBox="1"/>
          <p:nvPr/>
        </p:nvSpPr>
        <p:spPr>
          <a:xfrm>
            <a:off x="6995160" y="174650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Group benchmarking. API for third-party DMS pilots.</a:t>
            </a:r>
            <a:endParaRPr lang="en-US" sz="900" dirty="0"/>
          </a:p>
        </p:txBody>
      </p:sp>
      <p:sp>
        <p:nvSpPr>
          <p:cNvPr id="21" name="Text 19"/>
          <p:cNvSpPr txBox="1"/>
          <p:nvPr/>
        </p:nvSpPr>
        <p:spPr>
          <a:xfrm>
            <a:off x="457200" y="2432304"/>
            <a:ext cx="1005840" cy="640080"/>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Go-to-market</a:t>
            </a:r>
            <a:endParaRPr lang="en-US" sz="1200" dirty="0"/>
          </a:p>
        </p:txBody>
      </p:sp>
      <p:sp>
        <p:nvSpPr>
          <p:cNvPr id="22" name="Shape 20"/>
          <p:cNvSpPr/>
          <p:nvPr/>
        </p:nvSpPr>
        <p:spPr>
          <a:xfrm>
            <a:off x="1554480" y="2432304"/>
            <a:ext cx="1709928" cy="640080"/>
          </a:xfrm>
          <a:prstGeom prst="roundRect">
            <a:avLst>
              <a:gd name="adj" fmla="val 11429"/>
            </a:avLst>
          </a:prstGeom>
          <a:solidFill>
            <a:srgbClr val="F3F6F8"/>
          </a:solidFill>
          <a:ln w="6350">
            <a:solidFill>
              <a:srgbClr val="F3F6F8"/>
            </a:solidFill>
            <a:prstDash val="solid"/>
          </a:ln>
        </p:spPr>
      </p:sp>
      <p:sp>
        <p:nvSpPr>
          <p:cNvPr id="23" name="Text 21"/>
          <p:cNvSpPr txBox="1"/>
          <p:nvPr/>
        </p:nvSpPr>
        <p:spPr>
          <a:xfrm>
            <a:off x="1645920" y="247802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Conference launch, roadmap dot-vote, per-attendee sandboxes.</a:t>
            </a:r>
            <a:endParaRPr lang="en-US" sz="900" dirty="0"/>
          </a:p>
        </p:txBody>
      </p:sp>
      <p:sp>
        <p:nvSpPr>
          <p:cNvPr id="24" name="Shape 22"/>
          <p:cNvSpPr/>
          <p:nvPr/>
        </p:nvSpPr>
        <p:spPr>
          <a:xfrm>
            <a:off x="3337560" y="2432304"/>
            <a:ext cx="1709928" cy="640080"/>
          </a:xfrm>
          <a:prstGeom prst="roundRect">
            <a:avLst>
              <a:gd name="adj" fmla="val 11429"/>
            </a:avLst>
          </a:prstGeom>
          <a:solidFill>
            <a:srgbClr val="F3F6F8"/>
          </a:solidFill>
          <a:ln w="6350">
            <a:solidFill>
              <a:srgbClr val="F3F6F8"/>
            </a:solidFill>
            <a:prstDash val="solid"/>
          </a:ln>
        </p:spPr>
      </p:sp>
      <p:sp>
        <p:nvSpPr>
          <p:cNvPr id="25" name="Text 23"/>
          <p:cNvSpPr txBox="1"/>
          <p:nvPr/>
        </p:nvSpPr>
        <p:spPr>
          <a:xfrm>
            <a:off x="3429000" y="247802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Base conversion push before spring commissioning. Free web tool live.</a:t>
            </a:r>
            <a:endParaRPr lang="en-US" sz="900" dirty="0"/>
          </a:p>
        </p:txBody>
      </p:sp>
      <p:sp>
        <p:nvSpPr>
          <p:cNvPr id="26" name="Shape 24"/>
          <p:cNvSpPr/>
          <p:nvPr/>
        </p:nvSpPr>
        <p:spPr>
          <a:xfrm>
            <a:off x="5120640" y="2432304"/>
            <a:ext cx="1709928" cy="640080"/>
          </a:xfrm>
          <a:prstGeom prst="roundRect">
            <a:avLst>
              <a:gd name="adj" fmla="val 11429"/>
            </a:avLst>
          </a:prstGeom>
          <a:solidFill>
            <a:srgbClr val="F3F6F8"/>
          </a:solidFill>
          <a:ln w="6350">
            <a:solidFill>
              <a:srgbClr val="F3F6F8"/>
            </a:solidFill>
            <a:prstDash val="solid"/>
          </a:ln>
        </p:spPr>
      </p:sp>
      <p:sp>
        <p:nvSpPr>
          <p:cNvPr id="27" name="Text 25"/>
          <p:cNvSpPr txBox="1"/>
          <p:nvPr/>
        </p:nvSpPr>
        <p:spPr>
          <a:xfrm>
            <a:off x="5212080" y="247802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New-logo motion vs Molo and MarinaOffice. Boat show season.</a:t>
            </a:r>
            <a:endParaRPr lang="en-US" sz="900" dirty="0"/>
          </a:p>
        </p:txBody>
      </p:sp>
      <p:sp>
        <p:nvSpPr>
          <p:cNvPr id="28" name="Shape 26"/>
          <p:cNvSpPr/>
          <p:nvPr/>
        </p:nvSpPr>
        <p:spPr>
          <a:xfrm>
            <a:off x="6903720" y="2432304"/>
            <a:ext cx="1709928" cy="640080"/>
          </a:xfrm>
          <a:prstGeom prst="roundRect">
            <a:avLst>
              <a:gd name="adj" fmla="val 11429"/>
            </a:avLst>
          </a:prstGeom>
          <a:solidFill>
            <a:srgbClr val="F3F6F8"/>
          </a:solidFill>
          <a:ln w="6350">
            <a:solidFill>
              <a:srgbClr val="F3F6F8"/>
            </a:solidFill>
            <a:prstDash val="solid"/>
          </a:ln>
        </p:spPr>
      </p:sp>
      <p:sp>
        <p:nvSpPr>
          <p:cNvPr id="29" name="Text 27"/>
          <p:cNvSpPr txBox="1"/>
          <p:nvPr/>
        </p:nvSpPr>
        <p:spPr>
          <a:xfrm>
            <a:off x="6995160" y="247802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Group and OEM partner deals. Standalone product validation.</a:t>
            </a:r>
            <a:endParaRPr lang="en-US" sz="900" dirty="0"/>
          </a:p>
        </p:txBody>
      </p:sp>
      <p:sp>
        <p:nvSpPr>
          <p:cNvPr id="30" name="Text 28"/>
          <p:cNvSpPr txBox="1"/>
          <p:nvPr/>
        </p:nvSpPr>
        <p:spPr>
          <a:xfrm>
            <a:off x="457200" y="3163824"/>
            <a:ext cx="1005840" cy="640080"/>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Agents</a:t>
            </a:r>
            <a:endParaRPr lang="en-US" sz="1200" dirty="0"/>
          </a:p>
        </p:txBody>
      </p:sp>
      <p:sp>
        <p:nvSpPr>
          <p:cNvPr id="31" name="Shape 29"/>
          <p:cNvSpPr/>
          <p:nvPr/>
        </p:nvSpPr>
        <p:spPr>
          <a:xfrm>
            <a:off x="1554480" y="3163824"/>
            <a:ext cx="1709928" cy="640080"/>
          </a:xfrm>
          <a:prstGeom prst="roundRect">
            <a:avLst>
              <a:gd name="adj" fmla="val 11429"/>
            </a:avLst>
          </a:prstGeom>
          <a:solidFill>
            <a:srgbClr val="F3F6F8"/>
          </a:solidFill>
          <a:ln w="6350">
            <a:solidFill>
              <a:srgbClr val="F3F6F8"/>
            </a:solidFill>
            <a:prstDash val="solid"/>
          </a:ln>
        </p:spPr>
      </p:sp>
      <p:sp>
        <p:nvSpPr>
          <p:cNvPr id="32" name="Text 30"/>
          <p:cNvSpPr txBox="1"/>
          <p:nvPr/>
        </p:nvSpPr>
        <p:spPr>
          <a:xfrm>
            <a:off x="1645920" y="320954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Scout, Researcher, Sequencer and review queue live.</a:t>
            </a:r>
            <a:endParaRPr lang="en-US" sz="900" dirty="0"/>
          </a:p>
        </p:txBody>
      </p:sp>
      <p:sp>
        <p:nvSpPr>
          <p:cNvPr id="33" name="Shape 31"/>
          <p:cNvSpPr/>
          <p:nvPr/>
        </p:nvSpPr>
        <p:spPr>
          <a:xfrm>
            <a:off x="3337560" y="3163824"/>
            <a:ext cx="1709928" cy="640080"/>
          </a:xfrm>
          <a:prstGeom prst="roundRect">
            <a:avLst>
              <a:gd name="adj" fmla="val 11429"/>
            </a:avLst>
          </a:prstGeom>
          <a:solidFill>
            <a:srgbClr val="F3F6F8"/>
          </a:solidFill>
          <a:ln w="6350">
            <a:solidFill>
              <a:srgbClr val="F3F6F8"/>
            </a:solidFill>
            <a:prstDash val="solid"/>
          </a:ln>
        </p:spPr>
      </p:sp>
      <p:sp>
        <p:nvSpPr>
          <p:cNvPr id="34" name="Text 32"/>
          <p:cNvSpPr txBox="1"/>
          <p:nvPr/>
        </p:nvSpPr>
        <p:spPr>
          <a:xfrm>
            <a:off x="3429000" y="320954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Demo Builder, Try-It Concierge, Deal Desk.</a:t>
            </a:r>
            <a:endParaRPr lang="en-US" sz="900" dirty="0"/>
          </a:p>
        </p:txBody>
      </p:sp>
      <p:sp>
        <p:nvSpPr>
          <p:cNvPr id="35" name="Shape 33"/>
          <p:cNvSpPr/>
          <p:nvPr/>
        </p:nvSpPr>
        <p:spPr>
          <a:xfrm>
            <a:off x="5120640" y="3163824"/>
            <a:ext cx="1709928" cy="640080"/>
          </a:xfrm>
          <a:prstGeom prst="roundRect">
            <a:avLst>
              <a:gd name="adj" fmla="val 11429"/>
            </a:avLst>
          </a:prstGeom>
          <a:solidFill>
            <a:srgbClr val="F3F6F8"/>
          </a:solidFill>
          <a:ln w="6350">
            <a:solidFill>
              <a:srgbClr val="F3F6F8"/>
            </a:solidFill>
            <a:prstDash val="solid"/>
          </a:ln>
        </p:spPr>
      </p:sp>
      <p:sp>
        <p:nvSpPr>
          <p:cNvPr id="36" name="Text 34"/>
          <p:cNvSpPr txBox="1"/>
          <p:nvPr/>
        </p:nvSpPr>
        <p:spPr>
          <a:xfrm>
            <a:off x="5212080" y="320954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Adoption, Proof and Voice of Customer agents.</a:t>
            </a:r>
            <a:endParaRPr lang="en-US" sz="900" dirty="0"/>
          </a:p>
        </p:txBody>
      </p:sp>
      <p:sp>
        <p:nvSpPr>
          <p:cNvPr id="37" name="Shape 35"/>
          <p:cNvSpPr/>
          <p:nvPr/>
        </p:nvSpPr>
        <p:spPr>
          <a:xfrm>
            <a:off x="6903720" y="3163824"/>
            <a:ext cx="1709928" cy="640080"/>
          </a:xfrm>
          <a:prstGeom prst="roundRect">
            <a:avLst>
              <a:gd name="adj" fmla="val 11429"/>
            </a:avLst>
          </a:prstGeom>
          <a:solidFill>
            <a:srgbClr val="F3F6F8"/>
          </a:solidFill>
          <a:ln w="6350">
            <a:solidFill>
              <a:srgbClr val="F3F6F8"/>
            </a:solidFill>
            <a:prstDash val="solid"/>
          </a:ln>
        </p:spPr>
      </p:sp>
      <p:sp>
        <p:nvSpPr>
          <p:cNvPr id="38" name="Text 36"/>
          <p:cNvSpPr txBox="1"/>
          <p:nvPr/>
        </p:nvSpPr>
        <p:spPr>
          <a:xfrm>
            <a:off x="6995160" y="320954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Partner agent. Weekly edit-rate reviews retire weak prompts.</a:t>
            </a:r>
            <a:endParaRPr lang="en-US" sz="900" dirty="0"/>
          </a:p>
        </p:txBody>
      </p:sp>
      <p:sp>
        <p:nvSpPr>
          <p:cNvPr id="39" name="Text 37"/>
          <p:cNvSpPr txBox="1"/>
          <p:nvPr/>
        </p:nvSpPr>
        <p:spPr>
          <a:xfrm>
            <a:off x="457200" y="3895344"/>
            <a:ext cx="1005840" cy="640080"/>
          </a:xfrm>
          <a:prstGeom prst="rect">
            <a:avLst/>
          </a:prstGeom>
          <a:noFill/>
          <a:ln/>
        </p:spPr>
        <p:txBody>
          <a:bodyPr wrap="square" lIns="0" tIns="0" rIns="0" bIns="0" rtlCol="0" anchor="ctr"/>
          <a:lstStyle/>
          <a:p>
            <a:pPr indent="0" marL="0">
              <a:buNone/>
            </a:pPr>
            <a:r>
              <a:rPr lang="en-US" sz="1200" b="1" dirty="0">
                <a:solidFill>
                  <a:srgbClr val="0B2545"/>
                </a:solidFill>
                <a:latin typeface="Cambria" pitchFamily="34" charset="0"/>
                <a:ea typeface="Cambria" pitchFamily="34" charset="-122"/>
                <a:cs typeface="Cambria" pitchFamily="34" charset="-120"/>
              </a:rPr>
              <a:t>Milestones</a:t>
            </a:r>
            <a:endParaRPr lang="en-US" sz="1200" dirty="0"/>
          </a:p>
        </p:txBody>
      </p:sp>
      <p:sp>
        <p:nvSpPr>
          <p:cNvPr id="40" name="Shape 38"/>
          <p:cNvSpPr/>
          <p:nvPr/>
        </p:nvSpPr>
        <p:spPr>
          <a:xfrm>
            <a:off x="1554480" y="3895344"/>
            <a:ext cx="1709928" cy="640080"/>
          </a:xfrm>
          <a:prstGeom prst="roundRect">
            <a:avLst>
              <a:gd name="adj" fmla="val 11429"/>
            </a:avLst>
          </a:prstGeom>
          <a:solidFill>
            <a:srgbClr val="E3F5F3"/>
          </a:solidFill>
          <a:ln w="6350">
            <a:solidFill>
              <a:srgbClr val="E3F5F3"/>
            </a:solidFill>
            <a:prstDash val="solid"/>
          </a:ln>
        </p:spPr>
      </p:sp>
      <p:sp>
        <p:nvSpPr>
          <p:cNvPr id="41" name="Text 39"/>
          <p:cNvSpPr txBox="1"/>
          <p:nvPr/>
        </p:nvSpPr>
        <p:spPr>
          <a:xfrm>
            <a:off x="1645920" y="394106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12 design partners, 3 case studies.</a:t>
            </a:r>
            <a:endParaRPr lang="en-US" sz="900" dirty="0"/>
          </a:p>
        </p:txBody>
      </p:sp>
      <p:sp>
        <p:nvSpPr>
          <p:cNvPr id="42" name="Shape 40"/>
          <p:cNvSpPr/>
          <p:nvPr/>
        </p:nvSpPr>
        <p:spPr>
          <a:xfrm>
            <a:off x="3337560" y="3895344"/>
            <a:ext cx="1709928" cy="640080"/>
          </a:xfrm>
          <a:prstGeom prst="roundRect">
            <a:avLst>
              <a:gd name="adj" fmla="val 11429"/>
            </a:avLst>
          </a:prstGeom>
          <a:solidFill>
            <a:srgbClr val="E3F5F3"/>
          </a:solidFill>
          <a:ln w="6350">
            <a:solidFill>
              <a:srgbClr val="E3F5F3"/>
            </a:solidFill>
            <a:prstDash val="solid"/>
          </a:ln>
        </p:spPr>
      </p:sp>
      <p:sp>
        <p:nvSpPr>
          <p:cNvPr id="43" name="Text 41"/>
          <p:cNvSpPr txBox="1"/>
          <p:nvPr/>
        </p:nvSpPr>
        <p:spPr>
          <a:xfrm>
            <a:off x="3429000" y="394106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120 paying locations. ValPay attach up.</a:t>
            </a:r>
            <a:endParaRPr lang="en-US" sz="900" dirty="0"/>
          </a:p>
        </p:txBody>
      </p:sp>
      <p:sp>
        <p:nvSpPr>
          <p:cNvPr id="44" name="Shape 42"/>
          <p:cNvSpPr/>
          <p:nvPr/>
        </p:nvSpPr>
        <p:spPr>
          <a:xfrm>
            <a:off x="5120640" y="3895344"/>
            <a:ext cx="1709928" cy="640080"/>
          </a:xfrm>
          <a:prstGeom prst="roundRect">
            <a:avLst>
              <a:gd name="adj" fmla="val 11429"/>
            </a:avLst>
          </a:prstGeom>
          <a:solidFill>
            <a:srgbClr val="E3F5F3"/>
          </a:solidFill>
          <a:ln w="6350">
            <a:solidFill>
              <a:srgbClr val="E3F5F3"/>
            </a:solidFill>
            <a:prstDash val="solid"/>
          </a:ln>
        </p:spPr>
      </p:sp>
      <p:sp>
        <p:nvSpPr>
          <p:cNvPr id="45" name="Text 43"/>
          <p:cNvSpPr txBox="1"/>
          <p:nvPr/>
        </p:nvSpPr>
        <p:spPr>
          <a:xfrm>
            <a:off x="5212080" y="394106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60 new logos. Capterra rating lift.</a:t>
            </a:r>
            <a:endParaRPr lang="en-US" sz="900" dirty="0"/>
          </a:p>
        </p:txBody>
      </p:sp>
      <p:sp>
        <p:nvSpPr>
          <p:cNvPr id="46" name="Shape 44"/>
          <p:cNvSpPr/>
          <p:nvPr/>
        </p:nvSpPr>
        <p:spPr>
          <a:xfrm>
            <a:off x="6903720" y="3895344"/>
            <a:ext cx="1709928" cy="640080"/>
          </a:xfrm>
          <a:prstGeom prst="roundRect">
            <a:avLst>
              <a:gd name="adj" fmla="val 11429"/>
            </a:avLst>
          </a:prstGeom>
          <a:solidFill>
            <a:srgbClr val="E3F5F3"/>
          </a:solidFill>
          <a:ln w="6350">
            <a:solidFill>
              <a:srgbClr val="E3F5F3"/>
            </a:solidFill>
            <a:prstDash val="solid"/>
          </a:ln>
        </p:spPr>
      </p:sp>
      <p:sp>
        <p:nvSpPr>
          <p:cNvPr id="47" name="Text 45"/>
          <p:cNvSpPr txBox="1"/>
          <p:nvPr/>
        </p:nvSpPr>
        <p:spPr>
          <a:xfrm>
            <a:off x="6995160" y="3941064"/>
            <a:ext cx="1527048" cy="548640"/>
          </a:xfrm>
          <a:prstGeom prst="rect">
            <a:avLst/>
          </a:prstGeom>
          <a:noFill/>
          <a:ln/>
        </p:spPr>
        <p:txBody>
          <a:bodyPr wrap="square" lIns="0" tIns="0" rIns="0" bIns="0" rtlCol="0" anchor="t"/>
          <a:lstStyle/>
          <a:p>
            <a:pPr indent="0" marL="0">
              <a:buNone/>
            </a:pPr>
            <a:r>
              <a:rPr lang="en-US" sz="900" dirty="0">
                <a:solidFill>
                  <a:srgbClr val="1B2430"/>
                </a:solidFill>
                <a:latin typeface="Calibri" pitchFamily="34" charset="0"/>
                <a:ea typeface="Calibri" pitchFamily="34" charset="-122"/>
                <a:cs typeface="Calibri" pitchFamily="34" charset="-120"/>
              </a:rPr>
              <a:t>3 groups signed. Phase 4 go / no-go.</a:t>
            </a:r>
            <a:endParaRPr lang="en-US" sz="900" dirty="0"/>
          </a:p>
        </p:txBody>
      </p:sp>
      <p:sp>
        <p:nvSpPr>
          <p:cNvPr id="48" name="Text 46"/>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13</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457200" y="320040"/>
            <a:ext cx="8229600" cy="548640"/>
          </a:xfrm>
          <a:prstGeom prst="rect">
            <a:avLst/>
          </a:prstGeom>
          <a:noFill/>
          <a:ln/>
        </p:spPr>
        <p:txBody>
          <a:bodyPr wrap="square" lIns="0" tIns="0" rIns="0" bIns="0" rtlCol="0" anchor="ctr"/>
          <a:lstStyle/>
          <a:p>
            <a:pPr indent="0" marL="0">
              <a:buNone/>
            </a:pPr>
            <a:r>
              <a:rPr lang="en-US" sz="2800" b="1" dirty="0">
                <a:solidFill>
                  <a:srgbClr val="0B2545"/>
                </a:solidFill>
                <a:latin typeface="Cambria" pitchFamily="34" charset="0"/>
                <a:ea typeface="Cambria" pitchFamily="34" charset="-122"/>
                <a:cs typeface="Cambria" pitchFamily="34" charset="-120"/>
              </a:rPr>
              <a:t>Risks, and what I would need from Valsoft</a:t>
            </a:r>
            <a:endParaRPr lang="en-US" sz="2800" dirty="0"/>
          </a:p>
        </p:txBody>
      </p:sp>
      <p:sp>
        <p:nvSpPr>
          <p:cNvPr id="3" name="Shape 1"/>
          <p:cNvSpPr/>
          <p:nvPr/>
        </p:nvSpPr>
        <p:spPr>
          <a:xfrm>
            <a:off x="457200" y="1097280"/>
            <a:ext cx="4023360" cy="3520440"/>
          </a:xfrm>
          <a:prstGeom prst="roundRect">
            <a:avLst>
              <a:gd name="adj" fmla="val 2078"/>
            </a:avLst>
          </a:prstGeom>
          <a:solidFill>
            <a:srgbClr val="F3F6F8"/>
          </a:solidFill>
          <a:ln w="6350">
            <a:solidFill>
              <a:srgbClr val="F3F6F8"/>
            </a:solidFill>
            <a:prstDash val="solid"/>
          </a:ln>
        </p:spPr>
      </p:sp>
      <p:pic>
        <p:nvPicPr>
          <p:cNvPr id="4" name="Image 0" descr="preencoded.png">    </p:cNvPr>
          <p:cNvPicPr>
            <a:picLocks noChangeAspect="1"/>
          </p:cNvPicPr>
          <p:nvPr/>
        </p:nvPicPr>
        <p:blipFill>
          <a:blip r:embed="rId1"/>
          <a:stretch>
            <a:fillRect/>
          </a:stretch>
        </p:blipFill>
        <p:spPr>
          <a:xfrm>
            <a:off x="640080" y="1234440"/>
            <a:ext cx="411480" cy="411480"/>
          </a:xfrm>
          <a:prstGeom prst="rect">
            <a:avLst/>
          </a:prstGeom>
        </p:spPr>
      </p:pic>
      <p:sp>
        <p:nvSpPr>
          <p:cNvPr id="5" name="Text 2"/>
          <p:cNvSpPr txBox="1"/>
          <p:nvPr/>
        </p:nvSpPr>
        <p:spPr>
          <a:xfrm>
            <a:off x="1143000" y="1252728"/>
            <a:ext cx="2743200" cy="36576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Risks and mitigations</a:t>
            </a:r>
            <a:endParaRPr lang="en-US" sz="1500" dirty="0"/>
          </a:p>
        </p:txBody>
      </p:sp>
      <p:sp>
        <p:nvSpPr>
          <p:cNvPr id="6" name="Text 3"/>
          <p:cNvSpPr txBox="1"/>
          <p:nvPr/>
        </p:nvSpPr>
        <p:spPr>
          <a:xfrm>
            <a:off x="640080" y="1737360"/>
            <a:ext cx="3657600" cy="283464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Using account data to sell to the account: consent first, deliver the report as free value, anonymise benchmarks.</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Legacy Desktop data quality: start with Web 2.0 accounts; onboarding agent cleans codes.</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Seasonal, conservative buyers: human-in-the-loop by default; launch in shoulder months.</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BluSynq boundary: Blu owns the conversation, Service Writer owns the job record; expose it to Blu via API.</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Over-automation on a 40-year brand: the human-send rule is non-negotiable.</a:t>
            </a:r>
            <a:endParaRPr lang="en-US" sz="1050" dirty="0"/>
          </a:p>
        </p:txBody>
      </p:sp>
      <p:sp>
        <p:nvSpPr>
          <p:cNvPr id="7" name="Shape 4"/>
          <p:cNvSpPr/>
          <p:nvPr/>
        </p:nvSpPr>
        <p:spPr>
          <a:xfrm>
            <a:off x="4663440" y="1097280"/>
            <a:ext cx="4023360" cy="3520440"/>
          </a:xfrm>
          <a:prstGeom prst="roundRect">
            <a:avLst>
              <a:gd name="adj" fmla="val 2078"/>
            </a:avLst>
          </a:prstGeom>
          <a:solidFill>
            <a:srgbClr val="E3F5F3"/>
          </a:solidFill>
          <a:ln w="6350">
            <a:solidFill>
              <a:srgbClr val="E3F5F3"/>
            </a:solidFill>
            <a:prstDash val="solid"/>
          </a:ln>
        </p:spPr>
      </p:sp>
      <p:pic>
        <p:nvPicPr>
          <p:cNvPr id="8" name="Image 1" descr="preencoded.png">    </p:cNvPr>
          <p:cNvPicPr>
            <a:picLocks noChangeAspect="1"/>
          </p:cNvPicPr>
          <p:nvPr/>
        </p:nvPicPr>
        <p:blipFill>
          <a:blip r:embed="rId2"/>
          <a:stretch>
            <a:fillRect/>
          </a:stretch>
        </p:blipFill>
        <p:spPr>
          <a:xfrm>
            <a:off x="4846320" y="1234440"/>
            <a:ext cx="411480" cy="411480"/>
          </a:xfrm>
          <a:prstGeom prst="rect">
            <a:avLst/>
          </a:prstGeom>
        </p:spPr>
      </p:pic>
      <p:sp>
        <p:nvSpPr>
          <p:cNvPr id="9" name="Text 5"/>
          <p:cNvSpPr txBox="1"/>
          <p:nvPr/>
        </p:nvSpPr>
        <p:spPr>
          <a:xfrm>
            <a:off x="5349240" y="1252728"/>
            <a:ext cx="3108960" cy="365760"/>
          </a:xfrm>
          <a:prstGeom prst="rect">
            <a:avLst/>
          </a:prstGeom>
          <a:noFill/>
          <a:ln/>
        </p:spPr>
        <p:txBody>
          <a:bodyPr wrap="square" lIns="0" tIns="0" rIns="0" bIns="0" rtlCol="0" anchor="ctr"/>
          <a:lstStyle/>
          <a:p>
            <a:pPr indent="0" marL="0">
              <a:buNone/>
            </a:pPr>
            <a:r>
              <a:rPr lang="en-US" sz="1500" b="1" dirty="0">
                <a:solidFill>
                  <a:srgbClr val="0B2545"/>
                </a:solidFill>
                <a:latin typeface="Cambria" pitchFamily="34" charset="0"/>
                <a:ea typeface="Cambria" pitchFamily="34" charset="-122"/>
                <a:cs typeface="Cambria" pitchFamily="34" charset="-120"/>
              </a:rPr>
              <a:t>Questions and assumptions</a:t>
            </a:r>
            <a:endParaRPr lang="en-US" sz="1500" dirty="0"/>
          </a:p>
        </p:txBody>
      </p:sp>
      <p:sp>
        <p:nvSpPr>
          <p:cNvPr id="10" name="Text 6"/>
          <p:cNvSpPr txBox="1"/>
          <p:nvPr/>
        </p:nvSpPr>
        <p:spPr>
          <a:xfrm>
            <a:off x="4846320" y="1737360"/>
            <a:ext cx="3657600" cy="2834640"/>
          </a:xfrm>
          <a:prstGeom prst="rect">
            <a:avLst/>
          </a:prstGeom>
          <a:noFill/>
          <a:ln/>
        </p:spPr>
        <p:txBody>
          <a:bodyPr wrap="square" lIns="0" tIns="0" rIns="0" bIns="0" rtlCol="0" anchor="t"/>
          <a:lstStyle/>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Desktop-only vs Web 2.0 vs Mobile adoption across the 1,000+ base</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Current ARPA and ValPay attach rate; how AI Labs and the portfolio company split build and P&amp;L</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Scope of the BluSynq partnership and whether Valsoft intends to own that layer</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Access to anonymised work-order data for a real evaluation</a:t>
            </a:r>
            <a:endParaRPr lang="en-US" sz="1050" dirty="0"/>
          </a:p>
          <a:p>
            <a:pPr marL="152400" indent="-152400">
              <a:spcAft>
                <a:spcPts val="600"/>
              </a:spcAft>
              <a:buSzPct val="100000"/>
              <a:buChar char="•"/>
            </a:pPr>
            <a:r>
              <a:rPr lang="en-US" sz="1050" dirty="0">
                <a:solidFill>
                  <a:srgbClr val="1B2430"/>
                </a:solidFill>
                <a:latin typeface="Calibri" pitchFamily="34" charset="0"/>
                <a:ea typeface="Calibri" pitchFamily="34" charset="-122"/>
                <a:cs typeface="Calibri" pitchFamily="34" charset="-120"/>
              </a:rPr>
              <a:t>Pricing anchors and phase targets in this deck are assumptions to be sized against those numbers</a:t>
            </a:r>
            <a:endParaRPr lang="en-US" sz="1050" dirty="0"/>
          </a:p>
        </p:txBody>
      </p:sp>
      <p:sp>
        <p:nvSpPr>
          <p:cNvPr id="11" name="Text 7"/>
          <p:cNvSpPr txBox="1"/>
          <p:nvPr/>
        </p:nvSpPr>
        <p:spPr>
          <a:xfrm>
            <a:off x="457200" y="4800600"/>
            <a:ext cx="8229600" cy="228600"/>
          </a:xfrm>
          <a:prstGeom prst="rect">
            <a:avLst/>
          </a:prstGeom>
          <a:noFill/>
          <a:ln/>
        </p:spPr>
        <p:txBody>
          <a:bodyPr wrap="square" lIns="0" tIns="0" rIns="0" bIns="0" rtlCol="0" anchor="ctr"/>
          <a:lstStyle/>
          <a:p>
            <a:pPr indent="0" marL="0">
              <a:buNone/>
            </a:pPr>
            <a:r>
              <a:rPr lang="en-US" sz="800" dirty="0">
                <a:solidFill>
                  <a:srgbClr val="9AA6B2"/>
                </a:solidFill>
                <a:latin typeface="Calibri" pitchFamily="34" charset="0"/>
                <a:ea typeface="Calibri" pitchFamily="34" charset="-122"/>
                <a:cs typeface="Calibri" pitchFamily="34" charset="-120"/>
              </a:rPr>
              <a:t>DockMaster AI opportunity  |  Valsoft AI Venture Builder case  |  14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2545"/>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40080"/>
            <a:ext cx="548640" cy="548640"/>
          </a:xfrm>
          <a:prstGeom prst="rect">
            <a:avLst/>
          </a:prstGeom>
        </p:spPr>
      </p:pic>
      <p:sp>
        <p:nvSpPr>
          <p:cNvPr id="3" name="Text 0"/>
          <p:cNvSpPr txBox="1"/>
          <p:nvPr/>
        </p:nvSpPr>
        <p:spPr>
          <a:xfrm>
            <a:off x="548640" y="1463040"/>
            <a:ext cx="8046720" cy="10972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Write it faster. Find more of it. Collect it sooner.</a:t>
            </a:r>
            <a:endParaRPr lang="en-US" sz="3400" dirty="0"/>
          </a:p>
        </p:txBody>
      </p:sp>
      <p:sp>
        <p:nvSpPr>
          <p:cNvPr id="4" name="Text 1"/>
          <p:cNvSpPr txBox="1"/>
          <p:nvPr/>
        </p:nvSpPr>
        <p:spPr>
          <a:xfrm>
            <a:off x="548640" y="2651760"/>
            <a:ext cx="7772400" cy="822960"/>
          </a:xfrm>
          <a:prstGeom prst="rect">
            <a:avLst/>
          </a:prstGeom>
          <a:noFill/>
          <a:ln/>
        </p:spPr>
        <p:txBody>
          <a:bodyPr wrap="square" lIns="0" tIns="0" rIns="0" bIns="0" rtlCol="0" anchor="ctr"/>
          <a:lstStyle/>
          <a:p>
            <a:pPr indent="0" marL="0">
              <a:buNone/>
            </a:pPr>
            <a:r>
              <a:rPr lang="en-US" sz="1500" dirty="0">
                <a:solidFill>
                  <a:srgbClr val="BFE9E5"/>
                </a:solidFill>
                <a:latin typeface="Calibri" pitchFamily="34" charset="0"/>
                <a:ea typeface="Calibri" pitchFamily="34" charset="-122"/>
                <a:cs typeface="Calibri" pitchFamily="34" charset="-120"/>
              </a:rPr>
              <a:t>The Service Writer turns DockMaster's 40 years of service data into revenue for its customers, migration to Web for the business, and a standalone product for Valsoft.</a:t>
            </a:r>
            <a:endParaRPr lang="en-US" sz="1500" dirty="0"/>
          </a:p>
        </p:txBody>
      </p:sp>
      <p:sp>
        <p:nvSpPr>
          <p:cNvPr id="5" name="Text 2"/>
          <p:cNvSpPr txBox="1"/>
          <p:nvPr/>
        </p:nvSpPr>
        <p:spPr>
          <a:xfrm>
            <a:off x="548640" y="3931920"/>
            <a:ext cx="7772400" cy="320040"/>
          </a:xfrm>
          <a:prstGeom prst="rect">
            <a:avLst/>
          </a:prstGeom>
          <a:noFill/>
          <a:ln/>
        </p:spPr>
        <p:txBody>
          <a:bodyPr wrap="square" lIns="0" tIns="0" rIns="0" bIns="0" rtlCol="0" anchor="ctr"/>
          <a:lstStyle/>
          <a:p>
            <a:pPr indent="0" marL="0">
              <a:buNone/>
            </a:pPr>
            <a:r>
              <a:rPr lang="en-US" sz="1200" dirty="0">
                <a:solidFill>
                  <a:srgbClr val="AAB8C8"/>
                </a:solidFill>
                <a:latin typeface="Calibri" pitchFamily="34" charset="0"/>
                <a:ea typeface="Calibri" pitchFamily="34" charset="-122"/>
                <a:cs typeface="Calibri" pitchFamily="34" charset="-120"/>
              </a:rPr>
              <a:t>Prototype demo, build spec and full GTM plan available on request.  |  Scott Anderson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Opportunities at DockMaster</dc:title>
  <dc:subject>PptxGenJS Presentation</dc:subject>
  <dc:creator>Scott Anderson</dc:creator>
  <cp:lastModifiedBy>Scott Anderson</cp:lastModifiedBy>
  <cp:revision>1</cp:revision>
  <dcterms:created xsi:type="dcterms:W3CDTF">2026-09-15T10:59:11Z</dcterms:created>
  <dcterms:modified xsi:type="dcterms:W3CDTF">2026-09-15T10:59:11Z</dcterms:modified>
</cp:coreProperties>
</file>